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Paddock is a complete redesign of the F1 stats app. The archive now runs to 26 October 2026, the interface is a single brushed-silver editorial theme, and OpenF1 supplies everything from 2023 onward.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redesign: the archive was already rich, but the product was not. The goal was cohesion, reach and a quieter visual system, not just a reskin.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eleven routes, including the new credits page. The archive holds 27 seasons, 526 races and 10,954 results after the 2026 reconciliation.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Design: silver surfaces, 2–4 px radii and hairline rules. Red appears only on the F1 mark, the active nav rule, P1 and one primary action. The circuits page shows the flat panel and layout-image treatment.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the shell holds navigation and the floating map layer; pages are lazy; shared components keep the visual language consistent; two services own data. No backend is required at runtime.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the archive is trimmed at build time and indexed at runtime. 2025 and 2026 come from Jolpica, including the new Audi, Cadillac and Madring entries. OpenF1 is the live layer.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flagship screens. Home answers 'what is happening'; standings answers 'who is ahead and by how much'. Both use the same panel, type scale and red-on-silver hierarchy.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Race detail links the result back to the season, the circuit and the driver, and exposes qualifying that used to be invisible. Team colour is a 2 px rule, not a background.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is replay-first because OpenF1's free tier is historical. A paid token can be pasted into the page to enable 15-second polling; it stays in the browser. Telemetry is fetched per driver, per lap.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analysis layer is where the archive earns its keep: comparisons, eras and records are derived live, so they stay correct when the data changes. /timeline now redirects to /history.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generated manifest lists only files that exist, so a missing asset never becomes a broken image. Five historic teams use crests, and every image is attributed on /credits with a trademark notice.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Quality: the production initial bundle is 580 kB raw, or 154 kB over the wire. Every page except Home is lazy. Third-party glyphs and missing images always have a designed fallback.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Delivery: the front end runs on its own. The prune, sync, asset and outline scripts are reproducible, and the docs and deck ship with the repo.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explicit about limits. They are not failures: they reflect data contracts. The next moves are natural extensions, not fixes.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thank you. Invite questions about the silver design system, the 2026 data reconciliation or the OpenF1 integration.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Rectangle 2"/>
          <p:cNvSpPr/>
          <p:nvPr/>
        </p:nvSpPr>
        <p:spPr>
          <a:xfrm>
            <a:off x="566928" y="420624"/>
            <a:ext cx="50292" cy="237744"/>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TextBox 3"/>
          <p:cNvSpPr txBox="1"/>
          <p:nvPr/>
        </p:nvSpPr>
        <p:spPr>
          <a:xfrm>
            <a:off x="713232" y="438912"/>
            <a:ext cx="7680960" cy="237744"/>
          </a:xfrm>
          <a:prstGeom prst="rect">
            <a:avLst/>
          </a:prstGeom>
          <a:noFill/>
        </p:spPr>
        <p:txBody>
          <a:bodyPr wrap="square" lIns="0" rIns="0" tIns="0" bIns="0" anchor="t">
            <a:spAutoFit/>
          </a:bodyPr>
          <a:lstStyle/>
          <a:p>
            <a:pPr algn="l">
              <a:lnSpc>
                <a:spcPct val="100000"/>
              </a:lnSpc>
            </a:pPr>
            <a:r>
              <a:rPr sz="900" b="1" i="0">
                <a:solidFill>
                  <a:srgbClr val="666D74"/>
                </a:solidFill>
                <a:latin typeface="Consolas"/>
              </a:rPr>
              <a:t>FET PROJECT</a:t>
            </a:r>
          </a:p>
        </p:txBody>
      </p:sp>
      <p:sp>
        <p:nvSpPr>
          <p:cNvPr id="5" name="Rectangle 4"/>
          <p:cNvSpPr/>
          <p:nvPr/>
        </p:nvSpPr>
        <p:spPr>
          <a:xfrm>
            <a:off x="566928" y="6336792"/>
            <a:ext cx="11064240" cy="10972"/>
          </a:xfrm>
          <a:prstGeom prst="rect">
            <a:avLst/>
          </a:prstGeom>
          <a:solidFill>
            <a:srgbClr val="D5DA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566928" y="6437376"/>
            <a:ext cx="6400800" cy="228600"/>
          </a:xfrm>
          <a:prstGeom prst="rect">
            <a:avLst/>
          </a:prstGeom>
          <a:noFill/>
        </p:spPr>
        <p:txBody>
          <a:bodyPr wrap="square" lIns="0" rIns="0" tIns="0" bIns="0" anchor="t">
            <a:spAutoFit/>
          </a:bodyPr>
          <a:lstStyle/>
          <a:p>
            <a:pPr algn="l">
              <a:lnSpc>
                <a:spcPct val="100000"/>
              </a:lnSpc>
            </a:pPr>
            <a:r>
              <a:rPr sz="800" b="0" i="0">
                <a:solidFill>
                  <a:srgbClr val="8D949B"/>
                </a:solidFill>
                <a:latin typeface="Consolas"/>
              </a:rPr>
              <a:t>PADDOCK  ·  FORMULA 1 ARCHIVE</a:t>
            </a:r>
          </a:p>
        </p:txBody>
      </p:sp>
      <p:sp>
        <p:nvSpPr>
          <p:cNvPr id="7" name="TextBox 6"/>
          <p:cNvSpPr txBox="1"/>
          <p:nvPr/>
        </p:nvSpPr>
        <p:spPr>
          <a:xfrm>
            <a:off x="10774375" y="6437376"/>
            <a:ext cx="822960" cy="228600"/>
          </a:xfrm>
          <a:prstGeom prst="rect">
            <a:avLst/>
          </a:prstGeom>
          <a:noFill/>
        </p:spPr>
        <p:txBody>
          <a:bodyPr wrap="square" lIns="0" rIns="0" tIns="0" bIns="0" anchor="t">
            <a:spAutoFit/>
          </a:bodyPr>
          <a:lstStyle/>
          <a:p>
            <a:pPr algn="r">
              <a:lnSpc>
                <a:spcPct val="100000"/>
              </a:lnSpc>
            </a:pPr>
            <a:r>
              <a:rPr sz="800" b="0" i="0">
                <a:solidFill>
                  <a:srgbClr val="8D949B"/>
                </a:solidFill>
                <a:latin typeface="Consolas"/>
              </a:rPr>
              <a:t>01 / 15</a:t>
            </a:r>
          </a:p>
        </p:txBody>
      </p:sp>
      <p:pic>
        <p:nvPicPr>
          <p:cNvPr id="8" name="Picture 7" descr="f1.png"/>
          <p:cNvPicPr>
            <a:picLocks noChangeAspect="1"/>
          </p:cNvPicPr>
          <p:nvPr/>
        </p:nvPicPr>
        <p:blipFill>
          <a:blip r:embed="rId2"/>
          <a:stretch>
            <a:fillRect/>
          </a:stretch>
        </p:blipFill>
        <p:spPr>
          <a:xfrm>
            <a:off x="10954512" y="310896"/>
            <a:ext cx="713232" cy="333585"/>
          </a:xfrm>
          <a:prstGeom prst="rect">
            <a:avLst/>
          </a:prstGeom>
        </p:spPr>
      </p:pic>
      <p:sp>
        <p:nvSpPr>
          <p:cNvPr id="9" name="TextBox 8"/>
          <p:cNvSpPr txBox="1"/>
          <p:nvPr/>
        </p:nvSpPr>
        <p:spPr>
          <a:xfrm>
            <a:off x="566928" y="1060704"/>
            <a:ext cx="4023360" cy="219456"/>
          </a:xfrm>
          <a:prstGeom prst="rect">
            <a:avLst/>
          </a:prstGeom>
          <a:noFill/>
        </p:spPr>
        <p:txBody>
          <a:bodyPr wrap="square" lIns="0" rIns="0" tIns="0" bIns="0" anchor="t">
            <a:spAutoFit/>
          </a:bodyPr>
          <a:lstStyle/>
          <a:p>
            <a:pPr algn="l">
              <a:lnSpc>
                <a:spcPct val="100000"/>
              </a:lnSpc>
            </a:pPr>
            <a:r>
              <a:rPr sz="850" b="1" i="0">
                <a:solidFill>
                  <a:srgbClr val="E10600"/>
                </a:solidFill>
                <a:latin typeface="Consolas"/>
              </a:rPr>
              <a:t>2000 → 2026</a:t>
            </a:r>
          </a:p>
        </p:txBody>
      </p:sp>
      <p:sp>
        <p:nvSpPr>
          <p:cNvPr id="10" name="Rectangle 9"/>
          <p:cNvSpPr/>
          <p:nvPr/>
        </p:nvSpPr>
        <p:spPr>
          <a:xfrm>
            <a:off x="566928" y="1271016"/>
            <a:ext cx="420624" cy="25603"/>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TextBox 10"/>
          <p:cNvSpPr txBox="1"/>
          <p:nvPr/>
        </p:nvSpPr>
        <p:spPr>
          <a:xfrm>
            <a:off x="548640" y="1389888"/>
            <a:ext cx="5943600" cy="1051560"/>
          </a:xfrm>
          <a:prstGeom prst="rect">
            <a:avLst/>
          </a:prstGeom>
          <a:noFill/>
        </p:spPr>
        <p:txBody>
          <a:bodyPr wrap="square" lIns="0" rIns="0" tIns="0" bIns="0" anchor="t">
            <a:spAutoFit/>
          </a:bodyPr>
          <a:lstStyle/>
          <a:p>
            <a:pPr algn="l">
              <a:lnSpc>
                <a:spcPct val="90000"/>
              </a:lnSpc>
            </a:pPr>
            <a:r>
              <a:rPr sz="6200" b="1" i="0">
                <a:solidFill>
                  <a:srgbClr val="121517"/>
                </a:solidFill>
                <a:latin typeface="Segoe UI Semibold"/>
              </a:rPr>
              <a:t>PADDOCK</a:t>
            </a:r>
          </a:p>
        </p:txBody>
      </p:sp>
      <p:sp>
        <p:nvSpPr>
          <p:cNvPr id="12" name="TextBox 11"/>
          <p:cNvSpPr txBox="1"/>
          <p:nvPr/>
        </p:nvSpPr>
        <p:spPr>
          <a:xfrm>
            <a:off x="585216" y="2468880"/>
            <a:ext cx="4937760" cy="1005840"/>
          </a:xfrm>
          <a:prstGeom prst="rect">
            <a:avLst/>
          </a:prstGeom>
          <a:noFill/>
        </p:spPr>
        <p:txBody>
          <a:bodyPr wrap="square" lIns="0" rIns="0" tIns="0" bIns="0" anchor="t">
            <a:spAutoFit/>
          </a:bodyPr>
          <a:lstStyle/>
          <a:p>
            <a:pPr algn="l">
              <a:lnSpc>
                <a:spcPct val="112000"/>
              </a:lnSpc>
            </a:pPr>
            <a:r>
              <a:rPr sz="2000" b="0" i="0">
                <a:solidFill>
                  <a:srgbClr val="3C4247"/>
                </a:solidFill>
                <a:latin typeface="Segoe UI"/>
              </a:rPr>
              <a:t>Every season since 2000.</a:t>
            </a:r>
          </a:p>
          <a:p>
            <a:pPr algn="l">
              <a:lnSpc>
                <a:spcPct val="112000"/>
              </a:lnSpc>
            </a:pPr>
            <a:r>
              <a:rPr sz="2000" b="0" i="0">
                <a:solidFill>
                  <a:srgbClr val="3C4247"/>
                </a:solidFill>
                <a:latin typeface="Segoe UI"/>
              </a:rPr>
              <a:t>Every lap since 2023.</a:t>
            </a:r>
          </a:p>
        </p:txBody>
      </p:sp>
      <p:sp>
        <p:nvSpPr>
          <p:cNvPr id="13" name="Rectangle 12"/>
          <p:cNvSpPr/>
          <p:nvPr/>
        </p:nvSpPr>
        <p:spPr>
          <a:xfrm>
            <a:off x="585216" y="3602736"/>
            <a:ext cx="1188720" cy="25603"/>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TextBox 13"/>
          <p:cNvSpPr txBox="1"/>
          <p:nvPr/>
        </p:nvSpPr>
        <p:spPr>
          <a:xfrm>
            <a:off x="585216" y="3840480"/>
            <a:ext cx="4754880" cy="1097280"/>
          </a:xfrm>
          <a:prstGeom prst="rect">
            <a:avLst/>
          </a:prstGeom>
          <a:noFill/>
        </p:spPr>
        <p:txBody>
          <a:bodyPr wrap="square" lIns="0" rIns="0" tIns="0" bIns="0" anchor="t">
            <a:spAutoFit/>
          </a:bodyPr>
          <a:lstStyle/>
          <a:p>
            <a:pPr algn="l">
              <a:lnSpc>
                <a:spcPct val="138000"/>
              </a:lnSpc>
            </a:pPr>
            <a:r>
              <a:rPr sz="1150" b="0" i="0">
                <a:solidFill>
                  <a:srgbClr val="666D74"/>
                </a:solidFill>
                <a:latin typeface="Segoe UI"/>
              </a:rPr>
              <a:t>A brushed-silver Formula 1 archive built with Angular 21 and Material 3. The complete 2000–2026 dataset meets OpenF1 session replay, live timing and telemetry.</a:t>
            </a:r>
          </a:p>
        </p:txBody>
      </p:sp>
      <p:sp>
        <p:nvSpPr>
          <p:cNvPr id="15" name="TextBox 14"/>
          <p:cNvSpPr txBox="1"/>
          <p:nvPr/>
        </p:nvSpPr>
        <p:spPr>
          <a:xfrm>
            <a:off x="585216" y="5321808"/>
            <a:ext cx="4206240" cy="274320"/>
          </a:xfrm>
          <a:prstGeom prst="rect">
            <a:avLst/>
          </a:prstGeom>
          <a:noFill/>
        </p:spPr>
        <p:txBody>
          <a:bodyPr wrap="square" lIns="0" rIns="0" tIns="0" bIns="0" anchor="t">
            <a:spAutoFit/>
          </a:bodyPr>
          <a:lstStyle/>
          <a:p>
            <a:pPr algn="l">
              <a:lnSpc>
                <a:spcPct val="100000"/>
              </a:lnSpc>
            </a:pPr>
            <a:r>
              <a:rPr sz="840" b="1" i="0">
                <a:solidFill>
                  <a:srgbClr val="121517"/>
                </a:solidFill>
                <a:latin typeface="Consolas"/>
              </a:rPr>
              <a:t>JUGAL PATEL · KRISH PATEL · PAAVAN SHARMA</a:t>
            </a:r>
          </a:p>
        </p:txBody>
      </p:sp>
      <p:sp>
        <p:nvSpPr>
          <p:cNvPr id="16" name="TextBox 15"/>
          <p:cNvSpPr txBox="1"/>
          <p:nvPr/>
        </p:nvSpPr>
        <p:spPr>
          <a:xfrm>
            <a:off x="585216" y="5577840"/>
            <a:ext cx="4206240" cy="274320"/>
          </a:xfrm>
          <a:prstGeom prst="rect">
            <a:avLst/>
          </a:prstGeom>
          <a:noFill/>
        </p:spPr>
        <p:txBody>
          <a:bodyPr wrap="square" lIns="0" rIns="0" tIns="0" bIns="0" anchor="t">
            <a:spAutoFit/>
          </a:bodyPr>
          <a:lstStyle/>
          <a:p>
            <a:pPr algn="l">
              <a:lnSpc>
                <a:spcPct val="100000"/>
              </a:lnSpc>
            </a:pPr>
            <a:r>
              <a:rPr sz="800" b="0" i="0">
                <a:solidFill>
                  <a:srgbClr val="8D949B"/>
                </a:solidFill>
                <a:latin typeface="Consolas"/>
              </a:rPr>
              <a:t>24162581032 · 24162581017 · 24162581052</a:t>
            </a:r>
          </a:p>
        </p:txBody>
      </p:sp>
      <p:sp>
        <p:nvSpPr>
          <p:cNvPr id="17" name="TextBox 16"/>
          <p:cNvSpPr txBox="1"/>
          <p:nvPr/>
        </p:nvSpPr>
        <p:spPr>
          <a:xfrm>
            <a:off x="585216" y="5833872"/>
            <a:ext cx="4206240" cy="274320"/>
          </a:xfrm>
          <a:prstGeom prst="rect">
            <a:avLst/>
          </a:prstGeom>
          <a:noFill/>
        </p:spPr>
        <p:txBody>
          <a:bodyPr wrap="square" lIns="0" rIns="0" tIns="0" bIns="0" anchor="t">
            <a:spAutoFit/>
          </a:bodyPr>
          <a:lstStyle/>
          <a:p>
            <a:pPr algn="l">
              <a:lnSpc>
                <a:spcPct val="100000"/>
              </a:lnSpc>
            </a:pPr>
            <a:r>
              <a:rPr sz="800" b="0" i="0">
                <a:solidFill>
                  <a:srgbClr val="8D949B"/>
                </a:solidFill>
                <a:latin typeface="Consolas"/>
              </a:rPr>
              <a:t>FET · SEMESTER 5</a:t>
            </a:r>
          </a:p>
        </p:txBody>
      </p:sp>
      <p:pic>
        <p:nvPicPr>
          <p:cNvPr id="18" name="Picture 17" descr="home.png"/>
          <p:cNvPicPr>
            <a:picLocks noChangeAspect="1"/>
          </p:cNvPicPr>
          <p:nvPr/>
        </p:nvPicPr>
        <p:blipFill>
          <a:blip r:embed="rId3"/>
          <a:stretch>
            <a:fillRect/>
          </a:stretch>
        </p:blipFill>
        <p:spPr>
          <a:xfrm>
            <a:off x="6053328" y="1024128"/>
            <a:ext cx="5715000" cy="3929062"/>
          </a:xfrm>
          <a:prstGeom prst="rect">
            <a:avLst/>
          </a:prstGeom>
          <a:ln w="9525">
            <a:solidFill>
              <a:srgbClr val="D5DADE"/>
            </a:solidFill>
          </a:ln>
        </p:spPr>
      </p:pic>
      <p:sp>
        <p:nvSpPr>
          <p:cNvPr id="19" name="TextBox 18"/>
          <p:cNvSpPr txBox="1"/>
          <p:nvPr/>
        </p:nvSpPr>
        <p:spPr>
          <a:xfrm>
            <a:off x="6071616" y="5321808"/>
            <a:ext cx="5669280" cy="274320"/>
          </a:xfrm>
          <a:prstGeom prst="rect">
            <a:avLst/>
          </a:prstGeom>
          <a:noFill/>
        </p:spPr>
        <p:txBody>
          <a:bodyPr wrap="square" lIns="0" rIns="0" tIns="0" bIns="0" anchor="t">
            <a:spAutoFit/>
          </a:bodyPr>
          <a:lstStyle/>
          <a:p>
            <a:pPr algn="l">
              <a:lnSpc>
                <a:spcPct val="100000"/>
              </a:lnSpc>
            </a:pPr>
            <a:r>
              <a:rPr sz="800" b="1" i="0">
                <a:solidFill>
                  <a:srgbClr val="666D74"/>
                </a:solidFill>
                <a:latin typeface="Consolas"/>
              </a:rPr>
              <a:t>HOME  ·  MP4/4 HERO  ·  2026 TOP FIVE  ·  526 RACES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Rectangle 2"/>
          <p:cNvSpPr/>
          <p:nvPr/>
        </p:nvSpPr>
        <p:spPr>
          <a:xfrm>
            <a:off x="566928" y="420624"/>
            <a:ext cx="50292" cy="237744"/>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TextBox 3"/>
          <p:cNvSpPr txBox="1"/>
          <p:nvPr/>
        </p:nvSpPr>
        <p:spPr>
          <a:xfrm>
            <a:off x="713232" y="438912"/>
            <a:ext cx="7680960" cy="237744"/>
          </a:xfrm>
          <a:prstGeom prst="rect">
            <a:avLst/>
          </a:prstGeom>
          <a:noFill/>
        </p:spPr>
        <p:txBody>
          <a:bodyPr wrap="square" lIns="0" rIns="0" tIns="0" bIns="0" anchor="t">
            <a:spAutoFit/>
          </a:bodyPr>
          <a:lstStyle/>
          <a:p>
            <a:pPr algn="l">
              <a:lnSpc>
                <a:spcPct val="100000"/>
              </a:lnSpc>
            </a:pPr>
            <a:r>
              <a:rPr sz="900" b="1" i="0">
                <a:solidFill>
                  <a:srgbClr val="666D74"/>
                </a:solidFill>
                <a:latin typeface="Consolas"/>
              </a:rPr>
              <a:t>THE BRIEF</a:t>
            </a:r>
          </a:p>
        </p:txBody>
      </p:sp>
      <p:sp>
        <p:nvSpPr>
          <p:cNvPr id="5" name="Rectangle 4"/>
          <p:cNvSpPr/>
          <p:nvPr/>
        </p:nvSpPr>
        <p:spPr>
          <a:xfrm>
            <a:off x="566928" y="6336792"/>
            <a:ext cx="11064240" cy="10972"/>
          </a:xfrm>
          <a:prstGeom prst="rect">
            <a:avLst/>
          </a:prstGeom>
          <a:solidFill>
            <a:srgbClr val="D5DA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566928" y="6437376"/>
            <a:ext cx="6400800" cy="228600"/>
          </a:xfrm>
          <a:prstGeom prst="rect">
            <a:avLst/>
          </a:prstGeom>
          <a:noFill/>
        </p:spPr>
        <p:txBody>
          <a:bodyPr wrap="square" lIns="0" rIns="0" tIns="0" bIns="0" anchor="t">
            <a:spAutoFit/>
          </a:bodyPr>
          <a:lstStyle/>
          <a:p>
            <a:pPr algn="l">
              <a:lnSpc>
                <a:spcPct val="100000"/>
              </a:lnSpc>
            </a:pPr>
            <a:r>
              <a:rPr sz="800" b="0" i="0">
                <a:solidFill>
                  <a:srgbClr val="8D949B"/>
                </a:solidFill>
                <a:latin typeface="Consolas"/>
              </a:rPr>
              <a:t>PADDOCK  ·  FORMULA 1 ARCHIVE</a:t>
            </a:r>
          </a:p>
        </p:txBody>
      </p:sp>
      <p:sp>
        <p:nvSpPr>
          <p:cNvPr id="7" name="TextBox 6"/>
          <p:cNvSpPr txBox="1"/>
          <p:nvPr/>
        </p:nvSpPr>
        <p:spPr>
          <a:xfrm>
            <a:off x="10774375" y="6437376"/>
            <a:ext cx="822960" cy="228600"/>
          </a:xfrm>
          <a:prstGeom prst="rect">
            <a:avLst/>
          </a:prstGeom>
          <a:noFill/>
        </p:spPr>
        <p:txBody>
          <a:bodyPr wrap="square" lIns="0" rIns="0" tIns="0" bIns="0" anchor="t">
            <a:spAutoFit/>
          </a:bodyPr>
          <a:lstStyle/>
          <a:p>
            <a:pPr algn="r">
              <a:lnSpc>
                <a:spcPct val="100000"/>
              </a:lnSpc>
            </a:pPr>
            <a:r>
              <a:rPr sz="800" b="0" i="0">
                <a:solidFill>
                  <a:srgbClr val="8D949B"/>
                </a:solidFill>
                <a:latin typeface="Consolas"/>
              </a:rPr>
              <a:t>02 / 15</a:t>
            </a:r>
          </a:p>
        </p:txBody>
      </p:sp>
      <p:sp>
        <p:nvSpPr>
          <p:cNvPr id="8" name="TextBox 7"/>
          <p:cNvSpPr txBox="1"/>
          <p:nvPr/>
        </p:nvSpPr>
        <p:spPr>
          <a:xfrm>
            <a:off x="566928" y="749808"/>
            <a:ext cx="10881360" cy="603504"/>
          </a:xfrm>
          <a:prstGeom prst="rect">
            <a:avLst/>
          </a:prstGeom>
          <a:noFill/>
        </p:spPr>
        <p:txBody>
          <a:bodyPr wrap="square" lIns="0" rIns="0" tIns="0" bIns="0" anchor="t">
            <a:spAutoFit/>
          </a:bodyPr>
          <a:lstStyle/>
          <a:p>
            <a:pPr algn="l">
              <a:lnSpc>
                <a:spcPct val="95000"/>
              </a:lnSpc>
            </a:pPr>
            <a:r>
              <a:rPr sz="2900" b="1" i="0">
                <a:solidFill>
                  <a:srgbClr val="121517"/>
                </a:solidFill>
                <a:latin typeface="Segoe UI Semibold"/>
              </a:rPr>
              <a:t>The old app knew a lot. It showed very little.</a:t>
            </a:r>
          </a:p>
        </p:txBody>
      </p:sp>
      <p:sp>
        <p:nvSpPr>
          <p:cNvPr id="9" name="TextBox 8"/>
          <p:cNvSpPr txBox="1"/>
          <p:nvPr/>
        </p:nvSpPr>
        <p:spPr>
          <a:xfrm>
            <a:off x="585216" y="1389888"/>
            <a:ext cx="9966960" cy="457200"/>
          </a:xfrm>
          <a:prstGeom prst="rect">
            <a:avLst/>
          </a:prstGeom>
          <a:noFill/>
        </p:spPr>
        <p:txBody>
          <a:bodyPr wrap="square" lIns="0" rIns="0" tIns="0" bIns="0" anchor="t">
            <a:spAutoFit/>
          </a:bodyPr>
          <a:lstStyle/>
          <a:p>
            <a:pPr algn="l">
              <a:lnSpc>
                <a:spcPct val="118000"/>
              </a:lnSpc>
            </a:pPr>
            <a:r>
              <a:rPr sz="1200" b="0" i="0">
                <a:solidFill>
                  <a:srgbClr val="666D74"/>
                </a:solidFill>
                <a:latin typeface="Segoe UI"/>
              </a:rPr>
              <a:t>A full data archive sat behind a front end that was hard to read, hard to navigate and out of date.</a:t>
            </a:r>
          </a:p>
        </p:txBody>
      </p:sp>
      <p:sp>
        <p:nvSpPr>
          <p:cNvPr id="10" name="Rounded Rectangle 9"/>
          <p:cNvSpPr/>
          <p:nvPr/>
        </p:nvSpPr>
        <p:spPr>
          <a:xfrm>
            <a:off x="566928" y="2103120"/>
            <a:ext cx="3474720" cy="2148840"/>
          </a:xfrm>
          <a:prstGeom prst="roundRect">
            <a:avLst>
              <a:gd name="adj" fmla="val 3500"/>
            </a:avLst>
          </a:prstGeom>
          <a:solidFill>
            <a:srgbClr val="FBFBFC"/>
          </a:solidFill>
          <a:ln w="9525">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Rectangle 10"/>
          <p:cNvSpPr/>
          <p:nvPr/>
        </p:nvSpPr>
        <p:spPr>
          <a:xfrm>
            <a:off x="566928" y="2103120"/>
            <a:ext cx="41148" cy="2148840"/>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TextBox 11"/>
          <p:cNvSpPr txBox="1"/>
          <p:nvPr/>
        </p:nvSpPr>
        <p:spPr>
          <a:xfrm>
            <a:off x="822960" y="2304288"/>
            <a:ext cx="548640" cy="274320"/>
          </a:xfrm>
          <a:prstGeom prst="rect">
            <a:avLst/>
          </a:prstGeom>
          <a:noFill/>
        </p:spPr>
        <p:txBody>
          <a:bodyPr wrap="square" lIns="0" rIns="0" tIns="0" bIns="0" anchor="t">
            <a:spAutoFit/>
          </a:bodyPr>
          <a:lstStyle/>
          <a:p>
            <a:pPr algn="l">
              <a:lnSpc>
                <a:spcPct val="100000"/>
              </a:lnSpc>
            </a:pPr>
            <a:r>
              <a:rPr sz="1000" b="1" i="0">
                <a:solidFill>
                  <a:srgbClr val="E10600"/>
                </a:solidFill>
                <a:latin typeface="Consolas"/>
              </a:rPr>
              <a:t>01</a:t>
            </a:r>
          </a:p>
        </p:txBody>
      </p:sp>
      <p:sp>
        <p:nvSpPr>
          <p:cNvPr id="13" name="TextBox 12"/>
          <p:cNvSpPr txBox="1"/>
          <p:nvPr/>
        </p:nvSpPr>
        <p:spPr>
          <a:xfrm>
            <a:off x="822960" y="2615184"/>
            <a:ext cx="2926080" cy="457200"/>
          </a:xfrm>
          <a:prstGeom prst="rect">
            <a:avLst/>
          </a:prstGeom>
          <a:noFill/>
        </p:spPr>
        <p:txBody>
          <a:bodyPr wrap="square" lIns="0" rIns="0" tIns="0" bIns="0" anchor="t">
            <a:spAutoFit/>
          </a:bodyPr>
          <a:lstStyle/>
          <a:p>
            <a:pPr algn="l">
              <a:lnSpc>
                <a:spcPct val="100000"/>
              </a:lnSpc>
            </a:pPr>
            <a:r>
              <a:rPr sz="1550" b="1" i="0">
                <a:solidFill>
                  <a:srgbClr val="121517"/>
                </a:solidFill>
                <a:latin typeface="Segoe UI Semibold"/>
              </a:rPr>
              <a:t>Fragmented experience</a:t>
            </a:r>
          </a:p>
        </p:txBody>
      </p:sp>
      <p:sp>
        <p:nvSpPr>
          <p:cNvPr id="14" name="TextBox 13"/>
          <p:cNvSpPr txBox="1"/>
          <p:nvPr/>
        </p:nvSpPr>
        <p:spPr>
          <a:xfrm>
            <a:off x="822960" y="3163824"/>
            <a:ext cx="2944368" cy="914400"/>
          </a:xfrm>
          <a:prstGeom prst="rect">
            <a:avLst/>
          </a:prstGeom>
          <a:noFill/>
        </p:spPr>
        <p:txBody>
          <a:bodyPr wrap="square" lIns="0" rIns="0" tIns="0" bIns="0" anchor="t">
            <a:spAutoFit/>
          </a:bodyPr>
          <a:lstStyle/>
          <a:p>
            <a:pPr algn="l">
              <a:lnSpc>
                <a:spcPct val="128000"/>
              </a:lnSpc>
            </a:pPr>
            <a:r>
              <a:rPr sz="1000" b="0" i="0">
                <a:solidFill>
                  <a:srgbClr val="666D74"/>
                </a:solidFill>
                <a:latin typeface="Segoe UI"/>
              </a:rPr>
              <a:t>Nine pages with different visual rules, inconsistent spacing and no clear path from a season to a race to a driver.</a:t>
            </a:r>
          </a:p>
        </p:txBody>
      </p:sp>
      <p:sp>
        <p:nvSpPr>
          <p:cNvPr id="15" name="Rounded Rectangle 14"/>
          <p:cNvSpPr/>
          <p:nvPr/>
        </p:nvSpPr>
        <p:spPr>
          <a:xfrm>
            <a:off x="4297680" y="2103120"/>
            <a:ext cx="3474720" cy="2148840"/>
          </a:xfrm>
          <a:prstGeom prst="roundRect">
            <a:avLst>
              <a:gd name="adj" fmla="val 3500"/>
            </a:avLst>
          </a:prstGeom>
          <a:solidFill>
            <a:srgbClr val="FBFBFC"/>
          </a:solidFill>
          <a:ln w="9525">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TextBox 15"/>
          <p:cNvSpPr txBox="1"/>
          <p:nvPr/>
        </p:nvSpPr>
        <p:spPr>
          <a:xfrm>
            <a:off x="4553712" y="2304288"/>
            <a:ext cx="548640" cy="274320"/>
          </a:xfrm>
          <a:prstGeom prst="rect">
            <a:avLst/>
          </a:prstGeom>
          <a:noFill/>
        </p:spPr>
        <p:txBody>
          <a:bodyPr wrap="square" lIns="0" rIns="0" tIns="0" bIns="0" anchor="t">
            <a:spAutoFit/>
          </a:bodyPr>
          <a:lstStyle/>
          <a:p>
            <a:pPr algn="l">
              <a:lnSpc>
                <a:spcPct val="100000"/>
              </a:lnSpc>
            </a:pPr>
            <a:r>
              <a:rPr sz="1000" b="1" i="0">
                <a:solidFill>
                  <a:srgbClr val="E10600"/>
                </a:solidFill>
                <a:latin typeface="Consolas"/>
              </a:rPr>
              <a:t>02</a:t>
            </a:r>
          </a:p>
        </p:txBody>
      </p:sp>
      <p:sp>
        <p:nvSpPr>
          <p:cNvPr id="17" name="TextBox 16"/>
          <p:cNvSpPr txBox="1"/>
          <p:nvPr/>
        </p:nvSpPr>
        <p:spPr>
          <a:xfrm>
            <a:off x="4553712" y="2615184"/>
            <a:ext cx="2926080" cy="457200"/>
          </a:xfrm>
          <a:prstGeom prst="rect">
            <a:avLst/>
          </a:prstGeom>
          <a:noFill/>
        </p:spPr>
        <p:txBody>
          <a:bodyPr wrap="square" lIns="0" rIns="0" tIns="0" bIns="0" anchor="t">
            <a:spAutoFit/>
          </a:bodyPr>
          <a:lstStyle/>
          <a:p>
            <a:pPr algn="l">
              <a:lnSpc>
                <a:spcPct val="100000"/>
              </a:lnSpc>
            </a:pPr>
            <a:r>
              <a:rPr sz="1550" b="1" i="0">
                <a:solidFill>
                  <a:srgbClr val="121517"/>
                </a:solidFill>
                <a:latin typeface="Segoe UI Semibold"/>
              </a:rPr>
              <a:t>Data without context</a:t>
            </a:r>
          </a:p>
        </p:txBody>
      </p:sp>
      <p:sp>
        <p:nvSpPr>
          <p:cNvPr id="18" name="TextBox 17"/>
          <p:cNvSpPr txBox="1"/>
          <p:nvPr/>
        </p:nvSpPr>
        <p:spPr>
          <a:xfrm>
            <a:off x="4553712" y="3163824"/>
            <a:ext cx="2944368" cy="914400"/>
          </a:xfrm>
          <a:prstGeom prst="rect">
            <a:avLst/>
          </a:prstGeom>
          <a:noFill/>
        </p:spPr>
        <p:txBody>
          <a:bodyPr wrap="square" lIns="0" rIns="0" tIns="0" bIns="0" anchor="t">
            <a:spAutoFit/>
          </a:bodyPr>
          <a:lstStyle/>
          <a:p>
            <a:pPr algn="l">
              <a:lnSpc>
                <a:spcPct val="128000"/>
              </a:lnSpc>
            </a:pPr>
            <a:r>
              <a:rPr sz="1000" b="0" i="0">
                <a:solidFill>
                  <a:srgbClr val="666D74"/>
                </a:solidFill>
                <a:latin typeface="Segoe UI"/>
              </a:rPr>
              <a:t>Raw result tables. No career totals, no championship picture, no comparison tools, no telemetry.</a:t>
            </a:r>
          </a:p>
        </p:txBody>
      </p:sp>
      <p:sp>
        <p:nvSpPr>
          <p:cNvPr id="19" name="Rounded Rectangle 18"/>
          <p:cNvSpPr/>
          <p:nvPr/>
        </p:nvSpPr>
        <p:spPr>
          <a:xfrm>
            <a:off x="8028431" y="2103120"/>
            <a:ext cx="3474720" cy="2148840"/>
          </a:xfrm>
          <a:prstGeom prst="roundRect">
            <a:avLst>
              <a:gd name="adj" fmla="val 3500"/>
            </a:avLst>
          </a:prstGeom>
          <a:solidFill>
            <a:srgbClr val="FBFBFC"/>
          </a:solidFill>
          <a:ln w="9525">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TextBox 19"/>
          <p:cNvSpPr txBox="1"/>
          <p:nvPr/>
        </p:nvSpPr>
        <p:spPr>
          <a:xfrm>
            <a:off x="8284463" y="2304288"/>
            <a:ext cx="548640" cy="274320"/>
          </a:xfrm>
          <a:prstGeom prst="rect">
            <a:avLst/>
          </a:prstGeom>
          <a:noFill/>
        </p:spPr>
        <p:txBody>
          <a:bodyPr wrap="square" lIns="0" rIns="0" tIns="0" bIns="0" anchor="t">
            <a:spAutoFit/>
          </a:bodyPr>
          <a:lstStyle/>
          <a:p>
            <a:pPr algn="l">
              <a:lnSpc>
                <a:spcPct val="100000"/>
              </a:lnSpc>
            </a:pPr>
            <a:r>
              <a:rPr sz="1000" b="1" i="0">
                <a:solidFill>
                  <a:srgbClr val="E10600"/>
                </a:solidFill>
                <a:latin typeface="Consolas"/>
              </a:rPr>
              <a:t>03</a:t>
            </a:r>
          </a:p>
        </p:txBody>
      </p:sp>
      <p:sp>
        <p:nvSpPr>
          <p:cNvPr id="21" name="TextBox 20"/>
          <p:cNvSpPr txBox="1"/>
          <p:nvPr/>
        </p:nvSpPr>
        <p:spPr>
          <a:xfrm>
            <a:off x="8284463" y="2615184"/>
            <a:ext cx="2926080" cy="457200"/>
          </a:xfrm>
          <a:prstGeom prst="rect">
            <a:avLst/>
          </a:prstGeom>
          <a:noFill/>
        </p:spPr>
        <p:txBody>
          <a:bodyPr wrap="square" lIns="0" rIns="0" tIns="0" bIns="0" anchor="t">
            <a:spAutoFit/>
          </a:bodyPr>
          <a:lstStyle/>
          <a:p>
            <a:pPr algn="l">
              <a:lnSpc>
                <a:spcPct val="100000"/>
              </a:lnSpc>
            </a:pPr>
            <a:r>
              <a:rPr sz="1550" b="1" i="0">
                <a:solidFill>
                  <a:srgbClr val="121517"/>
                </a:solidFill>
                <a:latin typeface="Segoe UI Semibold"/>
              </a:rPr>
              <a:t>Stuck in the past</a:t>
            </a:r>
          </a:p>
        </p:txBody>
      </p:sp>
      <p:sp>
        <p:nvSpPr>
          <p:cNvPr id="22" name="TextBox 21"/>
          <p:cNvSpPr txBox="1"/>
          <p:nvPr/>
        </p:nvSpPr>
        <p:spPr>
          <a:xfrm>
            <a:off x="8284463" y="3163824"/>
            <a:ext cx="2944368" cy="914400"/>
          </a:xfrm>
          <a:prstGeom prst="rect">
            <a:avLst/>
          </a:prstGeom>
          <a:noFill/>
        </p:spPr>
        <p:txBody>
          <a:bodyPr wrap="square" lIns="0" rIns="0" tIns="0" bIns="0" anchor="t">
            <a:spAutoFit/>
          </a:bodyPr>
          <a:lstStyle/>
          <a:p>
            <a:pPr algn="l">
              <a:lnSpc>
                <a:spcPct val="128000"/>
              </a:lnSpc>
            </a:pPr>
            <a:r>
              <a:rPr sz="1000" b="0" i="0">
                <a:solidFill>
                  <a:srgbClr val="666D74"/>
                </a:solidFill>
                <a:latin typeface="Segoe UI"/>
              </a:rPr>
              <a:t>The archive stopped at 2024 and the current generation of cars had no live or replay layer.</a:t>
            </a:r>
          </a:p>
        </p:txBody>
      </p:sp>
      <p:sp>
        <p:nvSpPr>
          <p:cNvPr id="23" name="Rounded Rectangle 22"/>
          <p:cNvSpPr/>
          <p:nvPr/>
        </p:nvSpPr>
        <p:spPr>
          <a:xfrm>
            <a:off x="566928" y="4681728"/>
            <a:ext cx="11064240" cy="1051560"/>
          </a:xfrm>
          <a:prstGeom prst="roundRect">
            <a:avLst>
              <a:gd name="adj" fmla="val 3000"/>
            </a:avLst>
          </a:prstGeom>
          <a:solidFill>
            <a:srgbClr val="FBFBFC"/>
          </a:solidFill>
          <a:ln w="9525">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Rectangle 23"/>
          <p:cNvSpPr/>
          <p:nvPr/>
        </p:nvSpPr>
        <p:spPr>
          <a:xfrm>
            <a:off x="566928" y="4681728"/>
            <a:ext cx="41148" cy="1051560"/>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TextBox 24"/>
          <p:cNvSpPr txBox="1"/>
          <p:nvPr/>
        </p:nvSpPr>
        <p:spPr>
          <a:xfrm>
            <a:off x="841248" y="4855464"/>
            <a:ext cx="1828800" cy="274320"/>
          </a:xfrm>
          <a:prstGeom prst="rect">
            <a:avLst/>
          </a:prstGeom>
          <a:noFill/>
        </p:spPr>
        <p:txBody>
          <a:bodyPr wrap="square" lIns="0" rIns="0" tIns="0" bIns="0" anchor="t">
            <a:spAutoFit/>
          </a:bodyPr>
          <a:lstStyle/>
          <a:p>
            <a:pPr algn="l">
              <a:lnSpc>
                <a:spcPct val="100000"/>
              </a:lnSpc>
            </a:pPr>
            <a:r>
              <a:rPr sz="850" b="1" i="0">
                <a:solidFill>
                  <a:srgbClr val="E10600"/>
                </a:solidFill>
                <a:latin typeface="Consolas"/>
              </a:rPr>
              <a:t>THE GOAL</a:t>
            </a:r>
          </a:p>
        </p:txBody>
      </p:sp>
      <p:sp>
        <p:nvSpPr>
          <p:cNvPr id="26" name="TextBox 25"/>
          <p:cNvSpPr txBox="1"/>
          <p:nvPr/>
        </p:nvSpPr>
        <p:spPr>
          <a:xfrm>
            <a:off x="2148840" y="4809744"/>
            <a:ext cx="9098280" cy="777240"/>
          </a:xfrm>
          <a:prstGeom prst="rect">
            <a:avLst/>
          </a:prstGeom>
          <a:noFill/>
        </p:spPr>
        <p:txBody>
          <a:bodyPr wrap="square" lIns="0" rIns="0" tIns="0" bIns="0" anchor="t">
            <a:spAutoFit/>
          </a:bodyPr>
          <a:lstStyle/>
          <a:p>
            <a:pPr algn="l">
              <a:lnSpc>
                <a:spcPct val="118000"/>
              </a:lnSpc>
            </a:pPr>
            <a:r>
              <a:rPr sz="1450" b="0" i="0">
                <a:solidFill>
                  <a:srgbClr val="121517"/>
                </a:solidFill>
                <a:latin typeface="Segoe UI"/>
              </a:rPr>
              <a:t>One coherent product: a calm, fast, 2000-onward archive with a real live layer — shipped end to end in one pass.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Rectangle 2"/>
          <p:cNvSpPr/>
          <p:nvPr/>
        </p:nvSpPr>
        <p:spPr>
          <a:xfrm>
            <a:off x="566928" y="420624"/>
            <a:ext cx="50292" cy="237744"/>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TextBox 3"/>
          <p:cNvSpPr txBox="1"/>
          <p:nvPr/>
        </p:nvSpPr>
        <p:spPr>
          <a:xfrm>
            <a:off x="713232" y="438912"/>
            <a:ext cx="7680960" cy="237744"/>
          </a:xfrm>
          <a:prstGeom prst="rect">
            <a:avLst/>
          </a:prstGeom>
          <a:noFill/>
        </p:spPr>
        <p:txBody>
          <a:bodyPr wrap="square" lIns="0" rIns="0" tIns="0" bIns="0" anchor="t">
            <a:spAutoFit/>
          </a:bodyPr>
          <a:lstStyle/>
          <a:p>
            <a:pPr algn="l">
              <a:lnSpc>
                <a:spcPct val="100000"/>
              </a:lnSpc>
            </a:pPr>
            <a:r>
              <a:rPr sz="900" b="1" i="0">
                <a:solidFill>
                  <a:srgbClr val="666D74"/>
                </a:solidFill>
                <a:latin typeface="Consolas"/>
              </a:rPr>
              <a:t>PRODUCT</a:t>
            </a:r>
          </a:p>
        </p:txBody>
      </p:sp>
      <p:sp>
        <p:nvSpPr>
          <p:cNvPr id="5" name="Rectangle 4"/>
          <p:cNvSpPr/>
          <p:nvPr/>
        </p:nvSpPr>
        <p:spPr>
          <a:xfrm>
            <a:off x="566928" y="6336792"/>
            <a:ext cx="11064240" cy="10972"/>
          </a:xfrm>
          <a:prstGeom prst="rect">
            <a:avLst/>
          </a:prstGeom>
          <a:solidFill>
            <a:srgbClr val="D5DA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566928" y="6437376"/>
            <a:ext cx="6400800" cy="228600"/>
          </a:xfrm>
          <a:prstGeom prst="rect">
            <a:avLst/>
          </a:prstGeom>
          <a:noFill/>
        </p:spPr>
        <p:txBody>
          <a:bodyPr wrap="square" lIns="0" rIns="0" tIns="0" bIns="0" anchor="t">
            <a:spAutoFit/>
          </a:bodyPr>
          <a:lstStyle/>
          <a:p>
            <a:pPr algn="l">
              <a:lnSpc>
                <a:spcPct val="100000"/>
              </a:lnSpc>
            </a:pPr>
            <a:r>
              <a:rPr sz="800" b="0" i="0">
                <a:solidFill>
                  <a:srgbClr val="8D949B"/>
                </a:solidFill>
                <a:latin typeface="Consolas"/>
              </a:rPr>
              <a:t>PADDOCK  ·  FORMULA 1 ARCHIVE</a:t>
            </a:r>
          </a:p>
        </p:txBody>
      </p:sp>
      <p:sp>
        <p:nvSpPr>
          <p:cNvPr id="7" name="TextBox 6"/>
          <p:cNvSpPr txBox="1"/>
          <p:nvPr/>
        </p:nvSpPr>
        <p:spPr>
          <a:xfrm>
            <a:off x="10774375" y="6437376"/>
            <a:ext cx="822960" cy="228600"/>
          </a:xfrm>
          <a:prstGeom prst="rect">
            <a:avLst/>
          </a:prstGeom>
          <a:noFill/>
        </p:spPr>
        <p:txBody>
          <a:bodyPr wrap="square" lIns="0" rIns="0" tIns="0" bIns="0" anchor="t">
            <a:spAutoFit/>
          </a:bodyPr>
          <a:lstStyle/>
          <a:p>
            <a:pPr algn="r">
              <a:lnSpc>
                <a:spcPct val="100000"/>
              </a:lnSpc>
            </a:pPr>
            <a:r>
              <a:rPr sz="800" b="0" i="0">
                <a:solidFill>
                  <a:srgbClr val="8D949B"/>
                </a:solidFill>
                <a:latin typeface="Consolas"/>
              </a:rPr>
              <a:t>03 / 15</a:t>
            </a:r>
          </a:p>
        </p:txBody>
      </p:sp>
      <p:sp>
        <p:nvSpPr>
          <p:cNvPr id="8" name="TextBox 7"/>
          <p:cNvSpPr txBox="1"/>
          <p:nvPr/>
        </p:nvSpPr>
        <p:spPr>
          <a:xfrm>
            <a:off x="566928" y="749808"/>
            <a:ext cx="10881360" cy="603504"/>
          </a:xfrm>
          <a:prstGeom prst="rect">
            <a:avLst/>
          </a:prstGeom>
          <a:noFill/>
        </p:spPr>
        <p:txBody>
          <a:bodyPr wrap="square" lIns="0" rIns="0" tIns="0" bIns="0" anchor="t">
            <a:spAutoFit/>
          </a:bodyPr>
          <a:lstStyle/>
          <a:p>
            <a:pPr algn="l">
              <a:lnSpc>
                <a:spcPct val="95000"/>
              </a:lnSpc>
            </a:pPr>
            <a:r>
              <a:rPr sz="2900" b="1" i="0">
                <a:solidFill>
                  <a:srgbClr val="121517"/>
                </a:solidFill>
                <a:latin typeface="Segoe UI Semibold"/>
              </a:rPr>
              <a:t>One paddock, eleven screens.</a:t>
            </a:r>
          </a:p>
        </p:txBody>
      </p:sp>
      <p:sp>
        <p:nvSpPr>
          <p:cNvPr id="9" name="TextBox 8"/>
          <p:cNvSpPr txBox="1"/>
          <p:nvPr/>
        </p:nvSpPr>
        <p:spPr>
          <a:xfrm>
            <a:off x="585216" y="1389888"/>
            <a:ext cx="9966960" cy="457200"/>
          </a:xfrm>
          <a:prstGeom prst="rect">
            <a:avLst/>
          </a:prstGeom>
          <a:noFill/>
        </p:spPr>
        <p:txBody>
          <a:bodyPr wrap="square" lIns="0" rIns="0" tIns="0" bIns="0" anchor="t">
            <a:spAutoFit/>
          </a:bodyPr>
          <a:lstStyle/>
          <a:p>
            <a:pPr algn="l">
              <a:lnSpc>
                <a:spcPct val="118000"/>
              </a:lnSpc>
            </a:pPr>
            <a:r>
              <a:rPr sz="1200" b="0" i="0">
                <a:solidFill>
                  <a:srgbClr val="666D74"/>
                </a:solidFill>
                <a:latin typeface="Segoe UI"/>
              </a:rPr>
              <a:t>Every route shares one silver system, and every table drills into a profile or a race.</a:t>
            </a:r>
          </a:p>
        </p:txBody>
      </p:sp>
      <p:sp>
        <p:nvSpPr>
          <p:cNvPr id="10" name="Rounded Rectangle 9"/>
          <p:cNvSpPr/>
          <p:nvPr/>
        </p:nvSpPr>
        <p:spPr>
          <a:xfrm>
            <a:off x="566928" y="2011680"/>
            <a:ext cx="2651760" cy="1097280"/>
          </a:xfrm>
          <a:prstGeom prst="roundRect">
            <a:avLst>
              <a:gd name="adj" fmla="val 3500"/>
            </a:avLst>
          </a:prstGeom>
          <a:solidFill>
            <a:srgbClr val="FBFBFC"/>
          </a:solidFill>
          <a:ln w="9525">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TextBox 10"/>
          <p:cNvSpPr txBox="1"/>
          <p:nvPr/>
        </p:nvSpPr>
        <p:spPr>
          <a:xfrm>
            <a:off x="795528" y="2148840"/>
            <a:ext cx="2194560" cy="475488"/>
          </a:xfrm>
          <a:prstGeom prst="rect">
            <a:avLst/>
          </a:prstGeom>
          <a:noFill/>
        </p:spPr>
        <p:txBody>
          <a:bodyPr wrap="square" lIns="0" rIns="0" tIns="0" bIns="0" anchor="t">
            <a:spAutoFit/>
          </a:bodyPr>
          <a:lstStyle/>
          <a:p>
            <a:pPr algn="l">
              <a:lnSpc>
                <a:spcPct val="100000"/>
              </a:lnSpc>
            </a:pPr>
            <a:r>
              <a:rPr sz="2700" b="1" i="0">
                <a:solidFill>
                  <a:srgbClr val="121517"/>
                </a:solidFill>
                <a:latin typeface="Segoe UI Semibold"/>
              </a:rPr>
              <a:t>27</a:t>
            </a:r>
          </a:p>
        </p:txBody>
      </p:sp>
      <p:sp>
        <p:nvSpPr>
          <p:cNvPr id="12" name="TextBox 11"/>
          <p:cNvSpPr txBox="1"/>
          <p:nvPr/>
        </p:nvSpPr>
        <p:spPr>
          <a:xfrm>
            <a:off x="795528" y="2651760"/>
            <a:ext cx="2194560" cy="256032"/>
          </a:xfrm>
          <a:prstGeom prst="rect">
            <a:avLst/>
          </a:prstGeom>
          <a:noFill/>
        </p:spPr>
        <p:txBody>
          <a:bodyPr wrap="square" lIns="0" rIns="0" tIns="0" bIns="0" anchor="t">
            <a:spAutoFit/>
          </a:bodyPr>
          <a:lstStyle/>
          <a:p>
            <a:pPr algn="l">
              <a:lnSpc>
                <a:spcPct val="100000"/>
              </a:lnSpc>
            </a:pPr>
            <a:r>
              <a:rPr sz="800" b="1" i="0">
                <a:solidFill>
                  <a:srgbClr val="666D74"/>
                </a:solidFill>
                <a:latin typeface="Consolas"/>
              </a:rPr>
              <a:t>SEASONS BUNDLED</a:t>
            </a:r>
          </a:p>
        </p:txBody>
      </p:sp>
      <p:sp>
        <p:nvSpPr>
          <p:cNvPr id="13" name="Rounded Rectangle 12"/>
          <p:cNvSpPr/>
          <p:nvPr/>
        </p:nvSpPr>
        <p:spPr>
          <a:xfrm>
            <a:off x="3419856" y="2011680"/>
            <a:ext cx="2651760" cy="1097280"/>
          </a:xfrm>
          <a:prstGeom prst="roundRect">
            <a:avLst>
              <a:gd name="adj" fmla="val 3500"/>
            </a:avLst>
          </a:prstGeom>
          <a:solidFill>
            <a:srgbClr val="FBFBFC"/>
          </a:solidFill>
          <a:ln w="9525">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TextBox 13"/>
          <p:cNvSpPr txBox="1"/>
          <p:nvPr/>
        </p:nvSpPr>
        <p:spPr>
          <a:xfrm>
            <a:off x="3648456" y="2148840"/>
            <a:ext cx="2194560" cy="475488"/>
          </a:xfrm>
          <a:prstGeom prst="rect">
            <a:avLst/>
          </a:prstGeom>
          <a:noFill/>
        </p:spPr>
        <p:txBody>
          <a:bodyPr wrap="square" lIns="0" rIns="0" tIns="0" bIns="0" anchor="t">
            <a:spAutoFit/>
          </a:bodyPr>
          <a:lstStyle/>
          <a:p>
            <a:pPr algn="l">
              <a:lnSpc>
                <a:spcPct val="100000"/>
              </a:lnSpc>
            </a:pPr>
            <a:r>
              <a:rPr sz="2700" b="1" i="0">
                <a:solidFill>
                  <a:srgbClr val="121517"/>
                </a:solidFill>
                <a:latin typeface="Segoe UI Semibold"/>
              </a:rPr>
              <a:t>526</a:t>
            </a:r>
          </a:p>
        </p:txBody>
      </p:sp>
      <p:sp>
        <p:nvSpPr>
          <p:cNvPr id="15" name="TextBox 14"/>
          <p:cNvSpPr txBox="1"/>
          <p:nvPr/>
        </p:nvSpPr>
        <p:spPr>
          <a:xfrm>
            <a:off x="3648456" y="2651760"/>
            <a:ext cx="2194560" cy="256032"/>
          </a:xfrm>
          <a:prstGeom prst="rect">
            <a:avLst/>
          </a:prstGeom>
          <a:noFill/>
        </p:spPr>
        <p:txBody>
          <a:bodyPr wrap="square" lIns="0" rIns="0" tIns="0" bIns="0" anchor="t">
            <a:spAutoFit/>
          </a:bodyPr>
          <a:lstStyle/>
          <a:p>
            <a:pPr algn="l">
              <a:lnSpc>
                <a:spcPct val="100000"/>
              </a:lnSpc>
            </a:pPr>
            <a:r>
              <a:rPr sz="800" b="1" i="0">
                <a:solidFill>
                  <a:srgbClr val="666D74"/>
                </a:solidFill>
                <a:latin typeface="Consolas"/>
              </a:rPr>
              <a:t>ARCHIVED RACES</a:t>
            </a:r>
          </a:p>
        </p:txBody>
      </p:sp>
      <p:sp>
        <p:nvSpPr>
          <p:cNvPr id="16" name="Rounded Rectangle 15"/>
          <p:cNvSpPr/>
          <p:nvPr/>
        </p:nvSpPr>
        <p:spPr>
          <a:xfrm>
            <a:off x="6272784" y="2011680"/>
            <a:ext cx="2651760" cy="1097280"/>
          </a:xfrm>
          <a:prstGeom prst="roundRect">
            <a:avLst>
              <a:gd name="adj" fmla="val 3500"/>
            </a:avLst>
          </a:prstGeom>
          <a:solidFill>
            <a:srgbClr val="FBFBFC"/>
          </a:solidFill>
          <a:ln w="9525">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TextBox 16"/>
          <p:cNvSpPr txBox="1"/>
          <p:nvPr/>
        </p:nvSpPr>
        <p:spPr>
          <a:xfrm>
            <a:off x="6501384" y="2148840"/>
            <a:ext cx="2194560" cy="475488"/>
          </a:xfrm>
          <a:prstGeom prst="rect">
            <a:avLst/>
          </a:prstGeom>
          <a:noFill/>
        </p:spPr>
        <p:txBody>
          <a:bodyPr wrap="square" lIns="0" rIns="0" tIns="0" bIns="0" anchor="t">
            <a:spAutoFit/>
          </a:bodyPr>
          <a:lstStyle/>
          <a:p>
            <a:pPr algn="l">
              <a:lnSpc>
                <a:spcPct val="100000"/>
              </a:lnSpc>
            </a:pPr>
            <a:r>
              <a:rPr sz="2700" b="1" i="0">
                <a:solidFill>
                  <a:srgbClr val="121517"/>
                </a:solidFill>
                <a:latin typeface="Segoe UI Semibold"/>
              </a:rPr>
              <a:t>10,954</a:t>
            </a:r>
          </a:p>
        </p:txBody>
      </p:sp>
      <p:sp>
        <p:nvSpPr>
          <p:cNvPr id="18" name="TextBox 17"/>
          <p:cNvSpPr txBox="1"/>
          <p:nvPr/>
        </p:nvSpPr>
        <p:spPr>
          <a:xfrm>
            <a:off x="6501384" y="2651760"/>
            <a:ext cx="2194560" cy="256032"/>
          </a:xfrm>
          <a:prstGeom prst="rect">
            <a:avLst/>
          </a:prstGeom>
          <a:noFill/>
        </p:spPr>
        <p:txBody>
          <a:bodyPr wrap="square" lIns="0" rIns="0" tIns="0" bIns="0" anchor="t">
            <a:spAutoFit/>
          </a:bodyPr>
          <a:lstStyle/>
          <a:p>
            <a:pPr algn="l">
              <a:lnSpc>
                <a:spcPct val="100000"/>
              </a:lnSpc>
            </a:pPr>
            <a:r>
              <a:rPr sz="800" b="1" i="0">
                <a:solidFill>
                  <a:srgbClr val="666D74"/>
                </a:solidFill>
                <a:latin typeface="Consolas"/>
              </a:rPr>
              <a:t>RACE RESULTS</a:t>
            </a:r>
          </a:p>
        </p:txBody>
      </p:sp>
      <p:sp>
        <p:nvSpPr>
          <p:cNvPr id="19" name="Rounded Rectangle 18"/>
          <p:cNvSpPr/>
          <p:nvPr/>
        </p:nvSpPr>
        <p:spPr>
          <a:xfrm>
            <a:off x="9125711" y="2011680"/>
            <a:ext cx="2651760" cy="1097280"/>
          </a:xfrm>
          <a:prstGeom prst="roundRect">
            <a:avLst>
              <a:gd name="adj" fmla="val 3500"/>
            </a:avLst>
          </a:prstGeom>
          <a:solidFill>
            <a:srgbClr val="FBFBFC"/>
          </a:solidFill>
          <a:ln w="9525">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TextBox 19"/>
          <p:cNvSpPr txBox="1"/>
          <p:nvPr/>
        </p:nvSpPr>
        <p:spPr>
          <a:xfrm>
            <a:off x="9354311" y="2148840"/>
            <a:ext cx="2194560" cy="475488"/>
          </a:xfrm>
          <a:prstGeom prst="rect">
            <a:avLst/>
          </a:prstGeom>
          <a:noFill/>
        </p:spPr>
        <p:txBody>
          <a:bodyPr wrap="square" lIns="0" rIns="0" tIns="0" bIns="0" anchor="t">
            <a:spAutoFit/>
          </a:bodyPr>
          <a:lstStyle/>
          <a:p>
            <a:pPr algn="l">
              <a:lnSpc>
                <a:spcPct val="100000"/>
              </a:lnSpc>
            </a:pPr>
            <a:r>
              <a:rPr sz="2700" b="1" i="0">
                <a:solidFill>
                  <a:srgbClr val="121517"/>
                </a:solidFill>
                <a:latin typeface="Segoe UI Semibold"/>
              </a:rPr>
              <a:t>11</a:t>
            </a:r>
          </a:p>
        </p:txBody>
      </p:sp>
      <p:sp>
        <p:nvSpPr>
          <p:cNvPr id="21" name="TextBox 20"/>
          <p:cNvSpPr txBox="1"/>
          <p:nvPr/>
        </p:nvSpPr>
        <p:spPr>
          <a:xfrm>
            <a:off x="9354311" y="2651760"/>
            <a:ext cx="2194560" cy="256032"/>
          </a:xfrm>
          <a:prstGeom prst="rect">
            <a:avLst/>
          </a:prstGeom>
          <a:noFill/>
        </p:spPr>
        <p:txBody>
          <a:bodyPr wrap="square" lIns="0" rIns="0" tIns="0" bIns="0" anchor="t">
            <a:spAutoFit/>
          </a:bodyPr>
          <a:lstStyle/>
          <a:p>
            <a:pPr algn="l">
              <a:lnSpc>
                <a:spcPct val="100000"/>
              </a:lnSpc>
            </a:pPr>
            <a:r>
              <a:rPr sz="800" b="1" i="0">
                <a:solidFill>
                  <a:srgbClr val="666D74"/>
                </a:solidFill>
                <a:latin typeface="Consolas"/>
              </a:rPr>
              <a:t>SCREENS</a:t>
            </a:r>
          </a:p>
        </p:txBody>
      </p:sp>
      <p:sp>
        <p:nvSpPr>
          <p:cNvPr id="22" name="TextBox 21"/>
          <p:cNvSpPr txBox="1"/>
          <p:nvPr/>
        </p:nvSpPr>
        <p:spPr>
          <a:xfrm>
            <a:off x="566928" y="3401568"/>
            <a:ext cx="1417320" cy="219456"/>
          </a:xfrm>
          <a:prstGeom prst="rect">
            <a:avLst/>
          </a:prstGeom>
          <a:noFill/>
        </p:spPr>
        <p:txBody>
          <a:bodyPr wrap="square" lIns="0" rIns="0" tIns="0" bIns="0" anchor="t">
            <a:spAutoFit/>
          </a:bodyPr>
          <a:lstStyle/>
          <a:p>
            <a:pPr algn="l">
              <a:lnSpc>
                <a:spcPct val="100000"/>
              </a:lnSpc>
            </a:pPr>
            <a:r>
              <a:rPr sz="780" b="0" i="0">
                <a:solidFill>
                  <a:srgbClr val="666D74"/>
                </a:solidFill>
                <a:latin typeface="Consolas"/>
              </a:rPr>
              <a:t>/</a:t>
            </a:r>
          </a:p>
        </p:txBody>
      </p:sp>
      <p:sp>
        <p:nvSpPr>
          <p:cNvPr id="23" name="TextBox 22"/>
          <p:cNvSpPr txBox="1"/>
          <p:nvPr/>
        </p:nvSpPr>
        <p:spPr>
          <a:xfrm>
            <a:off x="2048256" y="3374136"/>
            <a:ext cx="1371600" cy="256032"/>
          </a:xfrm>
          <a:prstGeom prst="rect">
            <a:avLst/>
          </a:prstGeom>
          <a:noFill/>
        </p:spPr>
        <p:txBody>
          <a:bodyPr wrap="square" lIns="0" rIns="0" tIns="0" bIns="0" anchor="t">
            <a:spAutoFit/>
          </a:bodyPr>
          <a:lstStyle/>
          <a:p>
            <a:pPr algn="l">
              <a:lnSpc>
                <a:spcPct val="100000"/>
              </a:lnSpc>
            </a:pPr>
            <a:r>
              <a:rPr sz="1000" b="1" i="0">
                <a:solidFill>
                  <a:srgbClr val="121517"/>
                </a:solidFill>
                <a:latin typeface="Segoe UI"/>
              </a:rPr>
              <a:t>Home</a:t>
            </a:r>
          </a:p>
        </p:txBody>
      </p:sp>
      <p:sp>
        <p:nvSpPr>
          <p:cNvPr id="24" name="TextBox 23"/>
          <p:cNvSpPr txBox="1"/>
          <p:nvPr/>
        </p:nvSpPr>
        <p:spPr>
          <a:xfrm>
            <a:off x="2048256" y="3611880"/>
            <a:ext cx="3749039" cy="237744"/>
          </a:xfrm>
          <a:prstGeom prst="rect">
            <a:avLst/>
          </a:prstGeom>
          <a:noFill/>
        </p:spPr>
        <p:txBody>
          <a:bodyPr wrap="square" lIns="0" rIns="0" tIns="0" bIns="0" anchor="t">
            <a:spAutoFit/>
          </a:bodyPr>
          <a:lstStyle/>
          <a:p>
            <a:pPr algn="l">
              <a:lnSpc>
                <a:spcPct val="100000"/>
              </a:lnSpc>
            </a:pPr>
            <a:r>
              <a:rPr sz="830" b="0" i="0">
                <a:solidFill>
                  <a:srgbClr val="666D74"/>
                </a:solidFill>
                <a:latin typeface="Segoe UI"/>
              </a:rPr>
              <a:t>MP4/4 hero, 2026 board, latest and next race</a:t>
            </a:r>
          </a:p>
        </p:txBody>
      </p:sp>
      <p:sp>
        <p:nvSpPr>
          <p:cNvPr id="25" name="TextBox 24"/>
          <p:cNvSpPr txBox="1"/>
          <p:nvPr/>
        </p:nvSpPr>
        <p:spPr>
          <a:xfrm>
            <a:off x="566928" y="3895344"/>
            <a:ext cx="1417320" cy="219456"/>
          </a:xfrm>
          <a:prstGeom prst="rect">
            <a:avLst/>
          </a:prstGeom>
          <a:noFill/>
        </p:spPr>
        <p:txBody>
          <a:bodyPr wrap="square" lIns="0" rIns="0" tIns="0" bIns="0" anchor="t">
            <a:spAutoFit/>
          </a:bodyPr>
          <a:lstStyle/>
          <a:p>
            <a:pPr algn="l">
              <a:lnSpc>
                <a:spcPct val="100000"/>
              </a:lnSpc>
            </a:pPr>
            <a:r>
              <a:rPr sz="780" b="0" i="0">
                <a:solidFill>
                  <a:srgbClr val="666D74"/>
                </a:solidFill>
                <a:latin typeface="Consolas"/>
              </a:rPr>
              <a:t>/standings</a:t>
            </a:r>
          </a:p>
        </p:txBody>
      </p:sp>
      <p:sp>
        <p:nvSpPr>
          <p:cNvPr id="26" name="TextBox 25"/>
          <p:cNvSpPr txBox="1"/>
          <p:nvPr/>
        </p:nvSpPr>
        <p:spPr>
          <a:xfrm>
            <a:off x="2048256" y="3867911"/>
            <a:ext cx="1371600" cy="256032"/>
          </a:xfrm>
          <a:prstGeom prst="rect">
            <a:avLst/>
          </a:prstGeom>
          <a:noFill/>
        </p:spPr>
        <p:txBody>
          <a:bodyPr wrap="square" lIns="0" rIns="0" tIns="0" bIns="0" anchor="t">
            <a:spAutoFit/>
          </a:bodyPr>
          <a:lstStyle/>
          <a:p>
            <a:pPr algn="l">
              <a:lnSpc>
                <a:spcPct val="100000"/>
              </a:lnSpc>
            </a:pPr>
            <a:r>
              <a:rPr sz="1000" b="1" i="0">
                <a:solidFill>
                  <a:srgbClr val="121517"/>
                </a:solidFill>
                <a:latin typeface="Segoe UI"/>
              </a:rPr>
              <a:t>Standings</a:t>
            </a:r>
          </a:p>
        </p:txBody>
      </p:sp>
      <p:sp>
        <p:nvSpPr>
          <p:cNvPr id="27" name="TextBox 26"/>
          <p:cNvSpPr txBox="1"/>
          <p:nvPr/>
        </p:nvSpPr>
        <p:spPr>
          <a:xfrm>
            <a:off x="2048256" y="4105656"/>
            <a:ext cx="3749039" cy="237744"/>
          </a:xfrm>
          <a:prstGeom prst="rect">
            <a:avLst/>
          </a:prstGeom>
          <a:noFill/>
        </p:spPr>
        <p:txBody>
          <a:bodyPr wrap="square" lIns="0" rIns="0" tIns="0" bIns="0" anchor="t">
            <a:spAutoFit/>
          </a:bodyPr>
          <a:lstStyle/>
          <a:p>
            <a:pPr algn="l">
              <a:lnSpc>
                <a:spcPct val="100000"/>
              </a:lnSpc>
            </a:pPr>
            <a:r>
              <a:rPr sz="830" b="0" i="0">
                <a:solidFill>
                  <a:srgbClr val="666D74"/>
                </a:solidFill>
                <a:latin typeface="Segoe UI"/>
              </a:rPr>
              <a:t>Drivers' and constructors' tables, leader logic</a:t>
            </a:r>
          </a:p>
        </p:txBody>
      </p:sp>
      <p:sp>
        <p:nvSpPr>
          <p:cNvPr id="28" name="TextBox 27"/>
          <p:cNvSpPr txBox="1"/>
          <p:nvPr/>
        </p:nvSpPr>
        <p:spPr>
          <a:xfrm>
            <a:off x="566928" y="4389120"/>
            <a:ext cx="1417320" cy="219456"/>
          </a:xfrm>
          <a:prstGeom prst="rect">
            <a:avLst/>
          </a:prstGeom>
          <a:noFill/>
        </p:spPr>
        <p:txBody>
          <a:bodyPr wrap="square" lIns="0" rIns="0" tIns="0" bIns="0" anchor="t">
            <a:spAutoFit/>
          </a:bodyPr>
          <a:lstStyle/>
          <a:p>
            <a:pPr algn="l">
              <a:lnSpc>
                <a:spcPct val="100000"/>
              </a:lnSpc>
            </a:pPr>
            <a:r>
              <a:rPr sz="780" b="0" i="0">
                <a:solidFill>
                  <a:srgbClr val="666D74"/>
                </a:solidFill>
                <a:latin typeface="Consolas"/>
              </a:rPr>
              <a:t>/drivers</a:t>
            </a:r>
          </a:p>
        </p:txBody>
      </p:sp>
      <p:sp>
        <p:nvSpPr>
          <p:cNvPr id="29" name="TextBox 28"/>
          <p:cNvSpPr txBox="1"/>
          <p:nvPr/>
        </p:nvSpPr>
        <p:spPr>
          <a:xfrm>
            <a:off x="2048256" y="4361688"/>
            <a:ext cx="1371600" cy="256032"/>
          </a:xfrm>
          <a:prstGeom prst="rect">
            <a:avLst/>
          </a:prstGeom>
          <a:noFill/>
        </p:spPr>
        <p:txBody>
          <a:bodyPr wrap="square" lIns="0" rIns="0" tIns="0" bIns="0" anchor="t">
            <a:spAutoFit/>
          </a:bodyPr>
          <a:lstStyle/>
          <a:p>
            <a:pPr algn="l">
              <a:lnSpc>
                <a:spcPct val="100000"/>
              </a:lnSpc>
            </a:pPr>
            <a:r>
              <a:rPr sz="1000" b="1" i="0">
                <a:solidFill>
                  <a:srgbClr val="121517"/>
                </a:solidFill>
                <a:latin typeface="Segoe UI"/>
              </a:rPr>
              <a:t>Drivers</a:t>
            </a:r>
          </a:p>
        </p:txBody>
      </p:sp>
      <p:sp>
        <p:nvSpPr>
          <p:cNvPr id="30" name="TextBox 29"/>
          <p:cNvSpPr txBox="1"/>
          <p:nvPr/>
        </p:nvSpPr>
        <p:spPr>
          <a:xfrm>
            <a:off x="2048256" y="4599432"/>
            <a:ext cx="3749039" cy="237744"/>
          </a:xfrm>
          <a:prstGeom prst="rect">
            <a:avLst/>
          </a:prstGeom>
          <a:noFill/>
        </p:spPr>
        <p:txBody>
          <a:bodyPr wrap="square" lIns="0" rIns="0" tIns="0" bIns="0" anchor="t">
            <a:spAutoFit/>
          </a:bodyPr>
          <a:lstStyle/>
          <a:p>
            <a:pPr algn="l">
              <a:lnSpc>
                <a:spcPct val="100000"/>
              </a:lnSpc>
            </a:pPr>
            <a:r>
              <a:rPr sz="830" b="0" i="0">
                <a:solidFill>
                  <a:srgbClr val="666D74"/>
                </a:solidFill>
                <a:latin typeface="Segoe UI"/>
              </a:rPr>
              <a:t>Searchable grid with career profile dialogs</a:t>
            </a:r>
          </a:p>
        </p:txBody>
      </p:sp>
      <p:sp>
        <p:nvSpPr>
          <p:cNvPr id="31" name="TextBox 30"/>
          <p:cNvSpPr txBox="1"/>
          <p:nvPr/>
        </p:nvSpPr>
        <p:spPr>
          <a:xfrm>
            <a:off x="566928" y="4882896"/>
            <a:ext cx="1417320" cy="219456"/>
          </a:xfrm>
          <a:prstGeom prst="rect">
            <a:avLst/>
          </a:prstGeom>
          <a:noFill/>
        </p:spPr>
        <p:txBody>
          <a:bodyPr wrap="square" lIns="0" rIns="0" tIns="0" bIns="0" anchor="t">
            <a:spAutoFit/>
          </a:bodyPr>
          <a:lstStyle/>
          <a:p>
            <a:pPr algn="l">
              <a:lnSpc>
                <a:spcPct val="100000"/>
              </a:lnSpc>
            </a:pPr>
            <a:r>
              <a:rPr sz="780" b="0" i="0">
                <a:solidFill>
                  <a:srgbClr val="666D74"/>
                </a:solidFill>
                <a:latin typeface="Consolas"/>
              </a:rPr>
              <a:t>/constructors</a:t>
            </a:r>
          </a:p>
        </p:txBody>
      </p:sp>
      <p:sp>
        <p:nvSpPr>
          <p:cNvPr id="32" name="TextBox 31"/>
          <p:cNvSpPr txBox="1"/>
          <p:nvPr/>
        </p:nvSpPr>
        <p:spPr>
          <a:xfrm>
            <a:off x="2048256" y="4855464"/>
            <a:ext cx="1371600" cy="256032"/>
          </a:xfrm>
          <a:prstGeom prst="rect">
            <a:avLst/>
          </a:prstGeom>
          <a:noFill/>
        </p:spPr>
        <p:txBody>
          <a:bodyPr wrap="square" lIns="0" rIns="0" tIns="0" bIns="0" anchor="t">
            <a:spAutoFit/>
          </a:bodyPr>
          <a:lstStyle/>
          <a:p>
            <a:pPr algn="l">
              <a:lnSpc>
                <a:spcPct val="100000"/>
              </a:lnSpc>
            </a:pPr>
            <a:r>
              <a:rPr sz="1000" b="1" i="0">
                <a:solidFill>
                  <a:srgbClr val="121517"/>
                </a:solidFill>
                <a:latin typeface="Segoe UI"/>
              </a:rPr>
              <a:t>Teams</a:t>
            </a:r>
          </a:p>
        </p:txBody>
      </p:sp>
      <p:sp>
        <p:nvSpPr>
          <p:cNvPr id="33" name="TextBox 32"/>
          <p:cNvSpPr txBox="1"/>
          <p:nvPr/>
        </p:nvSpPr>
        <p:spPr>
          <a:xfrm>
            <a:off x="2048256" y="5093208"/>
            <a:ext cx="3749039" cy="237744"/>
          </a:xfrm>
          <a:prstGeom prst="rect">
            <a:avLst/>
          </a:prstGeom>
          <a:noFill/>
        </p:spPr>
        <p:txBody>
          <a:bodyPr wrap="square" lIns="0" rIns="0" tIns="0" bIns="0" anchor="t">
            <a:spAutoFit/>
          </a:bodyPr>
          <a:lstStyle/>
          <a:p>
            <a:pPr algn="l">
              <a:lnSpc>
                <a:spcPct val="100000"/>
              </a:lnSpc>
            </a:pPr>
            <a:r>
              <a:rPr sz="830" b="0" i="0">
                <a:solidFill>
                  <a:srgbClr val="666D74"/>
                </a:solidFill>
                <a:latin typeface="Segoe UI"/>
              </a:rPr>
              <a:t>Real logos or typographic crests, title years</a:t>
            </a:r>
          </a:p>
        </p:txBody>
      </p:sp>
      <p:sp>
        <p:nvSpPr>
          <p:cNvPr id="34" name="TextBox 33"/>
          <p:cNvSpPr txBox="1"/>
          <p:nvPr/>
        </p:nvSpPr>
        <p:spPr>
          <a:xfrm>
            <a:off x="566928" y="5376672"/>
            <a:ext cx="1417320" cy="219456"/>
          </a:xfrm>
          <a:prstGeom prst="rect">
            <a:avLst/>
          </a:prstGeom>
          <a:noFill/>
        </p:spPr>
        <p:txBody>
          <a:bodyPr wrap="square" lIns="0" rIns="0" tIns="0" bIns="0" anchor="t">
            <a:spAutoFit/>
          </a:bodyPr>
          <a:lstStyle/>
          <a:p>
            <a:pPr algn="l">
              <a:lnSpc>
                <a:spcPct val="100000"/>
              </a:lnSpc>
            </a:pPr>
            <a:r>
              <a:rPr sz="780" b="0" i="0">
                <a:solidFill>
                  <a:srgbClr val="666D74"/>
                </a:solidFill>
                <a:latin typeface="Consolas"/>
              </a:rPr>
              <a:t>/circuits</a:t>
            </a:r>
          </a:p>
        </p:txBody>
      </p:sp>
      <p:sp>
        <p:nvSpPr>
          <p:cNvPr id="35" name="TextBox 34"/>
          <p:cNvSpPr txBox="1"/>
          <p:nvPr/>
        </p:nvSpPr>
        <p:spPr>
          <a:xfrm>
            <a:off x="2048256" y="5349240"/>
            <a:ext cx="1371600" cy="256032"/>
          </a:xfrm>
          <a:prstGeom prst="rect">
            <a:avLst/>
          </a:prstGeom>
          <a:noFill/>
        </p:spPr>
        <p:txBody>
          <a:bodyPr wrap="square" lIns="0" rIns="0" tIns="0" bIns="0" anchor="t">
            <a:spAutoFit/>
          </a:bodyPr>
          <a:lstStyle/>
          <a:p>
            <a:pPr algn="l">
              <a:lnSpc>
                <a:spcPct val="100000"/>
              </a:lnSpc>
            </a:pPr>
            <a:r>
              <a:rPr sz="1000" b="1" i="0">
                <a:solidFill>
                  <a:srgbClr val="121517"/>
                </a:solidFill>
                <a:latin typeface="Segoe UI"/>
              </a:rPr>
              <a:t>Circuits</a:t>
            </a:r>
          </a:p>
        </p:txBody>
      </p:sp>
      <p:sp>
        <p:nvSpPr>
          <p:cNvPr id="36" name="TextBox 35"/>
          <p:cNvSpPr txBox="1"/>
          <p:nvPr/>
        </p:nvSpPr>
        <p:spPr>
          <a:xfrm>
            <a:off x="2048256" y="5586984"/>
            <a:ext cx="3749039" cy="237744"/>
          </a:xfrm>
          <a:prstGeom prst="rect">
            <a:avLst/>
          </a:prstGeom>
          <a:noFill/>
        </p:spPr>
        <p:txBody>
          <a:bodyPr wrap="square" lIns="0" rIns="0" tIns="0" bIns="0" anchor="t">
            <a:spAutoFit/>
          </a:bodyPr>
          <a:lstStyle/>
          <a:p>
            <a:pPr algn="l">
              <a:lnSpc>
                <a:spcPct val="100000"/>
              </a:lnSpc>
            </a:pPr>
            <a:r>
              <a:rPr sz="830" b="0" i="0">
                <a:solidFill>
                  <a:srgbClr val="666D74"/>
                </a:solidFill>
                <a:latin typeface="Segoe UI"/>
              </a:rPr>
              <a:t>39 layouts, searchable map and detail panel</a:t>
            </a:r>
          </a:p>
        </p:txBody>
      </p:sp>
      <p:sp>
        <p:nvSpPr>
          <p:cNvPr id="37" name="TextBox 36"/>
          <p:cNvSpPr txBox="1"/>
          <p:nvPr/>
        </p:nvSpPr>
        <p:spPr>
          <a:xfrm>
            <a:off x="566928" y="5870448"/>
            <a:ext cx="1417320" cy="219456"/>
          </a:xfrm>
          <a:prstGeom prst="rect">
            <a:avLst/>
          </a:prstGeom>
          <a:noFill/>
        </p:spPr>
        <p:txBody>
          <a:bodyPr wrap="square" lIns="0" rIns="0" tIns="0" bIns="0" anchor="t">
            <a:spAutoFit/>
          </a:bodyPr>
          <a:lstStyle/>
          <a:p>
            <a:pPr algn="l">
              <a:lnSpc>
                <a:spcPct val="100000"/>
              </a:lnSpc>
            </a:pPr>
            <a:r>
              <a:rPr sz="780" b="0" i="0">
                <a:solidFill>
                  <a:srgbClr val="666D74"/>
                </a:solidFill>
                <a:latin typeface="Consolas"/>
              </a:rPr>
              <a:t>/races</a:t>
            </a:r>
          </a:p>
        </p:txBody>
      </p:sp>
      <p:sp>
        <p:nvSpPr>
          <p:cNvPr id="38" name="TextBox 37"/>
          <p:cNvSpPr txBox="1"/>
          <p:nvPr/>
        </p:nvSpPr>
        <p:spPr>
          <a:xfrm>
            <a:off x="2048256" y="5843016"/>
            <a:ext cx="1371600" cy="256032"/>
          </a:xfrm>
          <a:prstGeom prst="rect">
            <a:avLst/>
          </a:prstGeom>
          <a:noFill/>
        </p:spPr>
        <p:txBody>
          <a:bodyPr wrap="square" lIns="0" rIns="0" tIns="0" bIns="0" anchor="t">
            <a:spAutoFit/>
          </a:bodyPr>
          <a:lstStyle/>
          <a:p>
            <a:pPr algn="l">
              <a:lnSpc>
                <a:spcPct val="100000"/>
              </a:lnSpc>
            </a:pPr>
            <a:r>
              <a:rPr sz="1000" b="1" i="0">
                <a:solidFill>
                  <a:srgbClr val="121517"/>
                </a:solidFill>
                <a:latin typeface="Segoe UI"/>
              </a:rPr>
              <a:t>Races</a:t>
            </a:r>
          </a:p>
        </p:txBody>
      </p:sp>
      <p:sp>
        <p:nvSpPr>
          <p:cNvPr id="39" name="TextBox 38"/>
          <p:cNvSpPr txBox="1"/>
          <p:nvPr/>
        </p:nvSpPr>
        <p:spPr>
          <a:xfrm>
            <a:off x="2048256" y="6080760"/>
            <a:ext cx="3749039" cy="237744"/>
          </a:xfrm>
          <a:prstGeom prst="rect">
            <a:avLst/>
          </a:prstGeom>
          <a:noFill/>
        </p:spPr>
        <p:txBody>
          <a:bodyPr wrap="square" lIns="0" rIns="0" tIns="0" bIns="0" anchor="t">
            <a:spAutoFit/>
          </a:bodyPr>
          <a:lstStyle/>
          <a:p>
            <a:pPr algn="l">
              <a:lnSpc>
                <a:spcPct val="100000"/>
              </a:lnSpc>
            </a:pPr>
            <a:r>
              <a:rPr sz="830" b="0" i="0">
                <a:solidFill>
                  <a:srgbClr val="666D74"/>
                </a:solidFill>
                <a:latin typeface="Segoe UI"/>
              </a:rPr>
              <a:t>Season calendar, podiums and year switcher</a:t>
            </a:r>
          </a:p>
        </p:txBody>
      </p:sp>
      <p:sp>
        <p:nvSpPr>
          <p:cNvPr id="40" name="TextBox 39"/>
          <p:cNvSpPr txBox="1"/>
          <p:nvPr/>
        </p:nvSpPr>
        <p:spPr>
          <a:xfrm>
            <a:off x="6263640" y="3401568"/>
            <a:ext cx="1417320" cy="219456"/>
          </a:xfrm>
          <a:prstGeom prst="rect">
            <a:avLst/>
          </a:prstGeom>
          <a:noFill/>
        </p:spPr>
        <p:txBody>
          <a:bodyPr wrap="square" lIns="0" rIns="0" tIns="0" bIns="0" anchor="t">
            <a:spAutoFit/>
          </a:bodyPr>
          <a:lstStyle/>
          <a:p>
            <a:pPr algn="l">
              <a:lnSpc>
                <a:spcPct val="100000"/>
              </a:lnSpc>
            </a:pPr>
            <a:r>
              <a:rPr sz="780" b="0" i="0">
                <a:solidFill>
                  <a:srgbClr val="666D74"/>
                </a:solidFill>
                <a:latin typeface="Consolas"/>
              </a:rPr>
              <a:t>/races/:id</a:t>
            </a:r>
          </a:p>
        </p:txBody>
      </p:sp>
      <p:sp>
        <p:nvSpPr>
          <p:cNvPr id="41" name="TextBox 40"/>
          <p:cNvSpPr txBox="1"/>
          <p:nvPr/>
        </p:nvSpPr>
        <p:spPr>
          <a:xfrm>
            <a:off x="7744967" y="3374136"/>
            <a:ext cx="1371600" cy="256032"/>
          </a:xfrm>
          <a:prstGeom prst="rect">
            <a:avLst/>
          </a:prstGeom>
          <a:noFill/>
        </p:spPr>
        <p:txBody>
          <a:bodyPr wrap="square" lIns="0" rIns="0" tIns="0" bIns="0" anchor="t">
            <a:spAutoFit/>
          </a:bodyPr>
          <a:lstStyle/>
          <a:p>
            <a:pPr algn="l">
              <a:lnSpc>
                <a:spcPct val="100000"/>
              </a:lnSpc>
            </a:pPr>
            <a:r>
              <a:rPr sz="1000" b="1" i="0">
                <a:solidFill>
                  <a:srgbClr val="121517"/>
                </a:solidFill>
                <a:latin typeface="Segoe UI"/>
              </a:rPr>
              <a:t>Race detail</a:t>
            </a:r>
          </a:p>
        </p:txBody>
      </p:sp>
      <p:sp>
        <p:nvSpPr>
          <p:cNvPr id="42" name="TextBox 41"/>
          <p:cNvSpPr txBox="1"/>
          <p:nvPr/>
        </p:nvSpPr>
        <p:spPr>
          <a:xfrm>
            <a:off x="7744967" y="3611880"/>
            <a:ext cx="3749039" cy="237744"/>
          </a:xfrm>
          <a:prstGeom prst="rect">
            <a:avLst/>
          </a:prstGeom>
          <a:noFill/>
        </p:spPr>
        <p:txBody>
          <a:bodyPr wrap="square" lIns="0" rIns="0" tIns="0" bIns="0" anchor="t">
            <a:spAutoFit/>
          </a:bodyPr>
          <a:lstStyle/>
          <a:p>
            <a:pPr algn="l">
              <a:lnSpc>
                <a:spcPct val="100000"/>
              </a:lnSpc>
            </a:pPr>
            <a:r>
              <a:rPr sz="830" b="0" i="0">
                <a:solidFill>
                  <a:srgbClr val="666D74"/>
                </a:solidFill>
                <a:latin typeface="Segoe UI"/>
              </a:rPr>
              <a:t>Classification, qualifying and season context</a:t>
            </a:r>
          </a:p>
        </p:txBody>
      </p:sp>
      <p:sp>
        <p:nvSpPr>
          <p:cNvPr id="43" name="TextBox 42"/>
          <p:cNvSpPr txBox="1"/>
          <p:nvPr/>
        </p:nvSpPr>
        <p:spPr>
          <a:xfrm>
            <a:off x="6263640" y="3895344"/>
            <a:ext cx="1417320" cy="219456"/>
          </a:xfrm>
          <a:prstGeom prst="rect">
            <a:avLst/>
          </a:prstGeom>
          <a:noFill/>
        </p:spPr>
        <p:txBody>
          <a:bodyPr wrap="square" lIns="0" rIns="0" tIns="0" bIns="0" anchor="t">
            <a:spAutoFit/>
          </a:bodyPr>
          <a:lstStyle/>
          <a:p>
            <a:pPr algn="l">
              <a:lnSpc>
                <a:spcPct val="100000"/>
              </a:lnSpc>
            </a:pPr>
            <a:r>
              <a:rPr sz="780" b="0" i="0">
                <a:solidFill>
                  <a:srgbClr val="666D74"/>
                </a:solidFill>
                <a:latin typeface="Consolas"/>
              </a:rPr>
              <a:t>/live</a:t>
            </a:r>
          </a:p>
        </p:txBody>
      </p:sp>
      <p:sp>
        <p:nvSpPr>
          <p:cNvPr id="44" name="TextBox 43"/>
          <p:cNvSpPr txBox="1"/>
          <p:nvPr/>
        </p:nvSpPr>
        <p:spPr>
          <a:xfrm>
            <a:off x="7744967" y="3867911"/>
            <a:ext cx="1371600" cy="256032"/>
          </a:xfrm>
          <a:prstGeom prst="rect">
            <a:avLst/>
          </a:prstGeom>
          <a:noFill/>
        </p:spPr>
        <p:txBody>
          <a:bodyPr wrap="square" lIns="0" rIns="0" tIns="0" bIns="0" anchor="t">
            <a:spAutoFit/>
          </a:bodyPr>
          <a:lstStyle/>
          <a:p>
            <a:pPr algn="l">
              <a:lnSpc>
                <a:spcPct val="100000"/>
              </a:lnSpc>
            </a:pPr>
            <a:r>
              <a:rPr sz="1000" b="1" i="0">
                <a:solidFill>
                  <a:srgbClr val="121517"/>
                </a:solidFill>
                <a:latin typeface="Segoe UI"/>
              </a:rPr>
              <a:t>Live timing</a:t>
            </a:r>
          </a:p>
        </p:txBody>
      </p:sp>
      <p:sp>
        <p:nvSpPr>
          <p:cNvPr id="45" name="TextBox 44"/>
          <p:cNvSpPr txBox="1"/>
          <p:nvPr/>
        </p:nvSpPr>
        <p:spPr>
          <a:xfrm>
            <a:off x="7744967" y="4105656"/>
            <a:ext cx="3749039" cy="237744"/>
          </a:xfrm>
          <a:prstGeom prst="rect">
            <a:avLst/>
          </a:prstGeom>
          <a:noFill/>
        </p:spPr>
        <p:txBody>
          <a:bodyPr wrap="square" lIns="0" rIns="0" tIns="0" bIns="0" anchor="t">
            <a:spAutoFit/>
          </a:bodyPr>
          <a:lstStyle/>
          <a:p>
            <a:pPr algn="l">
              <a:lnSpc>
                <a:spcPct val="100000"/>
              </a:lnSpc>
            </a:pPr>
            <a:r>
              <a:rPr sz="830" b="0" i="0">
                <a:solidFill>
                  <a:srgbClr val="666D74"/>
                </a:solidFill>
                <a:latin typeface="Segoe UI"/>
              </a:rPr>
              <a:t>OpenF1 replay, timing tower and telemetry</a:t>
            </a:r>
          </a:p>
        </p:txBody>
      </p:sp>
      <p:sp>
        <p:nvSpPr>
          <p:cNvPr id="46" name="TextBox 45"/>
          <p:cNvSpPr txBox="1"/>
          <p:nvPr/>
        </p:nvSpPr>
        <p:spPr>
          <a:xfrm>
            <a:off x="6263640" y="4389120"/>
            <a:ext cx="1417320" cy="219456"/>
          </a:xfrm>
          <a:prstGeom prst="rect">
            <a:avLst/>
          </a:prstGeom>
          <a:noFill/>
        </p:spPr>
        <p:txBody>
          <a:bodyPr wrap="square" lIns="0" rIns="0" tIns="0" bIns="0" anchor="t">
            <a:spAutoFit/>
          </a:bodyPr>
          <a:lstStyle/>
          <a:p>
            <a:pPr algn="l">
              <a:lnSpc>
                <a:spcPct val="100000"/>
              </a:lnSpc>
            </a:pPr>
            <a:r>
              <a:rPr sz="780" b="0" i="0">
                <a:solidFill>
                  <a:srgbClr val="666D74"/>
                </a:solidFill>
                <a:latin typeface="Consolas"/>
              </a:rPr>
              <a:t>/history</a:t>
            </a:r>
          </a:p>
        </p:txBody>
      </p:sp>
      <p:sp>
        <p:nvSpPr>
          <p:cNvPr id="47" name="TextBox 46"/>
          <p:cNvSpPr txBox="1"/>
          <p:nvPr/>
        </p:nvSpPr>
        <p:spPr>
          <a:xfrm>
            <a:off x="7744967" y="4361688"/>
            <a:ext cx="1371600" cy="256032"/>
          </a:xfrm>
          <a:prstGeom prst="rect">
            <a:avLst/>
          </a:prstGeom>
          <a:noFill/>
        </p:spPr>
        <p:txBody>
          <a:bodyPr wrap="square" lIns="0" rIns="0" tIns="0" bIns="0" anchor="t">
            <a:spAutoFit/>
          </a:bodyPr>
          <a:lstStyle/>
          <a:p>
            <a:pPr algn="l">
              <a:lnSpc>
                <a:spcPct val="100000"/>
              </a:lnSpc>
            </a:pPr>
            <a:r>
              <a:rPr sz="1000" b="1" i="0">
                <a:solidFill>
                  <a:srgbClr val="121517"/>
                </a:solidFill>
                <a:latin typeface="Segoe UI"/>
              </a:rPr>
              <a:t>History</a:t>
            </a:r>
          </a:p>
        </p:txBody>
      </p:sp>
      <p:sp>
        <p:nvSpPr>
          <p:cNvPr id="48" name="TextBox 47"/>
          <p:cNvSpPr txBox="1"/>
          <p:nvPr/>
        </p:nvSpPr>
        <p:spPr>
          <a:xfrm>
            <a:off x="7744967" y="4599432"/>
            <a:ext cx="3749039" cy="237744"/>
          </a:xfrm>
          <a:prstGeom prst="rect">
            <a:avLst/>
          </a:prstGeom>
          <a:noFill/>
        </p:spPr>
        <p:txBody>
          <a:bodyPr wrap="square" lIns="0" rIns="0" tIns="0" bIns="0" anchor="t">
            <a:spAutoFit/>
          </a:bodyPr>
          <a:lstStyle/>
          <a:p>
            <a:pPr algn="l">
              <a:lnSpc>
                <a:spcPct val="100000"/>
              </a:lnSpc>
            </a:pPr>
            <a:r>
              <a:rPr sz="830" b="0" i="0">
                <a:solidFill>
                  <a:srgbClr val="666D74"/>
                </a:solidFill>
                <a:latin typeface="Segoe UI"/>
              </a:rPr>
              <a:t>Wikipedia-style eras, rivalries and records</a:t>
            </a:r>
          </a:p>
        </p:txBody>
      </p:sp>
      <p:sp>
        <p:nvSpPr>
          <p:cNvPr id="49" name="TextBox 48"/>
          <p:cNvSpPr txBox="1"/>
          <p:nvPr/>
        </p:nvSpPr>
        <p:spPr>
          <a:xfrm>
            <a:off x="6263640" y="4882896"/>
            <a:ext cx="1417320" cy="219456"/>
          </a:xfrm>
          <a:prstGeom prst="rect">
            <a:avLst/>
          </a:prstGeom>
          <a:noFill/>
        </p:spPr>
        <p:txBody>
          <a:bodyPr wrap="square" lIns="0" rIns="0" tIns="0" bIns="0" anchor="t">
            <a:spAutoFit/>
          </a:bodyPr>
          <a:lstStyle/>
          <a:p>
            <a:pPr algn="l">
              <a:lnSpc>
                <a:spcPct val="100000"/>
              </a:lnSpc>
            </a:pPr>
            <a:r>
              <a:rPr sz="780" b="0" i="0">
                <a:solidFill>
                  <a:srgbClr val="666D74"/>
                </a:solidFill>
                <a:latin typeface="Consolas"/>
              </a:rPr>
              <a:t>/rivalry</a:t>
            </a:r>
          </a:p>
        </p:txBody>
      </p:sp>
      <p:sp>
        <p:nvSpPr>
          <p:cNvPr id="50" name="TextBox 49"/>
          <p:cNvSpPr txBox="1"/>
          <p:nvPr/>
        </p:nvSpPr>
        <p:spPr>
          <a:xfrm>
            <a:off x="7744967" y="4855464"/>
            <a:ext cx="1371600" cy="256032"/>
          </a:xfrm>
          <a:prstGeom prst="rect">
            <a:avLst/>
          </a:prstGeom>
          <a:noFill/>
        </p:spPr>
        <p:txBody>
          <a:bodyPr wrap="square" lIns="0" rIns="0" tIns="0" bIns="0" anchor="t">
            <a:spAutoFit/>
          </a:bodyPr>
          <a:lstStyle/>
          <a:p>
            <a:pPr algn="l">
              <a:lnSpc>
                <a:spcPct val="100000"/>
              </a:lnSpc>
            </a:pPr>
            <a:r>
              <a:rPr sz="1000" b="1" i="0">
                <a:solidFill>
                  <a:srgbClr val="121517"/>
                </a:solidFill>
                <a:latin typeface="Segoe UI"/>
              </a:rPr>
              <a:t>Rivalry</a:t>
            </a:r>
          </a:p>
        </p:txBody>
      </p:sp>
      <p:sp>
        <p:nvSpPr>
          <p:cNvPr id="51" name="TextBox 50"/>
          <p:cNvSpPr txBox="1"/>
          <p:nvPr/>
        </p:nvSpPr>
        <p:spPr>
          <a:xfrm>
            <a:off x="7744967" y="5093208"/>
            <a:ext cx="3749039" cy="237744"/>
          </a:xfrm>
          <a:prstGeom prst="rect">
            <a:avLst/>
          </a:prstGeom>
          <a:noFill/>
        </p:spPr>
        <p:txBody>
          <a:bodyPr wrap="square" lIns="0" rIns="0" tIns="0" bIns="0" anchor="t">
            <a:spAutoFit/>
          </a:bodyPr>
          <a:lstStyle/>
          <a:p>
            <a:pPr algn="l">
              <a:lnSpc>
                <a:spcPct val="100000"/>
              </a:lnSpc>
            </a:pPr>
            <a:r>
              <a:rPr sz="830" b="0" i="0">
                <a:solidFill>
                  <a:srgbClr val="666D74"/>
                </a:solidFill>
                <a:latin typeface="Segoe UI"/>
              </a:rPr>
              <a:t>Any two drivers, career totals and shared seasons</a:t>
            </a:r>
          </a:p>
        </p:txBody>
      </p:sp>
      <p:sp>
        <p:nvSpPr>
          <p:cNvPr id="52" name="TextBox 51"/>
          <p:cNvSpPr txBox="1"/>
          <p:nvPr/>
        </p:nvSpPr>
        <p:spPr>
          <a:xfrm>
            <a:off x="6263640" y="5376672"/>
            <a:ext cx="1417320" cy="219456"/>
          </a:xfrm>
          <a:prstGeom prst="rect">
            <a:avLst/>
          </a:prstGeom>
          <a:noFill/>
        </p:spPr>
        <p:txBody>
          <a:bodyPr wrap="square" lIns="0" rIns="0" tIns="0" bIns="0" anchor="t">
            <a:spAutoFit/>
          </a:bodyPr>
          <a:lstStyle/>
          <a:p>
            <a:pPr algn="l">
              <a:lnSpc>
                <a:spcPct val="100000"/>
              </a:lnSpc>
            </a:pPr>
            <a:r>
              <a:rPr sz="780" b="0" i="0">
                <a:solidFill>
                  <a:srgbClr val="666D74"/>
                </a:solidFill>
                <a:latin typeface="Consolas"/>
              </a:rPr>
              <a:t>/credits</a:t>
            </a:r>
          </a:p>
        </p:txBody>
      </p:sp>
      <p:sp>
        <p:nvSpPr>
          <p:cNvPr id="53" name="TextBox 52"/>
          <p:cNvSpPr txBox="1"/>
          <p:nvPr/>
        </p:nvSpPr>
        <p:spPr>
          <a:xfrm>
            <a:off x="7744967" y="5349240"/>
            <a:ext cx="1371600" cy="256032"/>
          </a:xfrm>
          <a:prstGeom prst="rect">
            <a:avLst/>
          </a:prstGeom>
          <a:noFill/>
        </p:spPr>
        <p:txBody>
          <a:bodyPr wrap="square" lIns="0" rIns="0" tIns="0" bIns="0" anchor="t">
            <a:spAutoFit/>
          </a:bodyPr>
          <a:lstStyle/>
          <a:p>
            <a:pPr algn="l">
              <a:lnSpc>
                <a:spcPct val="100000"/>
              </a:lnSpc>
            </a:pPr>
            <a:r>
              <a:rPr sz="1000" b="1" i="0">
                <a:solidFill>
                  <a:srgbClr val="121517"/>
                </a:solidFill>
                <a:latin typeface="Segoe UI"/>
              </a:rPr>
              <a:t>Credits</a:t>
            </a:r>
          </a:p>
        </p:txBody>
      </p:sp>
      <p:sp>
        <p:nvSpPr>
          <p:cNvPr id="54" name="TextBox 53"/>
          <p:cNvSpPr txBox="1"/>
          <p:nvPr/>
        </p:nvSpPr>
        <p:spPr>
          <a:xfrm>
            <a:off x="7744967" y="5586984"/>
            <a:ext cx="3749039" cy="237744"/>
          </a:xfrm>
          <a:prstGeom prst="rect">
            <a:avLst/>
          </a:prstGeom>
          <a:noFill/>
        </p:spPr>
        <p:txBody>
          <a:bodyPr wrap="square" lIns="0" rIns="0" tIns="0" bIns="0" anchor="t">
            <a:spAutoFit/>
          </a:bodyPr>
          <a:lstStyle/>
          <a:p>
            <a:pPr algn="l">
              <a:lnSpc>
                <a:spcPct val="100000"/>
              </a:lnSpc>
            </a:pPr>
            <a:r>
              <a:rPr sz="830" b="0" i="0">
                <a:solidFill>
                  <a:srgbClr val="666D74"/>
                </a:solidFill>
                <a:latin typeface="Segoe UI"/>
              </a:rPr>
              <a:t>Every image, its source and its licence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Rectangle 2"/>
          <p:cNvSpPr/>
          <p:nvPr/>
        </p:nvSpPr>
        <p:spPr>
          <a:xfrm>
            <a:off x="566928" y="420624"/>
            <a:ext cx="50292" cy="237744"/>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TextBox 3"/>
          <p:cNvSpPr txBox="1"/>
          <p:nvPr/>
        </p:nvSpPr>
        <p:spPr>
          <a:xfrm>
            <a:off x="713232" y="438912"/>
            <a:ext cx="7680960" cy="237744"/>
          </a:xfrm>
          <a:prstGeom prst="rect">
            <a:avLst/>
          </a:prstGeom>
          <a:noFill/>
        </p:spPr>
        <p:txBody>
          <a:bodyPr wrap="square" lIns="0" rIns="0" tIns="0" bIns="0" anchor="t">
            <a:spAutoFit/>
          </a:bodyPr>
          <a:lstStyle/>
          <a:p>
            <a:pPr algn="l">
              <a:lnSpc>
                <a:spcPct val="100000"/>
              </a:lnSpc>
            </a:pPr>
            <a:r>
              <a:rPr sz="900" b="1" i="0">
                <a:solidFill>
                  <a:srgbClr val="666D74"/>
                </a:solidFill>
                <a:latin typeface="Consolas"/>
              </a:rPr>
              <a:t>DESIGN LANGUAGE</a:t>
            </a:r>
          </a:p>
        </p:txBody>
      </p:sp>
      <p:sp>
        <p:nvSpPr>
          <p:cNvPr id="5" name="Rectangle 4"/>
          <p:cNvSpPr/>
          <p:nvPr/>
        </p:nvSpPr>
        <p:spPr>
          <a:xfrm>
            <a:off x="566928" y="6336792"/>
            <a:ext cx="11064240" cy="10972"/>
          </a:xfrm>
          <a:prstGeom prst="rect">
            <a:avLst/>
          </a:prstGeom>
          <a:solidFill>
            <a:srgbClr val="D5DA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566928" y="6437376"/>
            <a:ext cx="6400800" cy="228600"/>
          </a:xfrm>
          <a:prstGeom prst="rect">
            <a:avLst/>
          </a:prstGeom>
          <a:noFill/>
        </p:spPr>
        <p:txBody>
          <a:bodyPr wrap="square" lIns="0" rIns="0" tIns="0" bIns="0" anchor="t">
            <a:spAutoFit/>
          </a:bodyPr>
          <a:lstStyle/>
          <a:p>
            <a:pPr algn="l">
              <a:lnSpc>
                <a:spcPct val="100000"/>
              </a:lnSpc>
            </a:pPr>
            <a:r>
              <a:rPr sz="800" b="0" i="0">
                <a:solidFill>
                  <a:srgbClr val="8D949B"/>
                </a:solidFill>
                <a:latin typeface="Consolas"/>
              </a:rPr>
              <a:t>PADDOCK  ·  FORMULA 1 ARCHIVE</a:t>
            </a:r>
          </a:p>
        </p:txBody>
      </p:sp>
      <p:sp>
        <p:nvSpPr>
          <p:cNvPr id="7" name="TextBox 6"/>
          <p:cNvSpPr txBox="1"/>
          <p:nvPr/>
        </p:nvSpPr>
        <p:spPr>
          <a:xfrm>
            <a:off x="10774375" y="6437376"/>
            <a:ext cx="822960" cy="228600"/>
          </a:xfrm>
          <a:prstGeom prst="rect">
            <a:avLst/>
          </a:prstGeom>
          <a:noFill/>
        </p:spPr>
        <p:txBody>
          <a:bodyPr wrap="square" lIns="0" rIns="0" tIns="0" bIns="0" anchor="t">
            <a:spAutoFit/>
          </a:bodyPr>
          <a:lstStyle/>
          <a:p>
            <a:pPr algn="r">
              <a:lnSpc>
                <a:spcPct val="100000"/>
              </a:lnSpc>
            </a:pPr>
            <a:r>
              <a:rPr sz="800" b="0" i="0">
                <a:solidFill>
                  <a:srgbClr val="8D949B"/>
                </a:solidFill>
                <a:latin typeface="Consolas"/>
              </a:rPr>
              <a:t>04 / 15</a:t>
            </a:r>
          </a:p>
        </p:txBody>
      </p:sp>
      <p:sp>
        <p:nvSpPr>
          <p:cNvPr id="8" name="TextBox 7"/>
          <p:cNvSpPr txBox="1"/>
          <p:nvPr/>
        </p:nvSpPr>
        <p:spPr>
          <a:xfrm>
            <a:off x="566928" y="749808"/>
            <a:ext cx="10881360" cy="603504"/>
          </a:xfrm>
          <a:prstGeom prst="rect">
            <a:avLst/>
          </a:prstGeom>
          <a:noFill/>
        </p:spPr>
        <p:txBody>
          <a:bodyPr wrap="square" lIns="0" rIns="0" tIns="0" bIns="0" anchor="t">
            <a:spAutoFit/>
          </a:bodyPr>
          <a:lstStyle/>
          <a:p>
            <a:pPr algn="l">
              <a:lnSpc>
                <a:spcPct val="95000"/>
              </a:lnSpc>
            </a:pPr>
            <a:r>
              <a:rPr sz="2900" b="1" i="0">
                <a:solidFill>
                  <a:srgbClr val="121517"/>
                </a:solidFill>
                <a:latin typeface="Segoe UI Semibold"/>
              </a:rPr>
              <a:t>Brushed silver, one red signal.</a:t>
            </a:r>
          </a:p>
        </p:txBody>
      </p:sp>
      <p:sp>
        <p:nvSpPr>
          <p:cNvPr id="9" name="TextBox 8"/>
          <p:cNvSpPr txBox="1"/>
          <p:nvPr/>
        </p:nvSpPr>
        <p:spPr>
          <a:xfrm>
            <a:off x="585216" y="1389888"/>
            <a:ext cx="9966960" cy="457200"/>
          </a:xfrm>
          <a:prstGeom prst="rect">
            <a:avLst/>
          </a:prstGeom>
          <a:noFill/>
        </p:spPr>
        <p:txBody>
          <a:bodyPr wrap="square" lIns="0" rIns="0" tIns="0" bIns="0" anchor="t">
            <a:spAutoFit/>
          </a:bodyPr>
          <a:lstStyle/>
          <a:p>
            <a:pPr algn="l">
              <a:lnSpc>
                <a:spcPct val="118000"/>
              </a:lnSpc>
            </a:pPr>
            <a:r>
              <a:rPr sz="1200" b="0" i="0">
                <a:solidFill>
                  <a:srgbClr val="666D74"/>
                </a:solidFill>
                <a:latin typeface="Segoe UI"/>
              </a:rPr>
              <a:t>A flat editorial system, not a dark dashboard. One theme, hairline rules, and type doing the work.</a:t>
            </a:r>
          </a:p>
        </p:txBody>
      </p:sp>
      <p:pic>
        <p:nvPicPr>
          <p:cNvPr id="10" name="Picture 9" descr="circuits.png"/>
          <p:cNvPicPr>
            <a:picLocks noChangeAspect="1"/>
          </p:cNvPicPr>
          <p:nvPr/>
        </p:nvPicPr>
        <p:blipFill>
          <a:blip r:embed="rId2"/>
          <a:stretch>
            <a:fillRect/>
          </a:stretch>
        </p:blipFill>
        <p:spPr>
          <a:xfrm>
            <a:off x="6537960" y="1755648"/>
            <a:ext cx="5074920" cy="3489008"/>
          </a:xfrm>
          <a:prstGeom prst="rect">
            <a:avLst/>
          </a:prstGeom>
          <a:ln w="9525">
            <a:solidFill>
              <a:srgbClr val="D5DADE"/>
            </a:solidFill>
          </a:ln>
        </p:spPr>
      </p:pic>
      <p:sp>
        <p:nvSpPr>
          <p:cNvPr id="11" name="Rounded Rectangle 10"/>
          <p:cNvSpPr/>
          <p:nvPr/>
        </p:nvSpPr>
        <p:spPr>
          <a:xfrm>
            <a:off x="566928" y="1783080"/>
            <a:ext cx="5623560" cy="731520"/>
          </a:xfrm>
          <a:prstGeom prst="roundRect">
            <a:avLst>
              <a:gd name="adj" fmla="val 3500"/>
            </a:avLst>
          </a:prstGeom>
          <a:solidFill>
            <a:srgbClr val="FBFBFC"/>
          </a:solidFill>
          <a:ln w="9525">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TextBox 11"/>
          <p:cNvSpPr txBox="1"/>
          <p:nvPr/>
        </p:nvSpPr>
        <p:spPr>
          <a:xfrm>
            <a:off x="777240" y="1883664"/>
            <a:ext cx="5120640" cy="237744"/>
          </a:xfrm>
          <a:prstGeom prst="rect">
            <a:avLst/>
          </a:prstGeom>
          <a:noFill/>
        </p:spPr>
        <p:txBody>
          <a:bodyPr wrap="square" lIns="0" rIns="0" tIns="0" bIns="0" anchor="t">
            <a:spAutoFit/>
          </a:bodyPr>
          <a:lstStyle/>
          <a:p>
            <a:pPr algn="l">
              <a:lnSpc>
                <a:spcPct val="100000"/>
              </a:lnSpc>
            </a:pPr>
            <a:r>
              <a:rPr sz="1100" b="1" i="0">
                <a:solidFill>
                  <a:srgbClr val="121517"/>
                </a:solidFill>
                <a:latin typeface="Segoe UI"/>
              </a:rPr>
              <a:t>One theme, no toggle</a:t>
            </a:r>
          </a:p>
        </p:txBody>
      </p:sp>
      <p:sp>
        <p:nvSpPr>
          <p:cNvPr id="13" name="TextBox 12"/>
          <p:cNvSpPr txBox="1"/>
          <p:nvPr/>
        </p:nvSpPr>
        <p:spPr>
          <a:xfrm>
            <a:off x="777240" y="2130552"/>
            <a:ext cx="5166360" cy="329184"/>
          </a:xfrm>
          <a:prstGeom prst="rect">
            <a:avLst/>
          </a:prstGeom>
          <a:noFill/>
        </p:spPr>
        <p:txBody>
          <a:bodyPr wrap="square" lIns="0" rIns="0" tIns="0" bIns="0" anchor="t">
            <a:spAutoFit/>
          </a:bodyPr>
          <a:lstStyle/>
          <a:p>
            <a:pPr algn="l">
              <a:lnSpc>
                <a:spcPct val="112000"/>
              </a:lnSpc>
            </a:pPr>
            <a:r>
              <a:rPr sz="880" b="0" i="0">
                <a:solidFill>
                  <a:srgbClr val="666D74"/>
                </a:solidFill>
                <a:latin typeface="Segoe UI"/>
              </a:rPr>
              <a:t>Silver is the only surface. Dark mode, glass and glow were deleted, not restyled.</a:t>
            </a:r>
          </a:p>
        </p:txBody>
      </p:sp>
      <p:sp>
        <p:nvSpPr>
          <p:cNvPr id="14" name="Rounded Rectangle 13"/>
          <p:cNvSpPr/>
          <p:nvPr/>
        </p:nvSpPr>
        <p:spPr>
          <a:xfrm>
            <a:off x="566928" y="2642615"/>
            <a:ext cx="5623560" cy="731520"/>
          </a:xfrm>
          <a:prstGeom prst="roundRect">
            <a:avLst>
              <a:gd name="adj" fmla="val 3500"/>
            </a:avLst>
          </a:prstGeom>
          <a:solidFill>
            <a:srgbClr val="FBFBFC"/>
          </a:solidFill>
          <a:ln w="9525">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TextBox 14"/>
          <p:cNvSpPr txBox="1"/>
          <p:nvPr/>
        </p:nvSpPr>
        <p:spPr>
          <a:xfrm>
            <a:off x="777240" y="2743199"/>
            <a:ext cx="5120640" cy="237744"/>
          </a:xfrm>
          <a:prstGeom prst="rect">
            <a:avLst/>
          </a:prstGeom>
          <a:noFill/>
        </p:spPr>
        <p:txBody>
          <a:bodyPr wrap="square" lIns="0" rIns="0" tIns="0" bIns="0" anchor="t">
            <a:spAutoFit/>
          </a:bodyPr>
          <a:lstStyle/>
          <a:p>
            <a:pPr algn="l">
              <a:lnSpc>
                <a:spcPct val="100000"/>
              </a:lnSpc>
            </a:pPr>
            <a:r>
              <a:rPr sz="1100" b="1" i="0">
                <a:solidFill>
                  <a:srgbClr val="121517"/>
                </a:solidFill>
                <a:latin typeface="Segoe UI"/>
              </a:rPr>
              <a:t>Flat panels</a:t>
            </a:r>
          </a:p>
        </p:txBody>
      </p:sp>
      <p:sp>
        <p:nvSpPr>
          <p:cNvPr id="16" name="TextBox 15"/>
          <p:cNvSpPr txBox="1"/>
          <p:nvPr/>
        </p:nvSpPr>
        <p:spPr>
          <a:xfrm>
            <a:off x="777240" y="2990087"/>
            <a:ext cx="5166360" cy="329184"/>
          </a:xfrm>
          <a:prstGeom prst="rect">
            <a:avLst/>
          </a:prstGeom>
          <a:noFill/>
        </p:spPr>
        <p:txBody>
          <a:bodyPr wrap="square" lIns="0" rIns="0" tIns="0" bIns="0" anchor="t">
            <a:spAutoFit/>
          </a:bodyPr>
          <a:lstStyle/>
          <a:p>
            <a:pPr algn="l">
              <a:lnSpc>
                <a:spcPct val="112000"/>
              </a:lnSpc>
            </a:pPr>
            <a:r>
              <a:rPr sz="880" b="0" i="0">
                <a:solidFill>
                  <a:srgbClr val="666D74"/>
                </a:solidFill>
                <a:latin typeface="Segoe UI"/>
              </a:rPr>
              <a:t>One .panel primitive: matte surface, hairline border, 2–4 px radius, one soft shadow.</a:t>
            </a:r>
          </a:p>
        </p:txBody>
      </p:sp>
      <p:sp>
        <p:nvSpPr>
          <p:cNvPr id="17" name="Rounded Rectangle 16"/>
          <p:cNvSpPr/>
          <p:nvPr/>
        </p:nvSpPr>
        <p:spPr>
          <a:xfrm>
            <a:off x="566928" y="3502152"/>
            <a:ext cx="5623560" cy="731520"/>
          </a:xfrm>
          <a:prstGeom prst="roundRect">
            <a:avLst>
              <a:gd name="adj" fmla="val 3500"/>
            </a:avLst>
          </a:prstGeom>
          <a:solidFill>
            <a:srgbClr val="FBFBFC"/>
          </a:solidFill>
          <a:ln w="9525">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TextBox 17"/>
          <p:cNvSpPr txBox="1"/>
          <p:nvPr/>
        </p:nvSpPr>
        <p:spPr>
          <a:xfrm>
            <a:off x="777240" y="3602736"/>
            <a:ext cx="5120640" cy="237744"/>
          </a:xfrm>
          <a:prstGeom prst="rect">
            <a:avLst/>
          </a:prstGeom>
          <a:noFill/>
        </p:spPr>
        <p:txBody>
          <a:bodyPr wrap="square" lIns="0" rIns="0" tIns="0" bIns="0" anchor="t">
            <a:spAutoFit/>
          </a:bodyPr>
          <a:lstStyle/>
          <a:p>
            <a:pPr algn="l">
              <a:lnSpc>
                <a:spcPct val="100000"/>
              </a:lnSpc>
            </a:pPr>
            <a:r>
              <a:rPr sz="1100" b="1" i="0">
                <a:solidFill>
                  <a:srgbClr val="121517"/>
                </a:solidFill>
                <a:latin typeface="Segoe UI"/>
              </a:rPr>
              <a:t>Two typefaces</a:t>
            </a:r>
          </a:p>
        </p:txBody>
      </p:sp>
      <p:sp>
        <p:nvSpPr>
          <p:cNvPr id="19" name="TextBox 18"/>
          <p:cNvSpPr txBox="1"/>
          <p:nvPr/>
        </p:nvSpPr>
        <p:spPr>
          <a:xfrm>
            <a:off x="777240" y="3849624"/>
            <a:ext cx="5166360" cy="329184"/>
          </a:xfrm>
          <a:prstGeom prst="rect">
            <a:avLst/>
          </a:prstGeom>
          <a:noFill/>
        </p:spPr>
        <p:txBody>
          <a:bodyPr wrap="square" lIns="0" rIns="0" tIns="0" bIns="0" anchor="t">
            <a:spAutoFit/>
          </a:bodyPr>
          <a:lstStyle/>
          <a:p>
            <a:pPr algn="l">
              <a:lnSpc>
                <a:spcPct val="112000"/>
              </a:lnSpc>
            </a:pPr>
            <a:r>
              <a:rPr sz="880" b="0" i="0">
                <a:solidFill>
                  <a:srgbClr val="666D74"/>
                </a:solidFill>
                <a:latin typeface="Segoe UI"/>
              </a:rPr>
              <a:t>Titillium Web for UI and headlines, Source Serif 4 for the long-form history.</a:t>
            </a:r>
          </a:p>
        </p:txBody>
      </p:sp>
      <p:sp>
        <p:nvSpPr>
          <p:cNvPr id="20" name="Rounded Rectangle 19"/>
          <p:cNvSpPr/>
          <p:nvPr/>
        </p:nvSpPr>
        <p:spPr>
          <a:xfrm>
            <a:off x="566928" y="4361688"/>
            <a:ext cx="5623560" cy="731520"/>
          </a:xfrm>
          <a:prstGeom prst="roundRect">
            <a:avLst>
              <a:gd name="adj" fmla="val 3500"/>
            </a:avLst>
          </a:prstGeom>
          <a:solidFill>
            <a:srgbClr val="FBFBFC"/>
          </a:solidFill>
          <a:ln w="9525">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TextBox 20"/>
          <p:cNvSpPr txBox="1"/>
          <p:nvPr/>
        </p:nvSpPr>
        <p:spPr>
          <a:xfrm>
            <a:off x="777240" y="4462272"/>
            <a:ext cx="5120640" cy="237744"/>
          </a:xfrm>
          <a:prstGeom prst="rect">
            <a:avLst/>
          </a:prstGeom>
          <a:noFill/>
        </p:spPr>
        <p:txBody>
          <a:bodyPr wrap="square" lIns="0" rIns="0" tIns="0" bIns="0" anchor="t">
            <a:spAutoFit/>
          </a:bodyPr>
          <a:lstStyle/>
          <a:p>
            <a:pPr algn="l">
              <a:lnSpc>
                <a:spcPct val="100000"/>
              </a:lnSpc>
            </a:pPr>
            <a:r>
              <a:rPr sz="1100" b="1" i="0">
                <a:solidFill>
                  <a:srgbClr val="121517"/>
                </a:solidFill>
                <a:latin typeface="Segoe UI"/>
              </a:rPr>
              <a:t>Red as a signal</a:t>
            </a:r>
          </a:p>
        </p:txBody>
      </p:sp>
      <p:sp>
        <p:nvSpPr>
          <p:cNvPr id="22" name="TextBox 21"/>
          <p:cNvSpPr txBox="1"/>
          <p:nvPr/>
        </p:nvSpPr>
        <p:spPr>
          <a:xfrm>
            <a:off x="777240" y="4709159"/>
            <a:ext cx="5166360" cy="329184"/>
          </a:xfrm>
          <a:prstGeom prst="rect">
            <a:avLst/>
          </a:prstGeom>
          <a:noFill/>
        </p:spPr>
        <p:txBody>
          <a:bodyPr wrap="square" lIns="0" rIns="0" tIns="0" bIns="0" anchor="t">
            <a:spAutoFit/>
          </a:bodyPr>
          <a:lstStyle/>
          <a:p>
            <a:pPr algn="l">
              <a:lnSpc>
                <a:spcPct val="112000"/>
              </a:lnSpc>
            </a:pPr>
            <a:r>
              <a:rPr sz="880" b="0" i="0">
                <a:solidFill>
                  <a:srgbClr val="666D74"/>
                </a:solidFill>
                <a:latin typeface="Segoe UI"/>
              </a:rPr>
              <a:t>F1 mark, active nav rule, P1 and one primary action per view. Never a background.</a:t>
            </a:r>
          </a:p>
        </p:txBody>
      </p:sp>
      <p:sp>
        <p:nvSpPr>
          <p:cNvPr id="23" name="Rounded Rectangle 22"/>
          <p:cNvSpPr/>
          <p:nvPr/>
        </p:nvSpPr>
        <p:spPr>
          <a:xfrm>
            <a:off x="566928" y="5221224"/>
            <a:ext cx="5623560" cy="731520"/>
          </a:xfrm>
          <a:prstGeom prst="roundRect">
            <a:avLst>
              <a:gd name="adj" fmla="val 3500"/>
            </a:avLst>
          </a:prstGeom>
          <a:solidFill>
            <a:srgbClr val="FBFBFC"/>
          </a:solidFill>
          <a:ln w="9525">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TextBox 23"/>
          <p:cNvSpPr txBox="1"/>
          <p:nvPr/>
        </p:nvSpPr>
        <p:spPr>
          <a:xfrm>
            <a:off x="777240" y="5321808"/>
            <a:ext cx="5120640" cy="237744"/>
          </a:xfrm>
          <a:prstGeom prst="rect">
            <a:avLst/>
          </a:prstGeom>
          <a:noFill/>
        </p:spPr>
        <p:txBody>
          <a:bodyPr wrap="square" lIns="0" rIns="0" tIns="0" bIns="0" anchor="t">
            <a:spAutoFit/>
          </a:bodyPr>
          <a:lstStyle/>
          <a:p>
            <a:pPr algn="l">
              <a:lnSpc>
                <a:spcPct val="100000"/>
              </a:lnSpc>
            </a:pPr>
            <a:r>
              <a:rPr sz="1100" b="1" i="0">
                <a:solidFill>
                  <a:srgbClr val="121517"/>
                </a:solidFill>
                <a:latin typeface="Segoe UI"/>
              </a:rPr>
              <a:t>Maps as field</a:t>
            </a:r>
          </a:p>
        </p:txBody>
      </p:sp>
      <p:sp>
        <p:nvSpPr>
          <p:cNvPr id="25" name="TextBox 24"/>
          <p:cNvSpPr txBox="1"/>
          <p:nvPr/>
        </p:nvSpPr>
        <p:spPr>
          <a:xfrm>
            <a:off x="777240" y="5568696"/>
            <a:ext cx="5166360" cy="329184"/>
          </a:xfrm>
          <a:prstGeom prst="rect">
            <a:avLst/>
          </a:prstGeom>
          <a:noFill/>
        </p:spPr>
        <p:txBody>
          <a:bodyPr wrap="square" lIns="0" rIns="0" tIns="0" bIns="0" anchor="t">
            <a:spAutoFit/>
          </a:bodyPr>
          <a:lstStyle/>
          <a:p>
            <a:pPr algn="l">
              <a:lnSpc>
                <a:spcPct val="112000"/>
              </a:lnSpc>
            </a:pPr>
            <a:r>
              <a:rPr sz="880" b="0" i="0">
                <a:solidFill>
                  <a:srgbClr val="666D74"/>
                </a:solidFill>
                <a:latin typeface="Segoe UI"/>
              </a:rPr>
              <a:t>Thirty distinct black outlines at 20% ink cover the full canvas; ten on mobile, none under reduced motion.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Rectangle 2"/>
          <p:cNvSpPr/>
          <p:nvPr/>
        </p:nvSpPr>
        <p:spPr>
          <a:xfrm>
            <a:off x="566928" y="420624"/>
            <a:ext cx="50292" cy="237744"/>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TextBox 3"/>
          <p:cNvSpPr txBox="1"/>
          <p:nvPr/>
        </p:nvSpPr>
        <p:spPr>
          <a:xfrm>
            <a:off x="713232" y="438912"/>
            <a:ext cx="7680960" cy="237744"/>
          </a:xfrm>
          <a:prstGeom prst="rect">
            <a:avLst/>
          </a:prstGeom>
          <a:noFill/>
        </p:spPr>
        <p:txBody>
          <a:bodyPr wrap="square" lIns="0" rIns="0" tIns="0" bIns="0" anchor="t">
            <a:spAutoFit/>
          </a:bodyPr>
          <a:lstStyle/>
          <a:p>
            <a:pPr algn="l">
              <a:lnSpc>
                <a:spcPct val="100000"/>
              </a:lnSpc>
            </a:pPr>
            <a:r>
              <a:rPr sz="900" b="1" i="0">
                <a:solidFill>
                  <a:srgbClr val="666D74"/>
                </a:solidFill>
                <a:latin typeface="Consolas"/>
              </a:rPr>
              <a:t>ARCHITECTURE</a:t>
            </a:r>
          </a:p>
        </p:txBody>
      </p:sp>
      <p:sp>
        <p:nvSpPr>
          <p:cNvPr id="5" name="Rectangle 4"/>
          <p:cNvSpPr/>
          <p:nvPr/>
        </p:nvSpPr>
        <p:spPr>
          <a:xfrm>
            <a:off x="566928" y="6336792"/>
            <a:ext cx="11064240" cy="10972"/>
          </a:xfrm>
          <a:prstGeom prst="rect">
            <a:avLst/>
          </a:prstGeom>
          <a:solidFill>
            <a:srgbClr val="D5DA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566928" y="6437376"/>
            <a:ext cx="6400800" cy="228600"/>
          </a:xfrm>
          <a:prstGeom prst="rect">
            <a:avLst/>
          </a:prstGeom>
          <a:noFill/>
        </p:spPr>
        <p:txBody>
          <a:bodyPr wrap="square" lIns="0" rIns="0" tIns="0" bIns="0" anchor="t">
            <a:spAutoFit/>
          </a:bodyPr>
          <a:lstStyle/>
          <a:p>
            <a:pPr algn="l">
              <a:lnSpc>
                <a:spcPct val="100000"/>
              </a:lnSpc>
            </a:pPr>
            <a:r>
              <a:rPr sz="800" b="0" i="0">
                <a:solidFill>
                  <a:srgbClr val="8D949B"/>
                </a:solidFill>
                <a:latin typeface="Consolas"/>
              </a:rPr>
              <a:t>PADDOCK  ·  FORMULA 1 ARCHIVE</a:t>
            </a:r>
          </a:p>
        </p:txBody>
      </p:sp>
      <p:sp>
        <p:nvSpPr>
          <p:cNvPr id="7" name="TextBox 6"/>
          <p:cNvSpPr txBox="1"/>
          <p:nvPr/>
        </p:nvSpPr>
        <p:spPr>
          <a:xfrm>
            <a:off x="10774375" y="6437376"/>
            <a:ext cx="822960" cy="228600"/>
          </a:xfrm>
          <a:prstGeom prst="rect">
            <a:avLst/>
          </a:prstGeom>
          <a:noFill/>
        </p:spPr>
        <p:txBody>
          <a:bodyPr wrap="square" lIns="0" rIns="0" tIns="0" bIns="0" anchor="t">
            <a:spAutoFit/>
          </a:bodyPr>
          <a:lstStyle/>
          <a:p>
            <a:pPr algn="r">
              <a:lnSpc>
                <a:spcPct val="100000"/>
              </a:lnSpc>
            </a:pPr>
            <a:r>
              <a:rPr sz="800" b="0" i="0">
                <a:solidFill>
                  <a:srgbClr val="8D949B"/>
                </a:solidFill>
                <a:latin typeface="Consolas"/>
              </a:rPr>
              <a:t>05 / 15</a:t>
            </a:r>
          </a:p>
        </p:txBody>
      </p:sp>
      <p:sp>
        <p:nvSpPr>
          <p:cNvPr id="8" name="TextBox 7"/>
          <p:cNvSpPr txBox="1"/>
          <p:nvPr/>
        </p:nvSpPr>
        <p:spPr>
          <a:xfrm>
            <a:off x="566928" y="749808"/>
            <a:ext cx="10881360" cy="603504"/>
          </a:xfrm>
          <a:prstGeom prst="rect">
            <a:avLst/>
          </a:prstGeom>
          <a:noFill/>
        </p:spPr>
        <p:txBody>
          <a:bodyPr wrap="square" lIns="0" rIns="0" tIns="0" bIns="0" anchor="t">
            <a:spAutoFit/>
          </a:bodyPr>
          <a:lstStyle/>
          <a:p>
            <a:pPr algn="l">
              <a:lnSpc>
                <a:spcPct val="95000"/>
              </a:lnSpc>
            </a:pPr>
            <a:r>
              <a:rPr sz="2900" b="1" i="0">
                <a:solidFill>
                  <a:srgbClr val="121517"/>
                </a:solidFill>
                <a:latin typeface="Segoe UI Semibold"/>
              </a:rPr>
              <a:t>A small front end with a clear spine.</a:t>
            </a:r>
          </a:p>
        </p:txBody>
      </p:sp>
      <p:sp>
        <p:nvSpPr>
          <p:cNvPr id="9" name="TextBox 8"/>
          <p:cNvSpPr txBox="1"/>
          <p:nvPr/>
        </p:nvSpPr>
        <p:spPr>
          <a:xfrm>
            <a:off x="585216" y="1389888"/>
            <a:ext cx="9966960" cy="457200"/>
          </a:xfrm>
          <a:prstGeom prst="rect">
            <a:avLst/>
          </a:prstGeom>
          <a:noFill/>
        </p:spPr>
        <p:txBody>
          <a:bodyPr wrap="square" lIns="0" rIns="0" tIns="0" bIns="0" anchor="t">
            <a:spAutoFit/>
          </a:bodyPr>
          <a:lstStyle/>
          <a:p>
            <a:pPr algn="l">
              <a:lnSpc>
                <a:spcPct val="118000"/>
              </a:lnSpc>
            </a:pPr>
            <a:r>
              <a:rPr sz="1200" b="0" i="0">
                <a:solidFill>
                  <a:srgbClr val="666D74"/>
                </a:solidFill>
                <a:latin typeface="Segoe UI"/>
              </a:rPr>
              <a:t>Standalone Angular components, signals for state, and two services that own all data access.</a:t>
            </a:r>
          </a:p>
        </p:txBody>
      </p:sp>
      <p:sp>
        <p:nvSpPr>
          <p:cNvPr id="10" name="Rounded Rectangle 9"/>
          <p:cNvSpPr/>
          <p:nvPr/>
        </p:nvSpPr>
        <p:spPr>
          <a:xfrm>
            <a:off x="566928" y="1938528"/>
            <a:ext cx="6766560" cy="786384"/>
          </a:xfrm>
          <a:prstGeom prst="roundRect">
            <a:avLst>
              <a:gd name="adj" fmla="val 3000"/>
            </a:avLst>
          </a:prstGeom>
          <a:solidFill>
            <a:srgbClr val="FBFBFC"/>
          </a:solidFill>
          <a:ln w="9525">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Rectangle 10"/>
          <p:cNvSpPr/>
          <p:nvPr/>
        </p:nvSpPr>
        <p:spPr>
          <a:xfrm>
            <a:off x="566928" y="1938528"/>
            <a:ext cx="41148" cy="786384"/>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TextBox 11"/>
          <p:cNvSpPr txBox="1"/>
          <p:nvPr/>
        </p:nvSpPr>
        <p:spPr>
          <a:xfrm>
            <a:off x="786384" y="2048256"/>
            <a:ext cx="1463040" cy="237744"/>
          </a:xfrm>
          <a:prstGeom prst="rect">
            <a:avLst/>
          </a:prstGeom>
          <a:noFill/>
        </p:spPr>
        <p:txBody>
          <a:bodyPr wrap="square" lIns="0" rIns="0" tIns="0" bIns="0" anchor="t">
            <a:spAutoFit/>
          </a:bodyPr>
          <a:lstStyle/>
          <a:p>
            <a:pPr algn="l">
              <a:lnSpc>
                <a:spcPct val="100000"/>
              </a:lnSpc>
            </a:pPr>
            <a:r>
              <a:rPr sz="850" b="1" i="0">
                <a:solidFill>
                  <a:srgbClr val="E10600"/>
                </a:solidFill>
                <a:latin typeface="Consolas"/>
              </a:rPr>
              <a:t>SHELL</a:t>
            </a:r>
          </a:p>
        </p:txBody>
      </p:sp>
      <p:sp>
        <p:nvSpPr>
          <p:cNvPr id="13" name="TextBox 12"/>
          <p:cNvSpPr txBox="1"/>
          <p:nvPr/>
        </p:nvSpPr>
        <p:spPr>
          <a:xfrm>
            <a:off x="2148840" y="2029968"/>
            <a:ext cx="4983480" cy="530352"/>
          </a:xfrm>
          <a:prstGeom prst="rect">
            <a:avLst/>
          </a:prstGeom>
          <a:noFill/>
        </p:spPr>
        <p:txBody>
          <a:bodyPr wrap="square" lIns="0" rIns="0" tIns="0" bIns="0" anchor="t">
            <a:spAutoFit/>
          </a:bodyPr>
          <a:lstStyle/>
          <a:p>
            <a:pPr algn="l">
              <a:lnSpc>
                <a:spcPct val="114000"/>
              </a:lnSpc>
            </a:pPr>
            <a:r>
              <a:rPr sz="930" b="0" i="0">
                <a:solidFill>
                  <a:srgbClr val="121517"/>
                </a:solidFill>
                <a:latin typeface="Segoe UI"/>
              </a:rPr>
              <a:t>app.ts · navbar · router outlet · floating circuit layer</a:t>
            </a:r>
          </a:p>
        </p:txBody>
      </p:sp>
      <p:sp>
        <p:nvSpPr>
          <p:cNvPr id="14" name="Rounded Rectangle 13"/>
          <p:cNvSpPr/>
          <p:nvPr/>
        </p:nvSpPr>
        <p:spPr>
          <a:xfrm>
            <a:off x="566928" y="2871216"/>
            <a:ext cx="6766560" cy="786384"/>
          </a:xfrm>
          <a:prstGeom prst="roundRect">
            <a:avLst>
              <a:gd name="adj" fmla="val 3000"/>
            </a:avLst>
          </a:prstGeom>
          <a:solidFill>
            <a:srgbClr val="FBFBFC"/>
          </a:solidFill>
          <a:ln w="9525">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Rectangle 14"/>
          <p:cNvSpPr/>
          <p:nvPr/>
        </p:nvSpPr>
        <p:spPr>
          <a:xfrm>
            <a:off x="566928" y="2871216"/>
            <a:ext cx="41148" cy="786384"/>
          </a:xfrm>
          <a:prstGeom prst="rect">
            <a:avLst/>
          </a:prstGeom>
          <a:solidFill>
            <a:srgbClr val="12151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TextBox 15"/>
          <p:cNvSpPr txBox="1"/>
          <p:nvPr/>
        </p:nvSpPr>
        <p:spPr>
          <a:xfrm>
            <a:off x="786384" y="2980944"/>
            <a:ext cx="1463040" cy="237744"/>
          </a:xfrm>
          <a:prstGeom prst="rect">
            <a:avLst/>
          </a:prstGeom>
          <a:noFill/>
        </p:spPr>
        <p:txBody>
          <a:bodyPr wrap="square" lIns="0" rIns="0" tIns="0" bIns="0" anchor="t">
            <a:spAutoFit/>
          </a:bodyPr>
          <a:lstStyle/>
          <a:p>
            <a:pPr algn="l">
              <a:lnSpc>
                <a:spcPct val="100000"/>
              </a:lnSpc>
            </a:pPr>
            <a:r>
              <a:rPr sz="850" b="1" i="0">
                <a:solidFill>
                  <a:srgbClr val="666D74"/>
                </a:solidFill>
                <a:latin typeface="Consolas"/>
              </a:rPr>
              <a:t>PAGES</a:t>
            </a:r>
          </a:p>
        </p:txBody>
      </p:sp>
      <p:sp>
        <p:nvSpPr>
          <p:cNvPr id="17" name="TextBox 16"/>
          <p:cNvSpPr txBox="1"/>
          <p:nvPr/>
        </p:nvSpPr>
        <p:spPr>
          <a:xfrm>
            <a:off x="2148840" y="2962656"/>
            <a:ext cx="4983480" cy="530352"/>
          </a:xfrm>
          <a:prstGeom prst="rect">
            <a:avLst/>
          </a:prstGeom>
          <a:noFill/>
        </p:spPr>
        <p:txBody>
          <a:bodyPr wrap="square" lIns="0" rIns="0" tIns="0" bIns="0" anchor="t">
            <a:spAutoFit/>
          </a:bodyPr>
          <a:lstStyle/>
          <a:p>
            <a:pPr algn="l">
              <a:lnSpc>
                <a:spcPct val="114000"/>
              </a:lnSpc>
            </a:pPr>
            <a:r>
              <a:rPr sz="930" b="0" i="0">
                <a:solidFill>
                  <a:srgbClr val="121517"/>
                </a:solidFill>
                <a:latin typeface="Segoe UI"/>
              </a:rPr>
              <a:t>home · standings · drivers · teams · circuits · races · race detail · live · history · rivalry · credits</a:t>
            </a:r>
          </a:p>
        </p:txBody>
      </p:sp>
      <p:sp>
        <p:nvSpPr>
          <p:cNvPr id="18" name="Rounded Rectangle 17"/>
          <p:cNvSpPr/>
          <p:nvPr/>
        </p:nvSpPr>
        <p:spPr>
          <a:xfrm>
            <a:off x="566928" y="3803904"/>
            <a:ext cx="6766560" cy="786384"/>
          </a:xfrm>
          <a:prstGeom prst="roundRect">
            <a:avLst>
              <a:gd name="adj" fmla="val 3000"/>
            </a:avLst>
          </a:prstGeom>
          <a:solidFill>
            <a:srgbClr val="FBFBFC"/>
          </a:solidFill>
          <a:ln w="9525">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Rectangle 18"/>
          <p:cNvSpPr/>
          <p:nvPr/>
        </p:nvSpPr>
        <p:spPr>
          <a:xfrm>
            <a:off x="566928" y="3803904"/>
            <a:ext cx="41148" cy="786384"/>
          </a:xfrm>
          <a:prstGeom prst="rect">
            <a:avLst/>
          </a:prstGeom>
          <a:solidFill>
            <a:srgbClr val="12151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TextBox 19"/>
          <p:cNvSpPr txBox="1"/>
          <p:nvPr/>
        </p:nvSpPr>
        <p:spPr>
          <a:xfrm>
            <a:off x="786384" y="3913632"/>
            <a:ext cx="1463040" cy="237744"/>
          </a:xfrm>
          <a:prstGeom prst="rect">
            <a:avLst/>
          </a:prstGeom>
          <a:noFill/>
        </p:spPr>
        <p:txBody>
          <a:bodyPr wrap="square" lIns="0" rIns="0" tIns="0" bIns="0" anchor="t">
            <a:spAutoFit/>
          </a:bodyPr>
          <a:lstStyle/>
          <a:p>
            <a:pPr algn="l">
              <a:lnSpc>
                <a:spcPct val="100000"/>
              </a:lnSpc>
            </a:pPr>
            <a:r>
              <a:rPr sz="850" b="1" i="0">
                <a:solidFill>
                  <a:srgbClr val="666D74"/>
                </a:solidFill>
                <a:latin typeface="Consolas"/>
              </a:rPr>
              <a:t>SHARED UI</a:t>
            </a:r>
          </a:p>
        </p:txBody>
      </p:sp>
      <p:sp>
        <p:nvSpPr>
          <p:cNvPr id="21" name="TextBox 20"/>
          <p:cNvSpPr txBox="1"/>
          <p:nvPr/>
        </p:nvSpPr>
        <p:spPr>
          <a:xfrm>
            <a:off x="2148840" y="3895344"/>
            <a:ext cx="4983480" cy="530352"/>
          </a:xfrm>
          <a:prstGeom prst="rect">
            <a:avLst/>
          </a:prstGeom>
          <a:noFill/>
        </p:spPr>
        <p:txBody>
          <a:bodyPr wrap="square" lIns="0" rIns="0" tIns="0" bIns="0" anchor="t">
            <a:spAutoFit/>
          </a:bodyPr>
          <a:lstStyle/>
          <a:p>
            <a:pPr algn="l">
              <a:lnSpc>
                <a:spcPct val="114000"/>
              </a:lnSpc>
            </a:pPr>
            <a:r>
              <a:rPr sz="930" b="0" i="0">
                <a:solidFill>
                  <a:srgbClr val="121517"/>
                </a:solidFill>
                <a:latin typeface="Segoe UI"/>
              </a:rPr>
              <a:t>panel · page header · stat tile · driver avatar · team badge · track background · charts</a:t>
            </a:r>
          </a:p>
        </p:txBody>
      </p:sp>
      <p:sp>
        <p:nvSpPr>
          <p:cNvPr id="22" name="Rounded Rectangle 21"/>
          <p:cNvSpPr/>
          <p:nvPr/>
        </p:nvSpPr>
        <p:spPr>
          <a:xfrm>
            <a:off x="566928" y="4736592"/>
            <a:ext cx="6766560" cy="786384"/>
          </a:xfrm>
          <a:prstGeom prst="roundRect">
            <a:avLst>
              <a:gd name="adj" fmla="val 3000"/>
            </a:avLst>
          </a:prstGeom>
          <a:solidFill>
            <a:srgbClr val="FBFBFC"/>
          </a:solidFill>
          <a:ln w="9525">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Rectangle 22"/>
          <p:cNvSpPr/>
          <p:nvPr/>
        </p:nvSpPr>
        <p:spPr>
          <a:xfrm>
            <a:off x="566928" y="4736592"/>
            <a:ext cx="41148" cy="786384"/>
          </a:xfrm>
          <a:prstGeom prst="rect">
            <a:avLst/>
          </a:prstGeom>
          <a:solidFill>
            <a:srgbClr val="12151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TextBox 23"/>
          <p:cNvSpPr txBox="1"/>
          <p:nvPr/>
        </p:nvSpPr>
        <p:spPr>
          <a:xfrm>
            <a:off x="786384" y="4846320"/>
            <a:ext cx="1463040" cy="237744"/>
          </a:xfrm>
          <a:prstGeom prst="rect">
            <a:avLst/>
          </a:prstGeom>
          <a:noFill/>
        </p:spPr>
        <p:txBody>
          <a:bodyPr wrap="square" lIns="0" rIns="0" tIns="0" bIns="0" anchor="t">
            <a:spAutoFit/>
          </a:bodyPr>
          <a:lstStyle/>
          <a:p>
            <a:pPr algn="l">
              <a:lnSpc>
                <a:spcPct val="100000"/>
              </a:lnSpc>
            </a:pPr>
            <a:r>
              <a:rPr sz="850" b="1" i="0">
                <a:solidFill>
                  <a:srgbClr val="666D74"/>
                </a:solidFill>
                <a:latin typeface="Consolas"/>
              </a:rPr>
              <a:t>CORE</a:t>
            </a:r>
          </a:p>
        </p:txBody>
      </p:sp>
      <p:sp>
        <p:nvSpPr>
          <p:cNvPr id="25" name="TextBox 24"/>
          <p:cNvSpPr txBox="1"/>
          <p:nvPr/>
        </p:nvSpPr>
        <p:spPr>
          <a:xfrm>
            <a:off x="2148840" y="4828031"/>
            <a:ext cx="4983480" cy="530352"/>
          </a:xfrm>
          <a:prstGeom prst="rect">
            <a:avLst/>
          </a:prstGeom>
          <a:noFill/>
        </p:spPr>
        <p:txBody>
          <a:bodyPr wrap="square" lIns="0" rIns="0" tIns="0" bIns="0" anchor="t">
            <a:spAutoFit/>
          </a:bodyPr>
          <a:lstStyle/>
          <a:p>
            <a:pPr algn="l">
              <a:lnSpc>
                <a:spcPct val="114000"/>
              </a:lnSpc>
            </a:pPr>
            <a:r>
              <a:rPr sz="930" b="0" i="0">
                <a:solidFill>
                  <a:srgbClr val="121517"/>
                </a:solidFill>
                <a:latin typeface="Segoe UI"/>
              </a:rPr>
              <a:t>CSVDataService · OpenF1Service · models · config · utils</a:t>
            </a:r>
          </a:p>
        </p:txBody>
      </p:sp>
      <p:sp>
        <p:nvSpPr>
          <p:cNvPr id="26" name="Rounded Rectangle 25"/>
          <p:cNvSpPr/>
          <p:nvPr/>
        </p:nvSpPr>
        <p:spPr>
          <a:xfrm>
            <a:off x="7607808" y="1938528"/>
            <a:ext cx="4005072" cy="3529584"/>
          </a:xfrm>
          <a:prstGeom prst="roundRect">
            <a:avLst>
              <a:gd name="adj" fmla="val 3500"/>
            </a:avLst>
          </a:prstGeom>
          <a:solidFill>
            <a:srgbClr val="FBFBFC"/>
          </a:solidFill>
          <a:ln w="9525">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TextBox 26"/>
          <p:cNvSpPr txBox="1"/>
          <p:nvPr/>
        </p:nvSpPr>
        <p:spPr>
          <a:xfrm>
            <a:off x="7845552" y="2121408"/>
            <a:ext cx="3566160" cy="274320"/>
          </a:xfrm>
          <a:prstGeom prst="rect">
            <a:avLst/>
          </a:prstGeom>
          <a:noFill/>
        </p:spPr>
        <p:txBody>
          <a:bodyPr wrap="square" lIns="0" rIns="0" tIns="0" bIns="0" anchor="t">
            <a:spAutoFit/>
          </a:bodyPr>
          <a:lstStyle/>
          <a:p>
            <a:pPr algn="l">
              <a:lnSpc>
                <a:spcPct val="100000"/>
              </a:lnSpc>
            </a:pPr>
            <a:r>
              <a:rPr sz="850" b="1" i="0">
                <a:solidFill>
                  <a:srgbClr val="666D74"/>
                </a:solidFill>
                <a:latin typeface="Consolas"/>
              </a:rPr>
              <a:t>KEY DECISIONS</a:t>
            </a:r>
          </a:p>
        </p:txBody>
      </p:sp>
      <p:sp>
        <p:nvSpPr>
          <p:cNvPr id="28" name="TextBox 27"/>
          <p:cNvSpPr txBox="1"/>
          <p:nvPr/>
        </p:nvSpPr>
        <p:spPr>
          <a:xfrm>
            <a:off x="7845552" y="2487168"/>
            <a:ext cx="3474720" cy="256032"/>
          </a:xfrm>
          <a:prstGeom prst="rect">
            <a:avLst/>
          </a:prstGeom>
          <a:noFill/>
        </p:spPr>
        <p:txBody>
          <a:bodyPr wrap="square" lIns="0" rIns="0" tIns="0" bIns="0" anchor="t">
            <a:spAutoFit/>
          </a:bodyPr>
          <a:lstStyle/>
          <a:p>
            <a:pPr algn="l">
              <a:lnSpc>
                <a:spcPct val="100000"/>
              </a:lnSpc>
            </a:pPr>
            <a:r>
              <a:rPr sz="1000" b="1" i="0">
                <a:solidFill>
                  <a:srgbClr val="121517"/>
                </a:solidFill>
                <a:latin typeface="Segoe UI"/>
              </a:rPr>
              <a:t>— Lazy routes</a:t>
            </a:r>
          </a:p>
        </p:txBody>
      </p:sp>
      <p:sp>
        <p:nvSpPr>
          <p:cNvPr id="29" name="TextBox 28"/>
          <p:cNvSpPr txBox="1"/>
          <p:nvPr/>
        </p:nvSpPr>
        <p:spPr>
          <a:xfrm>
            <a:off x="8101583" y="2743200"/>
            <a:ext cx="3246120" cy="274320"/>
          </a:xfrm>
          <a:prstGeom prst="rect">
            <a:avLst/>
          </a:prstGeom>
          <a:noFill/>
        </p:spPr>
        <p:txBody>
          <a:bodyPr wrap="square" lIns="0" rIns="0" tIns="0" bIns="0" anchor="t">
            <a:spAutoFit/>
          </a:bodyPr>
          <a:lstStyle/>
          <a:p>
            <a:pPr algn="l">
              <a:lnSpc>
                <a:spcPct val="100000"/>
              </a:lnSpc>
            </a:pPr>
            <a:r>
              <a:rPr sz="850" b="0" i="0">
                <a:solidFill>
                  <a:srgbClr val="666D74"/>
                </a:solidFill>
                <a:latin typeface="Segoe UI"/>
              </a:rPr>
              <a:t>Every page except Home is a separate chunk.</a:t>
            </a:r>
          </a:p>
        </p:txBody>
      </p:sp>
      <p:sp>
        <p:nvSpPr>
          <p:cNvPr id="30" name="TextBox 29"/>
          <p:cNvSpPr txBox="1"/>
          <p:nvPr/>
        </p:nvSpPr>
        <p:spPr>
          <a:xfrm>
            <a:off x="7845552" y="3054096"/>
            <a:ext cx="3474720" cy="256032"/>
          </a:xfrm>
          <a:prstGeom prst="rect">
            <a:avLst/>
          </a:prstGeom>
          <a:noFill/>
        </p:spPr>
        <p:txBody>
          <a:bodyPr wrap="square" lIns="0" rIns="0" tIns="0" bIns="0" anchor="t">
            <a:spAutoFit/>
          </a:bodyPr>
          <a:lstStyle/>
          <a:p>
            <a:pPr algn="l">
              <a:lnSpc>
                <a:spcPct val="100000"/>
              </a:lnSpc>
            </a:pPr>
            <a:r>
              <a:rPr sz="1000" b="1" i="0">
                <a:solidFill>
                  <a:srgbClr val="121517"/>
                </a:solidFill>
                <a:latin typeface="Segoe UI"/>
              </a:rPr>
              <a:t>— Indexed CSVs</a:t>
            </a:r>
          </a:p>
        </p:txBody>
      </p:sp>
      <p:sp>
        <p:nvSpPr>
          <p:cNvPr id="31" name="TextBox 30"/>
          <p:cNvSpPr txBox="1"/>
          <p:nvPr/>
        </p:nvSpPr>
        <p:spPr>
          <a:xfrm>
            <a:off x="8101583" y="3310128"/>
            <a:ext cx="3246120" cy="274320"/>
          </a:xfrm>
          <a:prstGeom prst="rect">
            <a:avLst/>
          </a:prstGeom>
          <a:noFill/>
        </p:spPr>
        <p:txBody>
          <a:bodyPr wrap="square" lIns="0" rIns="0" tIns="0" bIns="0" anchor="t">
            <a:spAutoFit/>
          </a:bodyPr>
          <a:lstStyle/>
          <a:p>
            <a:pPr algn="l">
              <a:lnSpc>
                <a:spcPct val="100000"/>
              </a:lnSpc>
            </a:pPr>
            <a:r>
              <a:rPr sz="850" b="0" i="0">
                <a:solidFill>
                  <a:srgbClr val="666D74"/>
                </a:solidFill>
                <a:latin typeface="Segoe UI"/>
              </a:rPr>
              <a:t>Parse once, derive careers and standings in memory.</a:t>
            </a:r>
          </a:p>
        </p:txBody>
      </p:sp>
      <p:sp>
        <p:nvSpPr>
          <p:cNvPr id="32" name="TextBox 31"/>
          <p:cNvSpPr txBox="1"/>
          <p:nvPr/>
        </p:nvSpPr>
        <p:spPr>
          <a:xfrm>
            <a:off x="7845552" y="3621024"/>
            <a:ext cx="3474720" cy="256032"/>
          </a:xfrm>
          <a:prstGeom prst="rect">
            <a:avLst/>
          </a:prstGeom>
          <a:noFill/>
        </p:spPr>
        <p:txBody>
          <a:bodyPr wrap="square" lIns="0" rIns="0" tIns="0" bIns="0" anchor="t">
            <a:spAutoFit/>
          </a:bodyPr>
          <a:lstStyle/>
          <a:p>
            <a:pPr algn="l">
              <a:lnSpc>
                <a:spcPct val="100000"/>
              </a:lnSpc>
            </a:pPr>
            <a:r>
              <a:rPr sz="1000" b="1" i="0">
                <a:solidFill>
                  <a:srgbClr val="121517"/>
                </a:solidFill>
                <a:latin typeface="Segoe UI"/>
              </a:rPr>
              <a:t>— shareReplay</a:t>
            </a:r>
          </a:p>
        </p:txBody>
      </p:sp>
      <p:sp>
        <p:nvSpPr>
          <p:cNvPr id="33" name="TextBox 32"/>
          <p:cNvSpPr txBox="1"/>
          <p:nvPr/>
        </p:nvSpPr>
        <p:spPr>
          <a:xfrm>
            <a:off x="8101583" y="3877056"/>
            <a:ext cx="3246120" cy="274320"/>
          </a:xfrm>
          <a:prstGeom prst="rect">
            <a:avLst/>
          </a:prstGeom>
          <a:noFill/>
        </p:spPr>
        <p:txBody>
          <a:bodyPr wrap="square" lIns="0" rIns="0" tIns="0" bIns="0" anchor="t">
            <a:spAutoFit/>
          </a:bodyPr>
          <a:lstStyle/>
          <a:p>
            <a:pPr algn="l">
              <a:lnSpc>
                <a:spcPct val="100000"/>
              </a:lnSpc>
            </a:pPr>
            <a:r>
              <a:rPr sz="850" b="0" i="0">
                <a:solidFill>
                  <a:srgbClr val="666D74"/>
                </a:solidFill>
                <a:latin typeface="Segoe UI"/>
              </a:rPr>
              <a:t>One HTTP request per archive file and OpenF1 call.</a:t>
            </a:r>
          </a:p>
        </p:txBody>
      </p:sp>
      <p:sp>
        <p:nvSpPr>
          <p:cNvPr id="34" name="TextBox 33"/>
          <p:cNvSpPr txBox="1"/>
          <p:nvPr/>
        </p:nvSpPr>
        <p:spPr>
          <a:xfrm>
            <a:off x="7845552" y="4187952"/>
            <a:ext cx="3474720" cy="256032"/>
          </a:xfrm>
          <a:prstGeom prst="rect">
            <a:avLst/>
          </a:prstGeom>
          <a:noFill/>
        </p:spPr>
        <p:txBody>
          <a:bodyPr wrap="square" lIns="0" rIns="0" tIns="0" bIns="0" anchor="t">
            <a:spAutoFit/>
          </a:bodyPr>
          <a:lstStyle/>
          <a:p>
            <a:pPr algn="l">
              <a:lnSpc>
                <a:spcPct val="100000"/>
              </a:lnSpc>
            </a:pPr>
            <a:r>
              <a:rPr sz="1000" b="1" i="0">
                <a:solidFill>
                  <a:srgbClr val="121517"/>
                </a:solidFill>
                <a:latin typeface="Segoe UI"/>
              </a:rPr>
              <a:t>— Rate limited</a:t>
            </a:r>
          </a:p>
        </p:txBody>
      </p:sp>
      <p:sp>
        <p:nvSpPr>
          <p:cNvPr id="35" name="TextBox 34"/>
          <p:cNvSpPr txBox="1"/>
          <p:nvPr/>
        </p:nvSpPr>
        <p:spPr>
          <a:xfrm>
            <a:off x="8101583" y="4443984"/>
            <a:ext cx="3246120" cy="274320"/>
          </a:xfrm>
          <a:prstGeom prst="rect">
            <a:avLst/>
          </a:prstGeom>
          <a:noFill/>
        </p:spPr>
        <p:txBody>
          <a:bodyPr wrap="square" lIns="0" rIns="0" tIns="0" bIns="0" anchor="t">
            <a:spAutoFit/>
          </a:bodyPr>
          <a:lstStyle/>
          <a:p>
            <a:pPr algn="l">
              <a:lnSpc>
                <a:spcPct val="100000"/>
              </a:lnSpc>
            </a:pPr>
            <a:r>
              <a:rPr sz="850" b="0" i="0">
                <a:solidFill>
                  <a:srgbClr val="666D74"/>
                </a:solidFill>
                <a:latin typeface="Segoe UI"/>
              </a:rPr>
              <a:t>3 req/s token bucket protects the OpenF1 free tier.</a:t>
            </a:r>
          </a:p>
        </p:txBody>
      </p:sp>
      <p:sp>
        <p:nvSpPr>
          <p:cNvPr id="36" name="TextBox 35"/>
          <p:cNvSpPr txBox="1"/>
          <p:nvPr/>
        </p:nvSpPr>
        <p:spPr>
          <a:xfrm>
            <a:off x="7845552" y="4754880"/>
            <a:ext cx="3474720" cy="256032"/>
          </a:xfrm>
          <a:prstGeom prst="rect">
            <a:avLst/>
          </a:prstGeom>
          <a:noFill/>
        </p:spPr>
        <p:txBody>
          <a:bodyPr wrap="square" lIns="0" rIns="0" tIns="0" bIns="0" anchor="t">
            <a:spAutoFit/>
          </a:bodyPr>
          <a:lstStyle/>
          <a:p>
            <a:pPr algn="l">
              <a:lnSpc>
                <a:spcPct val="100000"/>
              </a:lnSpc>
            </a:pPr>
            <a:r>
              <a:rPr sz="1000" b="1" i="0">
                <a:solidFill>
                  <a:srgbClr val="121517"/>
                </a:solidFill>
                <a:latin typeface="Segoe UI"/>
              </a:rPr>
              <a:t>— Typed end to end</a:t>
            </a:r>
          </a:p>
        </p:txBody>
      </p:sp>
      <p:sp>
        <p:nvSpPr>
          <p:cNvPr id="37" name="TextBox 36"/>
          <p:cNvSpPr txBox="1"/>
          <p:nvPr/>
        </p:nvSpPr>
        <p:spPr>
          <a:xfrm>
            <a:off x="8101583" y="5010912"/>
            <a:ext cx="3246120" cy="274320"/>
          </a:xfrm>
          <a:prstGeom prst="rect">
            <a:avLst/>
          </a:prstGeom>
          <a:noFill/>
        </p:spPr>
        <p:txBody>
          <a:bodyPr wrap="square" lIns="0" rIns="0" tIns="0" bIns="0" anchor="t">
            <a:spAutoFit/>
          </a:bodyPr>
          <a:lstStyle/>
          <a:p>
            <a:pPr algn="l">
              <a:lnSpc>
                <a:spcPct val="100000"/>
              </a:lnSpc>
            </a:pPr>
            <a:r>
              <a:rPr sz="850" b="0" i="0">
                <a:solidFill>
                  <a:srgbClr val="666D74"/>
                </a:solidFill>
                <a:latin typeface="Segoe UI"/>
              </a:rPr>
              <a:t>Strict TypeScript models for archive and OpenF1.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Rectangle 2"/>
          <p:cNvSpPr/>
          <p:nvPr/>
        </p:nvSpPr>
        <p:spPr>
          <a:xfrm>
            <a:off x="566928" y="420624"/>
            <a:ext cx="50292" cy="237744"/>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TextBox 3"/>
          <p:cNvSpPr txBox="1"/>
          <p:nvPr/>
        </p:nvSpPr>
        <p:spPr>
          <a:xfrm>
            <a:off x="713232" y="438912"/>
            <a:ext cx="7680960" cy="237744"/>
          </a:xfrm>
          <a:prstGeom prst="rect">
            <a:avLst/>
          </a:prstGeom>
          <a:noFill/>
        </p:spPr>
        <p:txBody>
          <a:bodyPr wrap="square" lIns="0" rIns="0" tIns="0" bIns="0" anchor="t">
            <a:spAutoFit/>
          </a:bodyPr>
          <a:lstStyle/>
          <a:p>
            <a:pPr algn="l">
              <a:lnSpc>
                <a:spcPct val="100000"/>
              </a:lnSpc>
            </a:pPr>
            <a:r>
              <a:rPr sz="900" b="1" i="0">
                <a:solidFill>
                  <a:srgbClr val="666D74"/>
                </a:solidFill>
                <a:latin typeface="Consolas"/>
              </a:rPr>
              <a:t>DATA</a:t>
            </a:r>
          </a:p>
        </p:txBody>
      </p:sp>
      <p:sp>
        <p:nvSpPr>
          <p:cNvPr id="5" name="Rectangle 4"/>
          <p:cNvSpPr/>
          <p:nvPr/>
        </p:nvSpPr>
        <p:spPr>
          <a:xfrm>
            <a:off x="566928" y="6336792"/>
            <a:ext cx="11064240" cy="10972"/>
          </a:xfrm>
          <a:prstGeom prst="rect">
            <a:avLst/>
          </a:prstGeom>
          <a:solidFill>
            <a:srgbClr val="D5DA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566928" y="6437376"/>
            <a:ext cx="6400800" cy="228600"/>
          </a:xfrm>
          <a:prstGeom prst="rect">
            <a:avLst/>
          </a:prstGeom>
          <a:noFill/>
        </p:spPr>
        <p:txBody>
          <a:bodyPr wrap="square" lIns="0" rIns="0" tIns="0" bIns="0" anchor="t">
            <a:spAutoFit/>
          </a:bodyPr>
          <a:lstStyle/>
          <a:p>
            <a:pPr algn="l">
              <a:lnSpc>
                <a:spcPct val="100000"/>
              </a:lnSpc>
            </a:pPr>
            <a:r>
              <a:rPr sz="800" b="0" i="0">
                <a:solidFill>
                  <a:srgbClr val="8D949B"/>
                </a:solidFill>
                <a:latin typeface="Consolas"/>
              </a:rPr>
              <a:t>PADDOCK  ·  FORMULA 1 ARCHIVE</a:t>
            </a:r>
          </a:p>
        </p:txBody>
      </p:sp>
      <p:sp>
        <p:nvSpPr>
          <p:cNvPr id="7" name="TextBox 6"/>
          <p:cNvSpPr txBox="1"/>
          <p:nvPr/>
        </p:nvSpPr>
        <p:spPr>
          <a:xfrm>
            <a:off x="10774375" y="6437376"/>
            <a:ext cx="822960" cy="228600"/>
          </a:xfrm>
          <a:prstGeom prst="rect">
            <a:avLst/>
          </a:prstGeom>
          <a:noFill/>
        </p:spPr>
        <p:txBody>
          <a:bodyPr wrap="square" lIns="0" rIns="0" tIns="0" bIns="0" anchor="t">
            <a:spAutoFit/>
          </a:bodyPr>
          <a:lstStyle/>
          <a:p>
            <a:pPr algn="r">
              <a:lnSpc>
                <a:spcPct val="100000"/>
              </a:lnSpc>
            </a:pPr>
            <a:r>
              <a:rPr sz="800" b="0" i="0">
                <a:solidFill>
                  <a:srgbClr val="8D949B"/>
                </a:solidFill>
                <a:latin typeface="Consolas"/>
              </a:rPr>
              <a:t>06 / 15</a:t>
            </a:r>
          </a:p>
        </p:txBody>
      </p:sp>
      <p:sp>
        <p:nvSpPr>
          <p:cNvPr id="8" name="TextBox 7"/>
          <p:cNvSpPr txBox="1"/>
          <p:nvPr/>
        </p:nvSpPr>
        <p:spPr>
          <a:xfrm>
            <a:off x="566928" y="749808"/>
            <a:ext cx="10881360" cy="603504"/>
          </a:xfrm>
          <a:prstGeom prst="rect">
            <a:avLst/>
          </a:prstGeom>
          <a:noFill/>
        </p:spPr>
        <p:txBody>
          <a:bodyPr wrap="square" lIns="0" rIns="0" tIns="0" bIns="0" anchor="t">
            <a:spAutoFit/>
          </a:bodyPr>
          <a:lstStyle/>
          <a:p>
            <a:pPr algn="l">
              <a:lnSpc>
                <a:spcPct val="95000"/>
              </a:lnSpc>
            </a:pPr>
            <a:r>
              <a:rPr sz="2900" b="1" i="0">
                <a:solidFill>
                  <a:srgbClr val="121517"/>
                </a:solidFill>
                <a:latin typeface="Segoe UI Semibold"/>
              </a:rPr>
              <a:t>Two sources. One continuous timeline.</a:t>
            </a:r>
          </a:p>
        </p:txBody>
      </p:sp>
      <p:sp>
        <p:nvSpPr>
          <p:cNvPr id="9" name="TextBox 8"/>
          <p:cNvSpPr txBox="1"/>
          <p:nvPr/>
        </p:nvSpPr>
        <p:spPr>
          <a:xfrm>
            <a:off x="585216" y="1389888"/>
            <a:ext cx="9966960" cy="457200"/>
          </a:xfrm>
          <a:prstGeom prst="rect">
            <a:avLst/>
          </a:prstGeom>
          <a:noFill/>
        </p:spPr>
        <p:txBody>
          <a:bodyPr wrap="square" lIns="0" rIns="0" tIns="0" bIns="0" anchor="t">
            <a:spAutoFit/>
          </a:bodyPr>
          <a:lstStyle/>
          <a:p>
            <a:pPr algn="l">
              <a:lnSpc>
                <a:spcPct val="118000"/>
              </a:lnSpc>
            </a:pPr>
            <a:r>
              <a:rPr sz="1200" b="0" i="0">
                <a:solidFill>
                  <a:srgbClr val="666D74"/>
                </a:solidFill>
                <a:latin typeface="Segoe UI"/>
              </a:rPr>
              <a:t>The archive gives depth and precision; OpenF1 gives recency and live detail.</a:t>
            </a:r>
          </a:p>
        </p:txBody>
      </p:sp>
      <p:sp>
        <p:nvSpPr>
          <p:cNvPr id="10" name="Rounded Rectangle 9"/>
          <p:cNvSpPr/>
          <p:nvPr/>
        </p:nvSpPr>
        <p:spPr>
          <a:xfrm>
            <a:off x="566928" y="1938528"/>
            <a:ext cx="5349240" cy="3154680"/>
          </a:xfrm>
          <a:prstGeom prst="roundRect">
            <a:avLst>
              <a:gd name="adj" fmla="val 3500"/>
            </a:avLst>
          </a:prstGeom>
          <a:solidFill>
            <a:srgbClr val="FBFBFC"/>
          </a:solidFill>
          <a:ln w="9525">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Rectangle 10"/>
          <p:cNvSpPr/>
          <p:nvPr/>
        </p:nvSpPr>
        <p:spPr>
          <a:xfrm>
            <a:off x="566928" y="1938528"/>
            <a:ext cx="41148" cy="3154680"/>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TextBox 11"/>
          <p:cNvSpPr txBox="1"/>
          <p:nvPr/>
        </p:nvSpPr>
        <p:spPr>
          <a:xfrm>
            <a:off x="841248" y="2103120"/>
            <a:ext cx="4023360" cy="219456"/>
          </a:xfrm>
          <a:prstGeom prst="rect">
            <a:avLst/>
          </a:prstGeom>
          <a:noFill/>
        </p:spPr>
        <p:txBody>
          <a:bodyPr wrap="square" lIns="0" rIns="0" tIns="0" bIns="0" anchor="t">
            <a:spAutoFit/>
          </a:bodyPr>
          <a:lstStyle/>
          <a:p>
            <a:pPr algn="l">
              <a:lnSpc>
                <a:spcPct val="100000"/>
              </a:lnSpc>
            </a:pPr>
            <a:r>
              <a:rPr sz="850" b="1" i="0">
                <a:solidFill>
                  <a:srgbClr val="E10600"/>
                </a:solidFill>
                <a:latin typeface="Consolas"/>
              </a:rPr>
              <a:t>2000 → 2026</a:t>
            </a:r>
          </a:p>
        </p:txBody>
      </p:sp>
      <p:sp>
        <p:nvSpPr>
          <p:cNvPr id="13" name="Rectangle 12"/>
          <p:cNvSpPr/>
          <p:nvPr/>
        </p:nvSpPr>
        <p:spPr>
          <a:xfrm>
            <a:off x="841248" y="2313432"/>
            <a:ext cx="420624" cy="25603"/>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TextBox 13"/>
          <p:cNvSpPr txBox="1"/>
          <p:nvPr/>
        </p:nvSpPr>
        <p:spPr>
          <a:xfrm>
            <a:off x="841248" y="2432304"/>
            <a:ext cx="4480560" cy="365760"/>
          </a:xfrm>
          <a:prstGeom prst="rect">
            <a:avLst/>
          </a:prstGeom>
          <a:noFill/>
        </p:spPr>
        <p:txBody>
          <a:bodyPr wrap="square" lIns="0" rIns="0" tIns="0" bIns="0" anchor="t">
            <a:spAutoFit/>
          </a:bodyPr>
          <a:lstStyle/>
          <a:p>
            <a:pPr algn="l">
              <a:lnSpc>
                <a:spcPct val="100000"/>
              </a:lnSpc>
            </a:pPr>
            <a:r>
              <a:rPr sz="1900" b="1" i="0">
                <a:solidFill>
                  <a:srgbClr val="121517"/>
                </a:solidFill>
                <a:latin typeface="Segoe UI Semibold"/>
              </a:rPr>
              <a:t>Bundled archive</a:t>
            </a:r>
          </a:p>
        </p:txBody>
      </p:sp>
      <p:sp>
        <p:nvSpPr>
          <p:cNvPr id="15" name="TextBox 14"/>
          <p:cNvSpPr txBox="1"/>
          <p:nvPr/>
        </p:nvSpPr>
        <p:spPr>
          <a:xfrm>
            <a:off x="841248" y="2834640"/>
            <a:ext cx="4754880" cy="457200"/>
          </a:xfrm>
          <a:prstGeom prst="rect">
            <a:avLst/>
          </a:prstGeom>
          <a:noFill/>
        </p:spPr>
        <p:txBody>
          <a:bodyPr wrap="square" lIns="0" rIns="0" tIns="0" bIns="0" anchor="t">
            <a:spAutoFit/>
          </a:bodyPr>
          <a:lstStyle/>
          <a:p>
            <a:pPr algn="l">
              <a:lnSpc>
                <a:spcPct val="100000"/>
              </a:lnSpc>
            </a:pPr>
            <a:r>
              <a:rPr sz="1000" b="0" i="0">
                <a:solidFill>
                  <a:srgbClr val="666D74"/>
                </a:solidFill>
                <a:latin typeface="Segoe UI"/>
              </a:rPr>
              <a:t>Ergast-style CSVs, pruned in the browser build.</a:t>
            </a:r>
          </a:p>
        </p:txBody>
      </p:sp>
      <p:sp>
        <p:nvSpPr>
          <p:cNvPr id="16" name="TextBox 15"/>
          <p:cNvSpPr txBox="1"/>
          <p:nvPr/>
        </p:nvSpPr>
        <p:spPr>
          <a:xfrm>
            <a:off x="841248" y="3364992"/>
            <a:ext cx="4754880" cy="274320"/>
          </a:xfrm>
          <a:prstGeom prst="rect">
            <a:avLst/>
          </a:prstGeom>
          <a:noFill/>
        </p:spPr>
        <p:txBody>
          <a:bodyPr wrap="square" lIns="0" rIns="0" tIns="0" bIns="0" anchor="t">
            <a:spAutoFit/>
          </a:bodyPr>
          <a:lstStyle/>
          <a:p>
            <a:pPr algn="l">
              <a:lnSpc>
                <a:spcPct val="100000"/>
              </a:lnSpc>
            </a:pPr>
            <a:r>
              <a:rPr sz="940" b="0" i="0">
                <a:solidFill>
                  <a:srgbClr val="121517"/>
                </a:solidFill>
                <a:latin typeface="Segoe UI"/>
              </a:rPr>
              <a:t>·  130 drivers  ·  40 teams  ·  39 circuits</a:t>
            </a:r>
          </a:p>
        </p:txBody>
      </p:sp>
      <p:sp>
        <p:nvSpPr>
          <p:cNvPr id="17" name="TextBox 16"/>
          <p:cNvSpPr txBox="1"/>
          <p:nvPr/>
        </p:nvSpPr>
        <p:spPr>
          <a:xfrm>
            <a:off x="841248" y="3675888"/>
            <a:ext cx="4754880" cy="274320"/>
          </a:xfrm>
          <a:prstGeom prst="rect">
            <a:avLst/>
          </a:prstGeom>
          <a:noFill/>
        </p:spPr>
        <p:txBody>
          <a:bodyPr wrap="square" lIns="0" rIns="0" tIns="0" bIns="0" anchor="t">
            <a:spAutoFit/>
          </a:bodyPr>
          <a:lstStyle/>
          <a:p>
            <a:pPr algn="l">
              <a:lnSpc>
                <a:spcPct val="100000"/>
              </a:lnSpc>
            </a:pPr>
            <a:r>
              <a:rPr sz="940" b="0" i="0">
                <a:solidFill>
                  <a:srgbClr val="121517"/>
                </a:solidFill>
                <a:latin typeface="Segoe UI"/>
              </a:rPr>
              <a:t>·  526 races  ·  10,954 results  ·  9,968 qualifying</a:t>
            </a:r>
          </a:p>
        </p:txBody>
      </p:sp>
      <p:sp>
        <p:nvSpPr>
          <p:cNvPr id="18" name="TextBox 17"/>
          <p:cNvSpPr txBox="1"/>
          <p:nvPr/>
        </p:nvSpPr>
        <p:spPr>
          <a:xfrm>
            <a:off x="841248" y="3986784"/>
            <a:ext cx="4754880" cy="274320"/>
          </a:xfrm>
          <a:prstGeom prst="rect">
            <a:avLst/>
          </a:prstGeom>
          <a:noFill/>
        </p:spPr>
        <p:txBody>
          <a:bodyPr wrap="square" lIns="0" rIns="0" tIns="0" bIns="0" anchor="t">
            <a:spAutoFit/>
          </a:bodyPr>
          <a:lstStyle/>
          <a:p>
            <a:pPr algn="l">
              <a:lnSpc>
                <a:spcPct val="100000"/>
              </a:lnSpc>
            </a:pPr>
            <a:r>
              <a:rPr sz="940" b="0" i="0">
                <a:solidFill>
                  <a:srgbClr val="121517"/>
                </a:solidFill>
                <a:latin typeface="Segoe UI"/>
              </a:rPr>
              <a:t>·  Final or current standings for all 27 seasons</a:t>
            </a:r>
          </a:p>
        </p:txBody>
      </p:sp>
      <p:sp>
        <p:nvSpPr>
          <p:cNvPr id="19" name="TextBox 18"/>
          <p:cNvSpPr txBox="1"/>
          <p:nvPr/>
        </p:nvSpPr>
        <p:spPr>
          <a:xfrm>
            <a:off x="841248" y="4297680"/>
            <a:ext cx="4754880" cy="274320"/>
          </a:xfrm>
          <a:prstGeom prst="rect">
            <a:avLst/>
          </a:prstGeom>
          <a:noFill/>
        </p:spPr>
        <p:txBody>
          <a:bodyPr wrap="square" lIns="0" rIns="0" tIns="0" bIns="0" anchor="t">
            <a:spAutoFit/>
          </a:bodyPr>
          <a:lstStyle/>
          <a:p>
            <a:pPr algn="l">
              <a:lnSpc>
                <a:spcPct val="100000"/>
              </a:lnSpc>
            </a:pPr>
            <a:r>
              <a:rPr sz="940" b="0" i="0">
                <a:solidFill>
                  <a:srgbClr val="121517"/>
                </a:solidFill>
                <a:latin typeface="Segoe UI"/>
              </a:rPr>
              <a:t>·  ~1.3 MB total, loaded locally, indexed once</a:t>
            </a:r>
          </a:p>
        </p:txBody>
      </p:sp>
      <p:sp>
        <p:nvSpPr>
          <p:cNvPr id="20" name="Rounded Rectangle 19"/>
          <p:cNvSpPr/>
          <p:nvPr/>
        </p:nvSpPr>
        <p:spPr>
          <a:xfrm>
            <a:off x="6199632" y="1938528"/>
            <a:ext cx="5413248" cy="3154680"/>
          </a:xfrm>
          <a:prstGeom prst="roundRect">
            <a:avLst>
              <a:gd name="adj" fmla="val 3500"/>
            </a:avLst>
          </a:prstGeom>
          <a:solidFill>
            <a:srgbClr val="FBFBFC"/>
          </a:solidFill>
          <a:ln w="9525">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Rectangle 20"/>
          <p:cNvSpPr/>
          <p:nvPr/>
        </p:nvSpPr>
        <p:spPr>
          <a:xfrm>
            <a:off x="6199632" y="1938528"/>
            <a:ext cx="41148" cy="3154680"/>
          </a:xfrm>
          <a:prstGeom prst="rect">
            <a:avLst/>
          </a:prstGeom>
          <a:solidFill>
            <a:srgbClr val="12151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TextBox 21"/>
          <p:cNvSpPr txBox="1"/>
          <p:nvPr/>
        </p:nvSpPr>
        <p:spPr>
          <a:xfrm>
            <a:off x="6473952" y="2103120"/>
            <a:ext cx="4023360" cy="219456"/>
          </a:xfrm>
          <a:prstGeom prst="rect">
            <a:avLst/>
          </a:prstGeom>
          <a:noFill/>
        </p:spPr>
        <p:txBody>
          <a:bodyPr wrap="square" lIns="0" rIns="0" tIns="0" bIns="0" anchor="t">
            <a:spAutoFit/>
          </a:bodyPr>
          <a:lstStyle/>
          <a:p>
            <a:pPr algn="l">
              <a:lnSpc>
                <a:spcPct val="100000"/>
              </a:lnSpc>
            </a:pPr>
            <a:r>
              <a:rPr sz="850" b="1" i="0">
                <a:solidFill>
                  <a:srgbClr val="121517"/>
                </a:solidFill>
                <a:latin typeface="Consolas"/>
              </a:rPr>
              <a:t>2023 → TODAY</a:t>
            </a:r>
          </a:p>
        </p:txBody>
      </p:sp>
      <p:sp>
        <p:nvSpPr>
          <p:cNvPr id="23" name="Rectangle 22"/>
          <p:cNvSpPr/>
          <p:nvPr/>
        </p:nvSpPr>
        <p:spPr>
          <a:xfrm>
            <a:off x="6473952" y="2313432"/>
            <a:ext cx="420624" cy="25603"/>
          </a:xfrm>
          <a:prstGeom prst="rect">
            <a:avLst/>
          </a:prstGeom>
          <a:solidFill>
            <a:srgbClr val="12151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TextBox 23"/>
          <p:cNvSpPr txBox="1"/>
          <p:nvPr/>
        </p:nvSpPr>
        <p:spPr>
          <a:xfrm>
            <a:off x="6473952" y="2432304"/>
            <a:ext cx="4572000" cy="365760"/>
          </a:xfrm>
          <a:prstGeom prst="rect">
            <a:avLst/>
          </a:prstGeom>
          <a:noFill/>
        </p:spPr>
        <p:txBody>
          <a:bodyPr wrap="square" lIns="0" rIns="0" tIns="0" bIns="0" anchor="t">
            <a:spAutoFit/>
          </a:bodyPr>
          <a:lstStyle/>
          <a:p>
            <a:pPr algn="l">
              <a:lnSpc>
                <a:spcPct val="100000"/>
              </a:lnSpc>
            </a:pPr>
            <a:r>
              <a:rPr sz="1900" b="1" i="0">
                <a:solidFill>
                  <a:srgbClr val="121517"/>
                </a:solidFill>
                <a:latin typeface="Segoe UI Semibold"/>
              </a:rPr>
              <a:t>OpenF1 API</a:t>
            </a:r>
          </a:p>
        </p:txBody>
      </p:sp>
      <p:sp>
        <p:nvSpPr>
          <p:cNvPr id="25" name="TextBox 24"/>
          <p:cNvSpPr txBox="1"/>
          <p:nvPr/>
        </p:nvSpPr>
        <p:spPr>
          <a:xfrm>
            <a:off x="6473952" y="2834640"/>
            <a:ext cx="4754880" cy="457200"/>
          </a:xfrm>
          <a:prstGeom prst="rect">
            <a:avLst/>
          </a:prstGeom>
          <a:noFill/>
        </p:spPr>
        <p:txBody>
          <a:bodyPr wrap="square" lIns="0" rIns="0" tIns="0" bIns="0" anchor="t">
            <a:spAutoFit/>
          </a:bodyPr>
          <a:lstStyle/>
          <a:p>
            <a:pPr algn="l">
              <a:lnSpc>
                <a:spcPct val="100000"/>
              </a:lnSpc>
            </a:pPr>
            <a:r>
              <a:rPr sz="1000" b="0" i="0">
                <a:solidFill>
                  <a:srgbClr val="666D74"/>
                </a:solidFill>
                <a:latin typeface="Segoe UI"/>
              </a:rPr>
              <a:t>Session replay, timing and telemetry.</a:t>
            </a:r>
          </a:p>
        </p:txBody>
      </p:sp>
      <p:sp>
        <p:nvSpPr>
          <p:cNvPr id="26" name="TextBox 25"/>
          <p:cNvSpPr txBox="1"/>
          <p:nvPr/>
        </p:nvSpPr>
        <p:spPr>
          <a:xfrm>
            <a:off x="6473952" y="3364992"/>
            <a:ext cx="4846320" cy="274320"/>
          </a:xfrm>
          <a:prstGeom prst="rect">
            <a:avLst/>
          </a:prstGeom>
          <a:noFill/>
        </p:spPr>
        <p:txBody>
          <a:bodyPr wrap="square" lIns="0" rIns="0" tIns="0" bIns="0" anchor="t">
            <a:spAutoFit/>
          </a:bodyPr>
          <a:lstStyle/>
          <a:p>
            <a:pPr algn="l">
              <a:lnSpc>
                <a:spcPct val="100000"/>
              </a:lnSpc>
            </a:pPr>
            <a:r>
              <a:rPr sz="940" b="0" i="0">
                <a:solidFill>
                  <a:srgbClr val="121517"/>
                </a:solidFill>
                <a:latin typeface="Segoe UI"/>
              </a:rPr>
              <a:t>·  Sessions  ·  meetings  ·  drivers  ·  positions</a:t>
            </a:r>
          </a:p>
        </p:txBody>
      </p:sp>
      <p:sp>
        <p:nvSpPr>
          <p:cNvPr id="27" name="TextBox 26"/>
          <p:cNvSpPr txBox="1"/>
          <p:nvPr/>
        </p:nvSpPr>
        <p:spPr>
          <a:xfrm>
            <a:off x="6473952" y="3675888"/>
            <a:ext cx="4846320" cy="274320"/>
          </a:xfrm>
          <a:prstGeom prst="rect">
            <a:avLst/>
          </a:prstGeom>
          <a:noFill/>
        </p:spPr>
        <p:txBody>
          <a:bodyPr wrap="square" lIns="0" rIns="0" tIns="0" bIns="0" anchor="t">
            <a:spAutoFit/>
          </a:bodyPr>
          <a:lstStyle/>
          <a:p>
            <a:pPr algn="l">
              <a:lnSpc>
                <a:spcPct val="100000"/>
              </a:lnSpc>
            </a:pPr>
            <a:r>
              <a:rPr sz="940" b="0" i="0">
                <a:solidFill>
                  <a:srgbClr val="121517"/>
                </a:solidFill>
                <a:latin typeface="Segoe UI"/>
              </a:rPr>
              <a:t>·  Intervals  ·  laps  ·  stints  ·  pit stops</a:t>
            </a:r>
          </a:p>
        </p:txBody>
      </p:sp>
      <p:sp>
        <p:nvSpPr>
          <p:cNvPr id="28" name="TextBox 27"/>
          <p:cNvSpPr txBox="1"/>
          <p:nvPr/>
        </p:nvSpPr>
        <p:spPr>
          <a:xfrm>
            <a:off x="6473952" y="3986784"/>
            <a:ext cx="4846320" cy="274320"/>
          </a:xfrm>
          <a:prstGeom prst="rect">
            <a:avLst/>
          </a:prstGeom>
          <a:noFill/>
        </p:spPr>
        <p:txBody>
          <a:bodyPr wrap="square" lIns="0" rIns="0" tIns="0" bIns="0" anchor="t">
            <a:spAutoFit/>
          </a:bodyPr>
          <a:lstStyle/>
          <a:p>
            <a:pPr algn="l">
              <a:lnSpc>
                <a:spcPct val="100000"/>
              </a:lnSpc>
            </a:pPr>
            <a:r>
              <a:rPr sz="940" b="0" i="0">
                <a:solidFill>
                  <a:srgbClr val="121517"/>
                </a:solidFill>
                <a:latin typeface="Segoe UI"/>
              </a:rPr>
              <a:t>·  Weather  ·  race control  ·  car data</a:t>
            </a:r>
          </a:p>
        </p:txBody>
      </p:sp>
      <p:sp>
        <p:nvSpPr>
          <p:cNvPr id="29" name="TextBox 28"/>
          <p:cNvSpPr txBox="1"/>
          <p:nvPr/>
        </p:nvSpPr>
        <p:spPr>
          <a:xfrm>
            <a:off x="6473952" y="4297680"/>
            <a:ext cx="4846320" cy="274320"/>
          </a:xfrm>
          <a:prstGeom prst="rect">
            <a:avLst/>
          </a:prstGeom>
          <a:noFill/>
        </p:spPr>
        <p:txBody>
          <a:bodyPr wrap="square" lIns="0" rIns="0" tIns="0" bIns="0" anchor="t">
            <a:spAutoFit/>
          </a:bodyPr>
          <a:lstStyle/>
          <a:p>
            <a:pPr algn="l">
              <a:lnSpc>
                <a:spcPct val="100000"/>
              </a:lnSpc>
            </a:pPr>
            <a:r>
              <a:rPr sz="940" b="0" i="0">
                <a:solidFill>
                  <a:srgbClr val="121517"/>
                </a:solidFill>
                <a:latin typeface="Segoe UI"/>
              </a:rPr>
              <a:t>·  3 req/s cap with cache + token bucket</a:t>
            </a:r>
          </a:p>
        </p:txBody>
      </p:sp>
      <p:sp>
        <p:nvSpPr>
          <p:cNvPr id="30" name="TextBox 29"/>
          <p:cNvSpPr txBox="1"/>
          <p:nvPr/>
        </p:nvSpPr>
        <p:spPr>
          <a:xfrm>
            <a:off x="5907024" y="3200400"/>
            <a:ext cx="274320" cy="365760"/>
          </a:xfrm>
          <a:prstGeom prst="rect">
            <a:avLst/>
          </a:prstGeom>
          <a:noFill/>
        </p:spPr>
        <p:txBody>
          <a:bodyPr wrap="square" lIns="0" rIns="0" tIns="0" bIns="0" anchor="t">
            <a:spAutoFit/>
          </a:bodyPr>
          <a:lstStyle/>
          <a:p>
            <a:pPr algn="ctr">
              <a:lnSpc>
                <a:spcPct val="100000"/>
              </a:lnSpc>
            </a:pPr>
            <a:r>
              <a:rPr sz="1800" b="1" i="0">
                <a:solidFill>
                  <a:srgbClr val="E10600"/>
                </a:solidFill>
                <a:latin typeface="Segoe UI"/>
              </a:rPr>
              <a:t>→</a:t>
            </a:r>
          </a:p>
        </p:txBody>
      </p:sp>
      <p:sp>
        <p:nvSpPr>
          <p:cNvPr id="31" name="Rounded Rectangle 30"/>
          <p:cNvSpPr/>
          <p:nvPr/>
        </p:nvSpPr>
        <p:spPr>
          <a:xfrm>
            <a:off x="566928" y="5349240"/>
            <a:ext cx="11045952" cy="713232"/>
          </a:xfrm>
          <a:prstGeom prst="roundRect">
            <a:avLst>
              <a:gd name="adj" fmla="val 3000"/>
            </a:avLst>
          </a:prstGeom>
          <a:solidFill>
            <a:srgbClr val="FBE8E7"/>
          </a:solidFill>
          <a:ln w="9525">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TextBox 31"/>
          <p:cNvSpPr txBox="1"/>
          <p:nvPr/>
        </p:nvSpPr>
        <p:spPr>
          <a:xfrm>
            <a:off x="841248" y="5477256"/>
            <a:ext cx="10515600" cy="457200"/>
          </a:xfrm>
          <a:prstGeom prst="rect">
            <a:avLst/>
          </a:prstGeom>
          <a:noFill/>
        </p:spPr>
        <p:txBody>
          <a:bodyPr wrap="square" lIns="0" rIns="0" tIns="0" bIns="0" anchor="t">
            <a:spAutoFit/>
          </a:bodyPr>
          <a:lstStyle/>
          <a:p>
            <a:pPr algn="l">
              <a:lnSpc>
                <a:spcPct val="100000"/>
              </a:lnSpc>
            </a:pPr>
            <a:r>
              <a:rPr sz="1050" b="0" i="1">
                <a:solidFill>
                  <a:srgbClr val="121517"/>
                </a:solidFill>
                <a:latin typeface="Segoe UI"/>
              </a:rPr>
              <a:t>2026 is reconciled to round 18 of 23 (26 October 2026). An unfinished season shows a leader — never a champion.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Rectangle 2"/>
          <p:cNvSpPr/>
          <p:nvPr/>
        </p:nvSpPr>
        <p:spPr>
          <a:xfrm>
            <a:off x="566928" y="420624"/>
            <a:ext cx="50292" cy="237744"/>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TextBox 3"/>
          <p:cNvSpPr txBox="1"/>
          <p:nvPr/>
        </p:nvSpPr>
        <p:spPr>
          <a:xfrm>
            <a:off x="713232" y="438912"/>
            <a:ext cx="7680960" cy="237744"/>
          </a:xfrm>
          <a:prstGeom prst="rect">
            <a:avLst/>
          </a:prstGeom>
          <a:noFill/>
        </p:spPr>
        <p:txBody>
          <a:bodyPr wrap="square" lIns="0" rIns="0" tIns="0" bIns="0" anchor="t">
            <a:spAutoFit/>
          </a:bodyPr>
          <a:lstStyle/>
          <a:p>
            <a:pPr algn="l">
              <a:lnSpc>
                <a:spcPct val="100000"/>
              </a:lnSpc>
            </a:pPr>
            <a:r>
              <a:rPr sz="900" b="1" i="0">
                <a:solidFill>
                  <a:srgbClr val="666D74"/>
                </a:solidFill>
                <a:latin typeface="Consolas"/>
              </a:rPr>
              <a:t>SCREENS</a:t>
            </a:r>
          </a:p>
        </p:txBody>
      </p:sp>
      <p:sp>
        <p:nvSpPr>
          <p:cNvPr id="5" name="Rectangle 4"/>
          <p:cNvSpPr/>
          <p:nvPr/>
        </p:nvSpPr>
        <p:spPr>
          <a:xfrm>
            <a:off x="566928" y="6336792"/>
            <a:ext cx="11064240" cy="10972"/>
          </a:xfrm>
          <a:prstGeom prst="rect">
            <a:avLst/>
          </a:prstGeom>
          <a:solidFill>
            <a:srgbClr val="D5DA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566928" y="6437376"/>
            <a:ext cx="6400800" cy="228600"/>
          </a:xfrm>
          <a:prstGeom prst="rect">
            <a:avLst/>
          </a:prstGeom>
          <a:noFill/>
        </p:spPr>
        <p:txBody>
          <a:bodyPr wrap="square" lIns="0" rIns="0" tIns="0" bIns="0" anchor="t">
            <a:spAutoFit/>
          </a:bodyPr>
          <a:lstStyle/>
          <a:p>
            <a:pPr algn="l">
              <a:lnSpc>
                <a:spcPct val="100000"/>
              </a:lnSpc>
            </a:pPr>
            <a:r>
              <a:rPr sz="800" b="0" i="0">
                <a:solidFill>
                  <a:srgbClr val="8D949B"/>
                </a:solidFill>
                <a:latin typeface="Consolas"/>
              </a:rPr>
              <a:t>PADDOCK  ·  FORMULA 1 ARCHIVE</a:t>
            </a:r>
          </a:p>
        </p:txBody>
      </p:sp>
      <p:sp>
        <p:nvSpPr>
          <p:cNvPr id="7" name="TextBox 6"/>
          <p:cNvSpPr txBox="1"/>
          <p:nvPr/>
        </p:nvSpPr>
        <p:spPr>
          <a:xfrm>
            <a:off x="10774375" y="6437376"/>
            <a:ext cx="822960" cy="228600"/>
          </a:xfrm>
          <a:prstGeom prst="rect">
            <a:avLst/>
          </a:prstGeom>
          <a:noFill/>
        </p:spPr>
        <p:txBody>
          <a:bodyPr wrap="square" lIns="0" rIns="0" tIns="0" bIns="0" anchor="t">
            <a:spAutoFit/>
          </a:bodyPr>
          <a:lstStyle/>
          <a:p>
            <a:pPr algn="r">
              <a:lnSpc>
                <a:spcPct val="100000"/>
              </a:lnSpc>
            </a:pPr>
            <a:r>
              <a:rPr sz="800" b="0" i="0">
                <a:solidFill>
                  <a:srgbClr val="8D949B"/>
                </a:solidFill>
                <a:latin typeface="Consolas"/>
              </a:rPr>
              <a:t>07 / 15</a:t>
            </a:r>
          </a:p>
        </p:txBody>
      </p:sp>
      <p:sp>
        <p:nvSpPr>
          <p:cNvPr id="8" name="TextBox 7"/>
          <p:cNvSpPr txBox="1"/>
          <p:nvPr/>
        </p:nvSpPr>
        <p:spPr>
          <a:xfrm>
            <a:off x="566928" y="749808"/>
            <a:ext cx="10881360" cy="603504"/>
          </a:xfrm>
          <a:prstGeom prst="rect">
            <a:avLst/>
          </a:prstGeom>
          <a:noFill/>
        </p:spPr>
        <p:txBody>
          <a:bodyPr wrap="square" lIns="0" rIns="0" tIns="0" bIns="0" anchor="t">
            <a:spAutoFit/>
          </a:bodyPr>
          <a:lstStyle/>
          <a:p>
            <a:pPr algn="l">
              <a:lnSpc>
                <a:spcPct val="95000"/>
              </a:lnSpc>
            </a:pPr>
            <a:r>
              <a:rPr sz="2900" b="1" i="0">
                <a:solidFill>
                  <a:srgbClr val="121517"/>
                </a:solidFill>
                <a:latin typeface="Segoe UI Semibold"/>
              </a:rPr>
              <a:t>The season at a glance.</a:t>
            </a:r>
          </a:p>
        </p:txBody>
      </p:sp>
      <p:sp>
        <p:nvSpPr>
          <p:cNvPr id="9" name="TextBox 8"/>
          <p:cNvSpPr txBox="1"/>
          <p:nvPr/>
        </p:nvSpPr>
        <p:spPr>
          <a:xfrm>
            <a:off x="585216" y="1389888"/>
            <a:ext cx="9966960" cy="457200"/>
          </a:xfrm>
          <a:prstGeom prst="rect">
            <a:avLst/>
          </a:prstGeom>
          <a:noFill/>
        </p:spPr>
        <p:txBody>
          <a:bodyPr wrap="square" lIns="0" rIns="0" tIns="0" bIns="0" anchor="t">
            <a:spAutoFit/>
          </a:bodyPr>
          <a:lstStyle/>
          <a:p>
            <a:pPr algn="l">
              <a:lnSpc>
                <a:spcPct val="118000"/>
              </a:lnSpc>
            </a:pPr>
            <a:r>
              <a:rPr sz="1200" b="0" i="0">
                <a:solidFill>
                  <a:srgbClr val="666D74"/>
                </a:solidFill>
                <a:latin typeface="Segoe UI"/>
              </a:rPr>
              <a:t>Home and standings share one hierarchy: context first, numbers second, detail one click away.</a:t>
            </a:r>
          </a:p>
        </p:txBody>
      </p:sp>
      <p:pic>
        <p:nvPicPr>
          <p:cNvPr id="10" name="Picture 9" descr="home.png"/>
          <p:cNvPicPr>
            <a:picLocks noChangeAspect="1"/>
          </p:cNvPicPr>
          <p:nvPr/>
        </p:nvPicPr>
        <p:blipFill>
          <a:blip r:embed="rId2"/>
          <a:stretch>
            <a:fillRect/>
          </a:stretch>
        </p:blipFill>
        <p:spPr>
          <a:xfrm>
            <a:off x="566928" y="1664208"/>
            <a:ext cx="5486400" cy="3771900"/>
          </a:xfrm>
          <a:prstGeom prst="rect">
            <a:avLst/>
          </a:prstGeom>
          <a:ln w="9525">
            <a:solidFill>
              <a:srgbClr val="D5DADE"/>
            </a:solidFill>
          </a:ln>
        </p:spPr>
      </p:pic>
      <p:pic>
        <p:nvPicPr>
          <p:cNvPr id="11" name="Picture 10" descr="standings.png"/>
          <p:cNvPicPr>
            <a:picLocks noChangeAspect="1"/>
          </p:cNvPicPr>
          <p:nvPr/>
        </p:nvPicPr>
        <p:blipFill>
          <a:blip r:embed="rId3"/>
          <a:stretch>
            <a:fillRect/>
          </a:stretch>
        </p:blipFill>
        <p:spPr>
          <a:xfrm>
            <a:off x="6263640" y="1664208"/>
            <a:ext cx="5349240" cy="3677602"/>
          </a:xfrm>
          <a:prstGeom prst="rect">
            <a:avLst/>
          </a:prstGeom>
          <a:ln w="9525">
            <a:solidFill>
              <a:srgbClr val="D5DADE"/>
            </a:solidFill>
          </a:ln>
        </p:spPr>
      </p:pic>
      <p:sp>
        <p:nvSpPr>
          <p:cNvPr id="12" name="TextBox 11"/>
          <p:cNvSpPr txBox="1"/>
          <p:nvPr/>
        </p:nvSpPr>
        <p:spPr>
          <a:xfrm>
            <a:off x="566928" y="5532120"/>
            <a:ext cx="5394960" cy="274320"/>
          </a:xfrm>
          <a:prstGeom prst="rect">
            <a:avLst/>
          </a:prstGeom>
          <a:noFill/>
        </p:spPr>
        <p:txBody>
          <a:bodyPr wrap="square" lIns="0" rIns="0" tIns="0" bIns="0" anchor="t">
            <a:spAutoFit/>
          </a:bodyPr>
          <a:lstStyle/>
          <a:p>
            <a:pPr algn="l">
              <a:lnSpc>
                <a:spcPct val="100000"/>
              </a:lnSpc>
            </a:pPr>
            <a:r>
              <a:rPr sz="800" b="1" i="0">
                <a:solidFill>
                  <a:srgbClr val="E10600"/>
                </a:solidFill>
                <a:latin typeface="Consolas"/>
              </a:rPr>
              <a:t>HOME</a:t>
            </a:r>
          </a:p>
        </p:txBody>
      </p:sp>
      <p:sp>
        <p:nvSpPr>
          <p:cNvPr id="13" name="TextBox 12"/>
          <p:cNvSpPr txBox="1"/>
          <p:nvPr/>
        </p:nvSpPr>
        <p:spPr>
          <a:xfrm>
            <a:off x="566928" y="5760720"/>
            <a:ext cx="5394960" cy="457200"/>
          </a:xfrm>
          <a:prstGeom prst="rect">
            <a:avLst/>
          </a:prstGeom>
          <a:noFill/>
        </p:spPr>
        <p:txBody>
          <a:bodyPr wrap="square" lIns="0" rIns="0" tIns="0" bIns="0" anchor="t">
            <a:spAutoFit/>
          </a:bodyPr>
          <a:lstStyle/>
          <a:p>
            <a:pPr algn="l">
              <a:lnSpc>
                <a:spcPct val="100000"/>
              </a:lnSpc>
            </a:pPr>
            <a:r>
              <a:rPr sz="930" b="0" i="0">
                <a:solidFill>
                  <a:srgbClr val="666D74"/>
                </a:solidFill>
                <a:latin typeface="Segoe UI"/>
              </a:rPr>
              <a:t>MP4/4 hero, 2026 top five, archive totals, latest and next race.</a:t>
            </a:r>
          </a:p>
        </p:txBody>
      </p:sp>
      <p:sp>
        <p:nvSpPr>
          <p:cNvPr id="14" name="TextBox 13"/>
          <p:cNvSpPr txBox="1"/>
          <p:nvPr/>
        </p:nvSpPr>
        <p:spPr>
          <a:xfrm>
            <a:off x="6263640" y="5532120"/>
            <a:ext cx="5303520" cy="274320"/>
          </a:xfrm>
          <a:prstGeom prst="rect">
            <a:avLst/>
          </a:prstGeom>
          <a:noFill/>
        </p:spPr>
        <p:txBody>
          <a:bodyPr wrap="square" lIns="0" rIns="0" tIns="0" bIns="0" anchor="t">
            <a:spAutoFit/>
          </a:bodyPr>
          <a:lstStyle/>
          <a:p>
            <a:pPr algn="l">
              <a:lnSpc>
                <a:spcPct val="100000"/>
              </a:lnSpc>
            </a:pPr>
            <a:r>
              <a:rPr sz="800" b="1" i="0">
                <a:solidFill>
                  <a:srgbClr val="666D74"/>
                </a:solidFill>
                <a:latin typeface="Consolas"/>
              </a:rPr>
              <a:t>STANDINGS</a:t>
            </a:r>
          </a:p>
        </p:txBody>
      </p:sp>
      <p:sp>
        <p:nvSpPr>
          <p:cNvPr id="15" name="TextBox 14"/>
          <p:cNvSpPr txBox="1"/>
          <p:nvPr/>
        </p:nvSpPr>
        <p:spPr>
          <a:xfrm>
            <a:off x="6263640" y="5760720"/>
            <a:ext cx="5303520" cy="457200"/>
          </a:xfrm>
          <a:prstGeom prst="rect">
            <a:avLst/>
          </a:prstGeom>
          <a:noFill/>
        </p:spPr>
        <p:txBody>
          <a:bodyPr wrap="square" lIns="0" rIns="0" tIns="0" bIns="0" anchor="t">
            <a:spAutoFit/>
          </a:bodyPr>
          <a:lstStyle/>
          <a:p>
            <a:pPr algn="l">
              <a:lnSpc>
                <a:spcPct val="100000"/>
              </a:lnSpc>
            </a:pPr>
            <a:r>
              <a:rPr sz="930" b="0" i="0">
                <a:solidFill>
                  <a:srgbClr val="666D74"/>
                </a:solidFill>
                <a:latin typeface="Segoe UI"/>
              </a:rPr>
              <a:t>Drivers' and constructors' tables, with a leader card for an unfinished season.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Rectangle 2"/>
          <p:cNvSpPr/>
          <p:nvPr/>
        </p:nvSpPr>
        <p:spPr>
          <a:xfrm>
            <a:off x="566928" y="420624"/>
            <a:ext cx="50292" cy="237744"/>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TextBox 3"/>
          <p:cNvSpPr txBox="1"/>
          <p:nvPr/>
        </p:nvSpPr>
        <p:spPr>
          <a:xfrm>
            <a:off x="713232" y="438912"/>
            <a:ext cx="7680960" cy="237744"/>
          </a:xfrm>
          <a:prstGeom prst="rect">
            <a:avLst/>
          </a:prstGeom>
          <a:noFill/>
        </p:spPr>
        <p:txBody>
          <a:bodyPr wrap="square" lIns="0" rIns="0" tIns="0" bIns="0" anchor="t">
            <a:spAutoFit/>
          </a:bodyPr>
          <a:lstStyle/>
          <a:p>
            <a:pPr algn="l">
              <a:lnSpc>
                <a:spcPct val="100000"/>
              </a:lnSpc>
            </a:pPr>
            <a:r>
              <a:rPr sz="900" b="1" i="0">
                <a:solidFill>
                  <a:srgbClr val="666D74"/>
                </a:solidFill>
                <a:latin typeface="Consolas"/>
              </a:rPr>
              <a:t>RACE DETAIL</a:t>
            </a:r>
          </a:p>
        </p:txBody>
      </p:sp>
      <p:sp>
        <p:nvSpPr>
          <p:cNvPr id="5" name="Rectangle 4"/>
          <p:cNvSpPr/>
          <p:nvPr/>
        </p:nvSpPr>
        <p:spPr>
          <a:xfrm>
            <a:off x="566928" y="6336792"/>
            <a:ext cx="11064240" cy="10972"/>
          </a:xfrm>
          <a:prstGeom prst="rect">
            <a:avLst/>
          </a:prstGeom>
          <a:solidFill>
            <a:srgbClr val="D5DA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566928" y="6437376"/>
            <a:ext cx="6400800" cy="228600"/>
          </a:xfrm>
          <a:prstGeom prst="rect">
            <a:avLst/>
          </a:prstGeom>
          <a:noFill/>
        </p:spPr>
        <p:txBody>
          <a:bodyPr wrap="square" lIns="0" rIns="0" tIns="0" bIns="0" anchor="t">
            <a:spAutoFit/>
          </a:bodyPr>
          <a:lstStyle/>
          <a:p>
            <a:pPr algn="l">
              <a:lnSpc>
                <a:spcPct val="100000"/>
              </a:lnSpc>
            </a:pPr>
            <a:r>
              <a:rPr sz="800" b="0" i="0">
                <a:solidFill>
                  <a:srgbClr val="8D949B"/>
                </a:solidFill>
                <a:latin typeface="Consolas"/>
              </a:rPr>
              <a:t>PADDOCK  ·  FORMULA 1 ARCHIVE</a:t>
            </a:r>
          </a:p>
        </p:txBody>
      </p:sp>
      <p:sp>
        <p:nvSpPr>
          <p:cNvPr id="7" name="TextBox 6"/>
          <p:cNvSpPr txBox="1"/>
          <p:nvPr/>
        </p:nvSpPr>
        <p:spPr>
          <a:xfrm>
            <a:off x="10774375" y="6437376"/>
            <a:ext cx="822960" cy="228600"/>
          </a:xfrm>
          <a:prstGeom prst="rect">
            <a:avLst/>
          </a:prstGeom>
          <a:noFill/>
        </p:spPr>
        <p:txBody>
          <a:bodyPr wrap="square" lIns="0" rIns="0" tIns="0" bIns="0" anchor="t">
            <a:spAutoFit/>
          </a:bodyPr>
          <a:lstStyle/>
          <a:p>
            <a:pPr algn="r">
              <a:lnSpc>
                <a:spcPct val="100000"/>
              </a:lnSpc>
            </a:pPr>
            <a:r>
              <a:rPr sz="800" b="0" i="0">
                <a:solidFill>
                  <a:srgbClr val="8D949B"/>
                </a:solidFill>
                <a:latin typeface="Consolas"/>
              </a:rPr>
              <a:t>08 / 15</a:t>
            </a:r>
          </a:p>
        </p:txBody>
      </p:sp>
      <p:sp>
        <p:nvSpPr>
          <p:cNvPr id="8" name="TextBox 7"/>
          <p:cNvSpPr txBox="1"/>
          <p:nvPr/>
        </p:nvSpPr>
        <p:spPr>
          <a:xfrm>
            <a:off x="566928" y="749808"/>
            <a:ext cx="10881360" cy="603504"/>
          </a:xfrm>
          <a:prstGeom prst="rect">
            <a:avLst/>
          </a:prstGeom>
          <a:noFill/>
        </p:spPr>
        <p:txBody>
          <a:bodyPr wrap="square" lIns="0" rIns="0" tIns="0" bIns="0" anchor="t">
            <a:spAutoFit/>
          </a:bodyPr>
          <a:lstStyle/>
          <a:p>
            <a:pPr algn="l">
              <a:lnSpc>
                <a:spcPct val="95000"/>
              </a:lnSpc>
            </a:pPr>
            <a:r>
              <a:rPr sz="2900" b="1" i="0">
                <a:solidFill>
                  <a:srgbClr val="121517"/>
                </a:solidFill>
                <a:latin typeface="Segoe UI Semibold"/>
              </a:rPr>
              <a:t>Every race gets a proper story.</a:t>
            </a:r>
          </a:p>
        </p:txBody>
      </p:sp>
      <p:sp>
        <p:nvSpPr>
          <p:cNvPr id="9" name="TextBox 8"/>
          <p:cNvSpPr txBox="1"/>
          <p:nvPr/>
        </p:nvSpPr>
        <p:spPr>
          <a:xfrm>
            <a:off x="585216" y="1389888"/>
            <a:ext cx="9966960" cy="457200"/>
          </a:xfrm>
          <a:prstGeom prst="rect">
            <a:avLst/>
          </a:prstGeom>
          <a:noFill/>
        </p:spPr>
        <p:txBody>
          <a:bodyPr wrap="square" lIns="0" rIns="0" tIns="0" bIns="0" anchor="t">
            <a:spAutoFit/>
          </a:bodyPr>
          <a:lstStyle/>
          <a:p>
            <a:pPr algn="l">
              <a:lnSpc>
                <a:spcPct val="118000"/>
              </a:lnSpc>
            </a:pPr>
            <a:r>
              <a:rPr sz="1200" b="0" i="0">
                <a:solidFill>
                  <a:srgbClr val="666D74"/>
                </a:solidFill>
                <a:latin typeface="Segoe UI"/>
              </a:rPr>
              <a:t>A classification page turns a row in a CSV into a readable race report.</a:t>
            </a:r>
          </a:p>
        </p:txBody>
      </p:sp>
      <p:pic>
        <p:nvPicPr>
          <p:cNvPr id="10" name="Picture 9" descr="race-detail.png"/>
          <p:cNvPicPr>
            <a:picLocks noChangeAspect="1"/>
          </p:cNvPicPr>
          <p:nvPr/>
        </p:nvPicPr>
        <p:blipFill>
          <a:blip r:embed="rId2"/>
          <a:stretch>
            <a:fillRect/>
          </a:stretch>
        </p:blipFill>
        <p:spPr>
          <a:xfrm>
            <a:off x="566928" y="1691640"/>
            <a:ext cx="6400800" cy="4400550"/>
          </a:xfrm>
          <a:prstGeom prst="rect">
            <a:avLst/>
          </a:prstGeom>
          <a:ln w="9525">
            <a:solidFill>
              <a:srgbClr val="D5DADE"/>
            </a:solidFill>
          </a:ln>
        </p:spPr>
      </p:pic>
      <p:sp>
        <p:nvSpPr>
          <p:cNvPr id="11" name="Rounded Rectangle 10"/>
          <p:cNvSpPr/>
          <p:nvPr/>
        </p:nvSpPr>
        <p:spPr>
          <a:xfrm>
            <a:off x="7818120" y="1883664"/>
            <a:ext cx="3794760" cy="713232"/>
          </a:xfrm>
          <a:prstGeom prst="roundRect">
            <a:avLst>
              <a:gd name="adj" fmla="val 3500"/>
            </a:avLst>
          </a:prstGeom>
          <a:solidFill>
            <a:srgbClr val="FBFBFC"/>
          </a:solidFill>
          <a:ln w="9525">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TextBox 11"/>
          <p:cNvSpPr txBox="1"/>
          <p:nvPr/>
        </p:nvSpPr>
        <p:spPr>
          <a:xfrm>
            <a:off x="8001000" y="1975104"/>
            <a:ext cx="3383280" cy="256032"/>
          </a:xfrm>
          <a:prstGeom prst="rect">
            <a:avLst/>
          </a:prstGeom>
          <a:noFill/>
        </p:spPr>
        <p:txBody>
          <a:bodyPr wrap="square" lIns="0" rIns="0" tIns="0" bIns="0" anchor="t">
            <a:spAutoFit/>
          </a:bodyPr>
          <a:lstStyle/>
          <a:p>
            <a:pPr algn="l">
              <a:lnSpc>
                <a:spcPct val="100000"/>
              </a:lnSpc>
            </a:pPr>
            <a:r>
              <a:rPr sz="1050" b="1" i="0">
                <a:solidFill>
                  <a:srgbClr val="121517"/>
                </a:solidFill>
                <a:latin typeface="Segoe UI"/>
              </a:rPr>
              <a:t>Winner hero</a:t>
            </a:r>
          </a:p>
        </p:txBody>
      </p:sp>
      <p:sp>
        <p:nvSpPr>
          <p:cNvPr id="13" name="TextBox 12"/>
          <p:cNvSpPr txBox="1"/>
          <p:nvPr/>
        </p:nvSpPr>
        <p:spPr>
          <a:xfrm>
            <a:off x="8001000" y="2231136"/>
            <a:ext cx="3429000" cy="310896"/>
          </a:xfrm>
          <a:prstGeom prst="rect">
            <a:avLst/>
          </a:prstGeom>
          <a:noFill/>
        </p:spPr>
        <p:txBody>
          <a:bodyPr wrap="square" lIns="0" rIns="0" tIns="0" bIns="0" anchor="t">
            <a:spAutoFit/>
          </a:bodyPr>
          <a:lstStyle/>
          <a:p>
            <a:pPr algn="l">
              <a:lnSpc>
                <a:spcPct val="110000"/>
              </a:lnSpc>
            </a:pPr>
            <a:r>
              <a:rPr sz="860" b="0" i="0">
                <a:solidFill>
                  <a:srgbClr val="666D74"/>
                </a:solidFill>
                <a:latin typeface="Segoe UI"/>
              </a:rPr>
              <a:t>A 2 px team-colour rule, podium, race time and grid drop.</a:t>
            </a:r>
          </a:p>
        </p:txBody>
      </p:sp>
      <p:sp>
        <p:nvSpPr>
          <p:cNvPr id="14" name="Rounded Rectangle 13"/>
          <p:cNvSpPr/>
          <p:nvPr/>
        </p:nvSpPr>
        <p:spPr>
          <a:xfrm>
            <a:off x="7818120" y="2724912"/>
            <a:ext cx="3794760" cy="713232"/>
          </a:xfrm>
          <a:prstGeom prst="roundRect">
            <a:avLst>
              <a:gd name="adj" fmla="val 3500"/>
            </a:avLst>
          </a:prstGeom>
          <a:solidFill>
            <a:srgbClr val="FBFBFC"/>
          </a:solidFill>
          <a:ln w="9525">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TextBox 14"/>
          <p:cNvSpPr txBox="1"/>
          <p:nvPr/>
        </p:nvSpPr>
        <p:spPr>
          <a:xfrm>
            <a:off x="8001000" y="2816352"/>
            <a:ext cx="3383280" cy="256032"/>
          </a:xfrm>
          <a:prstGeom prst="rect">
            <a:avLst/>
          </a:prstGeom>
          <a:noFill/>
        </p:spPr>
        <p:txBody>
          <a:bodyPr wrap="square" lIns="0" rIns="0" tIns="0" bIns="0" anchor="t">
            <a:spAutoFit/>
          </a:bodyPr>
          <a:lstStyle/>
          <a:p>
            <a:pPr algn="l">
              <a:lnSpc>
                <a:spcPct val="100000"/>
              </a:lnSpc>
            </a:pPr>
            <a:r>
              <a:rPr sz="1050" b="1" i="0">
                <a:solidFill>
                  <a:srgbClr val="121517"/>
                </a:solidFill>
                <a:latin typeface="Segoe UI"/>
              </a:rPr>
              <a:t>Fastest lap</a:t>
            </a:r>
          </a:p>
        </p:txBody>
      </p:sp>
      <p:sp>
        <p:nvSpPr>
          <p:cNvPr id="16" name="TextBox 15"/>
          <p:cNvSpPr txBox="1"/>
          <p:nvPr/>
        </p:nvSpPr>
        <p:spPr>
          <a:xfrm>
            <a:off x="8001000" y="3072384"/>
            <a:ext cx="3429000" cy="310896"/>
          </a:xfrm>
          <a:prstGeom prst="rect">
            <a:avLst/>
          </a:prstGeom>
          <a:noFill/>
        </p:spPr>
        <p:txBody>
          <a:bodyPr wrap="square" lIns="0" rIns="0" tIns="0" bIns="0" anchor="t">
            <a:spAutoFit/>
          </a:bodyPr>
          <a:lstStyle/>
          <a:p>
            <a:pPr algn="l">
              <a:lnSpc>
                <a:spcPct val="110000"/>
              </a:lnSpc>
            </a:pPr>
            <a:r>
              <a:rPr sz="860" b="0" i="0">
                <a:solidFill>
                  <a:srgbClr val="666D74"/>
                </a:solidFill>
                <a:latin typeface="Segoe UI"/>
              </a:rPr>
              <a:t>Driver, lap time and top speed in one card.</a:t>
            </a:r>
          </a:p>
        </p:txBody>
      </p:sp>
      <p:sp>
        <p:nvSpPr>
          <p:cNvPr id="17" name="Rounded Rectangle 16"/>
          <p:cNvSpPr/>
          <p:nvPr/>
        </p:nvSpPr>
        <p:spPr>
          <a:xfrm>
            <a:off x="7818120" y="3566160"/>
            <a:ext cx="3794760" cy="713232"/>
          </a:xfrm>
          <a:prstGeom prst="roundRect">
            <a:avLst>
              <a:gd name="adj" fmla="val 3500"/>
            </a:avLst>
          </a:prstGeom>
          <a:solidFill>
            <a:srgbClr val="FBFBFC"/>
          </a:solidFill>
          <a:ln w="9525">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TextBox 17"/>
          <p:cNvSpPr txBox="1"/>
          <p:nvPr/>
        </p:nvSpPr>
        <p:spPr>
          <a:xfrm>
            <a:off x="8001000" y="3657600"/>
            <a:ext cx="3383280" cy="256032"/>
          </a:xfrm>
          <a:prstGeom prst="rect">
            <a:avLst/>
          </a:prstGeom>
          <a:noFill/>
        </p:spPr>
        <p:txBody>
          <a:bodyPr wrap="square" lIns="0" rIns="0" tIns="0" bIns="0" anchor="t">
            <a:spAutoFit/>
          </a:bodyPr>
          <a:lstStyle/>
          <a:p>
            <a:pPr algn="l">
              <a:lnSpc>
                <a:spcPct val="100000"/>
              </a:lnSpc>
            </a:pPr>
            <a:r>
              <a:rPr sz="1050" b="1" i="0">
                <a:solidFill>
                  <a:srgbClr val="121517"/>
                </a:solidFill>
                <a:latin typeface="Segoe UI"/>
              </a:rPr>
              <a:t>Classification</a:t>
            </a:r>
          </a:p>
        </p:txBody>
      </p:sp>
      <p:sp>
        <p:nvSpPr>
          <p:cNvPr id="19" name="TextBox 18"/>
          <p:cNvSpPr txBox="1"/>
          <p:nvPr/>
        </p:nvSpPr>
        <p:spPr>
          <a:xfrm>
            <a:off x="8001000" y="3913632"/>
            <a:ext cx="3429000" cy="310896"/>
          </a:xfrm>
          <a:prstGeom prst="rect">
            <a:avLst/>
          </a:prstGeom>
          <a:noFill/>
        </p:spPr>
        <p:txBody>
          <a:bodyPr wrap="square" lIns="0" rIns="0" tIns="0" bIns="0" anchor="t">
            <a:spAutoFit/>
          </a:bodyPr>
          <a:lstStyle/>
          <a:p>
            <a:pPr algn="l">
              <a:lnSpc>
                <a:spcPct val="110000"/>
              </a:lnSpc>
            </a:pPr>
            <a:r>
              <a:rPr sz="860" b="0" i="0">
                <a:solidFill>
                  <a:srgbClr val="666D74"/>
                </a:solidFill>
                <a:latin typeface="Segoe UI"/>
              </a:rPr>
              <a:t>Grid delta, laps, time/status, points and FL tag.</a:t>
            </a:r>
          </a:p>
        </p:txBody>
      </p:sp>
      <p:sp>
        <p:nvSpPr>
          <p:cNvPr id="20" name="Rounded Rectangle 19"/>
          <p:cNvSpPr/>
          <p:nvPr/>
        </p:nvSpPr>
        <p:spPr>
          <a:xfrm>
            <a:off x="7818120" y="4407408"/>
            <a:ext cx="3794760" cy="713232"/>
          </a:xfrm>
          <a:prstGeom prst="roundRect">
            <a:avLst>
              <a:gd name="adj" fmla="val 3500"/>
            </a:avLst>
          </a:prstGeom>
          <a:solidFill>
            <a:srgbClr val="FBFBFC"/>
          </a:solidFill>
          <a:ln w="9525">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TextBox 20"/>
          <p:cNvSpPr txBox="1"/>
          <p:nvPr/>
        </p:nvSpPr>
        <p:spPr>
          <a:xfrm>
            <a:off x="8001000" y="4498848"/>
            <a:ext cx="3383280" cy="256032"/>
          </a:xfrm>
          <a:prstGeom prst="rect">
            <a:avLst/>
          </a:prstGeom>
          <a:noFill/>
        </p:spPr>
        <p:txBody>
          <a:bodyPr wrap="square" lIns="0" rIns="0" tIns="0" bIns="0" anchor="t">
            <a:spAutoFit/>
          </a:bodyPr>
          <a:lstStyle/>
          <a:p>
            <a:pPr algn="l">
              <a:lnSpc>
                <a:spcPct val="100000"/>
              </a:lnSpc>
            </a:pPr>
            <a:r>
              <a:rPr sz="1050" b="1" i="0">
                <a:solidFill>
                  <a:srgbClr val="121517"/>
                </a:solidFill>
                <a:latin typeface="Segoe UI"/>
              </a:rPr>
              <a:t>Qualifying</a:t>
            </a:r>
          </a:p>
        </p:txBody>
      </p:sp>
      <p:sp>
        <p:nvSpPr>
          <p:cNvPr id="22" name="TextBox 21"/>
          <p:cNvSpPr txBox="1"/>
          <p:nvPr/>
        </p:nvSpPr>
        <p:spPr>
          <a:xfrm>
            <a:off x="8001000" y="4754880"/>
            <a:ext cx="3429000" cy="310896"/>
          </a:xfrm>
          <a:prstGeom prst="rect">
            <a:avLst/>
          </a:prstGeom>
          <a:noFill/>
        </p:spPr>
        <p:txBody>
          <a:bodyPr wrap="square" lIns="0" rIns="0" tIns="0" bIns="0" anchor="t">
            <a:spAutoFit/>
          </a:bodyPr>
          <a:lstStyle/>
          <a:p>
            <a:pPr algn="l">
              <a:lnSpc>
                <a:spcPct val="110000"/>
              </a:lnSpc>
            </a:pPr>
            <a:r>
              <a:rPr sz="860" b="0" i="0">
                <a:solidFill>
                  <a:srgbClr val="666D74"/>
                </a:solidFill>
                <a:latin typeface="Segoe UI"/>
              </a:rPr>
              <a:t>Q1 / Q2 / Q3 tab with the full session order.</a:t>
            </a:r>
          </a:p>
        </p:txBody>
      </p:sp>
      <p:sp>
        <p:nvSpPr>
          <p:cNvPr id="23" name="Rounded Rectangle 22"/>
          <p:cNvSpPr/>
          <p:nvPr/>
        </p:nvSpPr>
        <p:spPr>
          <a:xfrm>
            <a:off x="7818120" y="5248656"/>
            <a:ext cx="3794760" cy="713232"/>
          </a:xfrm>
          <a:prstGeom prst="roundRect">
            <a:avLst>
              <a:gd name="adj" fmla="val 3500"/>
            </a:avLst>
          </a:prstGeom>
          <a:solidFill>
            <a:srgbClr val="FBFBFC"/>
          </a:solidFill>
          <a:ln w="9525">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TextBox 23"/>
          <p:cNvSpPr txBox="1"/>
          <p:nvPr/>
        </p:nvSpPr>
        <p:spPr>
          <a:xfrm>
            <a:off x="8001000" y="5340096"/>
            <a:ext cx="3383280" cy="256032"/>
          </a:xfrm>
          <a:prstGeom prst="rect">
            <a:avLst/>
          </a:prstGeom>
          <a:noFill/>
        </p:spPr>
        <p:txBody>
          <a:bodyPr wrap="square" lIns="0" rIns="0" tIns="0" bIns="0" anchor="t">
            <a:spAutoFit/>
          </a:bodyPr>
          <a:lstStyle/>
          <a:p>
            <a:pPr algn="l">
              <a:lnSpc>
                <a:spcPct val="100000"/>
              </a:lnSpc>
            </a:pPr>
            <a:r>
              <a:rPr sz="1050" b="1" i="0">
                <a:solidFill>
                  <a:srgbClr val="121517"/>
                </a:solidFill>
                <a:latin typeface="Segoe UI"/>
              </a:rPr>
              <a:t>Context</a:t>
            </a:r>
          </a:p>
        </p:txBody>
      </p:sp>
      <p:sp>
        <p:nvSpPr>
          <p:cNvPr id="25" name="TextBox 24"/>
          <p:cNvSpPr txBox="1"/>
          <p:nvPr/>
        </p:nvSpPr>
        <p:spPr>
          <a:xfrm>
            <a:off x="8001000" y="5596128"/>
            <a:ext cx="3429000" cy="310896"/>
          </a:xfrm>
          <a:prstGeom prst="rect">
            <a:avLst/>
          </a:prstGeom>
          <a:noFill/>
        </p:spPr>
        <p:txBody>
          <a:bodyPr wrap="square" lIns="0" rIns="0" tIns="0" bIns="0" anchor="t">
            <a:spAutoFit/>
          </a:bodyPr>
          <a:lstStyle/>
          <a:p>
            <a:pPr algn="l">
              <a:lnSpc>
                <a:spcPct val="110000"/>
              </a:lnSpc>
            </a:pPr>
            <a:r>
              <a:rPr sz="860" b="0" i="0">
                <a:solidFill>
                  <a:srgbClr val="666D74"/>
                </a:solidFill>
                <a:latin typeface="Segoe UI"/>
              </a:rPr>
              <a:t>Circuit, season stats and previous/next round.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Rectangle 2"/>
          <p:cNvSpPr/>
          <p:nvPr/>
        </p:nvSpPr>
        <p:spPr>
          <a:xfrm>
            <a:off x="566928" y="420624"/>
            <a:ext cx="50292" cy="237744"/>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TextBox 3"/>
          <p:cNvSpPr txBox="1"/>
          <p:nvPr/>
        </p:nvSpPr>
        <p:spPr>
          <a:xfrm>
            <a:off x="713232" y="438912"/>
            <a:ext cx="7680960" cy="237744"/>
          </a:xfrm>
          <a:prstGeom prst="rect">
            <a:avLst/>
          </a:prstGeom>
          <a:noFill/>
        </p:spPr>
        <p:txBody>
          <a:bodyPr wrap="square" lIns="0" rIns="0" tIns="0" bIns="0" anchor="t">
            <a:spAutoFit/>
          </a:bodyPr>
          <a:lstStyle/>
          <a:p>
            <a:pPr algn="l">
              <a:lnSpc>
                <a:spcPct val="100000"/>
              </a:lnSpc>
            </a:pPr>
            <a:r>
              <a:rPr sz="900" b="1" i="0">
                <a:solidFill>
                  <a:srgbClr val="666D74"/>
                </a:solidFill>
                <a:latin typeface="Consolas"/>
              </a:rPr>
              <a:t>LIVE TIMING</a:t>
            </a:r>
          </a:p>
        </p:txBody>
      </p:sp>
      <p:sp>
        <p:nvSpPr>
          <p:cNvPr id="5" name="Rectangle 4"/>
          <p:cNvSpPr/>
          <p:nvPr/>
        </p:nvSpPr>
        <p:spPr>
          <a:xfrm>
            <a:off x="566928" y="6336792"/>
            <a:ext cx="11064240" cy="10972"/>
          </a:xfrm>
          <a:prstGeom prst="rect">
            <a:avLst/>
          </a:prstGeom>
          <a:solidFill>
            <a:srgbClr val="D5DA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566928" y="6437376"/>
            <a:ext cx="6400800" cy="228600"/>
          </a:xfrm>
          <a:prstGeom prst="rect">
            <a:avLst/>
          </a:prstGeom>
          <a:noFill/>
        </p:spPr>
        <p:txBody>
          <a:bodyPr wrap="square" lIns="0" rIns="0" tIns="0" bIns="0" anchor="t">
            <a:spAutoFit/>
          </a:bodyPr>
          <a:lstStyle/>
          <a:p>
            <a:pPr algn="l">
              <a:lnSpc>
                <a:spcPct val="100000"/>
              </a:lnSpc>
            </a:pPr>
            <a:r>
              <a:rPr sz="800" b="0" i="0">
                <a:solidFill>
                  <a:srgbClr val="8D949B"/>
                </a:solidFill>
                <a:latin typeface="Consolas"/>
              </a:rPr>
              <a:t>PADDOCK  ·  FORMULA 1 ARCHIVE</a:t>
            </a:r>
          </a:p>
        </p:txBody>
      </p:sp>
      <p:sp>
        <p:nvSpPr>
          <p:cNvPr id="7" name="TextBox 6"/>
          <p:cNvSpPr txBox="1"/>
          <p:nvPr/>
        </p:nvSpPr>
        <p:spPr>
          <a:xfrm>
            <a:off x="10774375" y="6437376"/>
            <a:ext cx="822960" cy="228600"/>
          </a:xfrm>
          <a:prstGeom prst="rect">
            <a:avLst/>
          </a:prstGeom>
          <a:noFill/>
        </p:spPr>
        <p:txBody>
          <a:bodyPr wrap="square" lIns="0" rIns="0" tIns="0" bIns="0" anchor="t">
            <a:spAutoFit/>
          </a:bodyPr>
          <a:lstStyle/>
          <a:p>
            <a:pPr algn="r">
              <a:lnSpc>
                <a:spcPct val="100000"/>
              </a:lnSpc>
            </a:pPr>
            <a:r>
              <a:rPr sz="800" b="0" i="0">
                <a:solidFill>
                  <a:srgbClr val="8D949B"/>
                </a:solidFill>
                <a:latin typeface="Consolas"/>
              </a:rPr>
              <a:t>09 / 15</a:t>
            </a:r>
          </a:p>
        </p:txBody>
      </p:sp>
      <p:sp>
        <p:nvSpPr>
          <p:cNvPr id="8" name="TextBox 7"/>
          <p:cNvSpPr txBox="1"/>
          <p:nvPr/>
        </p:nvSpPr>
        <p:spPr>
          <a:xfrm>
            <a:off x="566928" y="749808"/>
            <a:ext cx="10881360" cy="603504"/>
          </a:xfrm>
          <a:prstGeom prst="rect">
            <a:avLst/>
          </a:prstGeom>
          <a:noFill/>
        </p:spPr>
        <p:txBody>
          <a:bodyPr wrap="square" lIns="0" rIns="0" tIns="0" bIns="0" anchor="t">
            <a:spAutoFit/>
          </a:bodyPr>
          <a:lstStyle/>
          <a:p>
            <a:pPr algn="l">
              <a:lnSpc>
                <a:spcPct val="95000"/>
              </a:lnSpc>
            </a:pPr>
            <a:r>
              <a:rPr sz="2900" b="1" i="0">
                <a:solidFill>
                  <a:srgbClr val="121517"/>
                </a:solidFill>
                <a:latin typeface="Segoe UI Semibold"/>
              </a:rPr>
              <a:t>Replay today. Poll live when you have a token.</a:t>
            </a:r>
          </a:p>
        </p:txBody>
      </p:sp>
      <p:sp>
        <p:nvSpPr>
          <p:cNvPr id="9" name="TextBox 8"/>
          <p:cNvSpPr txBox="1"/>
          <p:nvPr/>
        </p:nvSpPr>
        <p:spPr>
          <a:xfrm>
            <a:off x="585216" y="1389888"/>
            <a:ext cx="9966960" cy="457200"/>
          </a:xfrm>
          <a:prstGeom prst="rect">
            <a:avLst/>
          </a:prstGeom>
          <a:noFill/>
        </p:spPr>
        <p:txBody>
          <a:bodyPr wrap="square" lIns="0" rIns="0" tIns="0" bIns="0" anchor="t">
            <a:spAutoFit/>
          </a:bodyPr>
          <a:lstStyle/>
          <a:p>
            <a:pPr algn="l">
              <a:lnSpc>
                <a:spcPct val="118000"/>
              </a:lnSpc>
            </a:pPr>
            <a:r>
              <a:rPr sz="1200" b="0" i="0">
                <a:solidFill>
                  <a:srgbClr val="666D74"/>
                </a:solidFill>
                <a:latin typeface="Segoe UI"/>
              </a:rPr>
              <a:t>OpenF1 data drives a timing tower, race control, weather and a windowed telemetry trace.</a:t>
            </a:r>
          </a:p>
        </p:txBody>
      </p:sp>
      <p:pic>
        <p:nvPicPr>
          <p:cNvPr id="10" name="Picture 9" descr="live.png"/>
          <p:cNvPicPr>
            <a:picLocks noChangeAspect="1"/>
          </p:cNvPicPr>
          <p:nvPr/>
        </p:nvPicPr>
        <p:blipFill>
          <a:blip r:embed="rId2"/>
          <a:stretch>
            <a:fillRect/>
          </a:stretch>
        </p:blipFill>
        <p:spPr>
          <a:xfrm>
            <a:off x="566928" y="1691640"/>
            <a:ext cx="6400800" cy="4400550"/>
          </a:xfrm>
          <a:prstGeom prst="rect">
            <a:avLst/>
          </a:prstGeom>
          <a:ln w="9525">
            <a:solidFill>
              <a:srgbClr val="D5DADE"/>
            </a:solidFill>
          </a:ln>
        </p:spPr>
      </p:pic>
      <p:sp>
        <p:nvSpPr>
          <p:cNvPr id="11" name="Rounded Rectangle 10"/>
          <p:cNvSpPr/>
          <p:nvPr/>
        </p:nvSpPr>
        <p:spPr>
          <a:xfrm>
            <a:off x="7818120" y="1883664"/>
            <a:ext cx="3794760" cy="877824"/>
          </a:xfrm>
          <a:prstGeom prst="roundRect">
            <a:avLst>
              <a:gd name="adj" fmla="val 3500"/>
            </a:avLst>
          </a:prstGeom>
          <a:solidFill>
            <a:srgbClr val="FBFBFC"/>
          </a:solidFill>
          <a:ln w="9525">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Rectangle 11"/>
          <p:cNvSpPr/>
          <p:nvPr/>
        </p:nvSpPr>
        <p:spPr>
          <a:xfrm>
            <a:off x="7818120" y="1883664"/>
            <a:ext cx="41148" cy="877824"/>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TextBox 12"/>
          <p:cNvSpPr txBox="1"/>
          <p:nvPr/>
        </p:nvSpPr>
        <p:spPr>
          <a:xfrm>
            <a:off x="8010144" y="2002536"/>
            <a:ext cx="3383280" cy="256032"/>
          </a:xfrm>
          <a:prstGeom prst="rect">
            <a:avLst/>
          </a:prstGeom>
          <a:noFill/>
        </p:spPr>
        <p:txBody>
          <a:bodyPr wrap="square" lIns="0" rIns="0" tIns="0" bIns="0" anchor="t">
            <a:spAutoFit/>
          </a:bodyPr>
          <a:lstStyle/>
          <a:p>
            <a:pPr algn="l">
              <a:lnSpc>
                <a:spcPct val="100000"/>
              </a:lnSpc>
            </a:pPr>
            <a:r>
              <a:rPr sz="1050" b="1" i="0">
                <a:solidFill>
                  <a:srgbClr val="121517"/>
                </a:solidFill>
                <a:latin typeface="Segoe UI"/>
              </a:rPr>
              <a:t>Timing tower</a:t>
            </a:r>
          </a:p>
        </p:txBody>
      </p:sp>
      <p:sp>
        <p:nvSpPr>
          <p:cNvPr id="14" name="TextBox 13"/>
          <p:cNvSpPr txBox="1"/>
          <p:nvPr/>
        </p:nvSpPr>
        <p:spPr>
          <a:xfrm>
            <a:off x="8010144" y="2286000"/>
            <a:ext cx="3429000" cy="384048"/>
          </a:xfrm>
          <a:prstGeom prst="rect">
            <a:avLst/>
          </a:prstGeom>
          <a:noFill/>
        </p:spPr>
        <p:txBody>
          <a:bodyPr wrap="square" lIns="0" rIns="0" tIns="0" bIns="0" anchor="t">
            <a:spAutoFit/>
          </a:bodyPr>
          <a:lstStyle/>
          <a:p>
            <a:pPr algn="l">
              <a:lnSpc>
                <a:spcPct val="112000"/>
              </a:lnSpc>
            </a:pPr>
            <a:r>
              <a:rPr sz="860" b="0" i="0">
                <a:solidFill>
                  <a:srgbClr val="666D74"/>
                </a:solidFill>
                <a:latin typeface="Segoe UI"/>
              </a:rPr>
              <a:t>Position, gap, interval, laps, last/best, tyre age, pit stops.</a:t>
            </a:r>
          </a:p>
        </p:txBody>
      </p:sp>
      <p:sp>
        <p:nvSpPr>
          <p:cNvPr id="15" name="Rounded Rectangle 14"/>
          <p:cNvSpPr/>
          <p:nvPr/>
        </p:nvSpPr>
        <p:spPr>
          <a:xfrm>
            <a:off x="7818120" y="2907792"/>
            <a:ext cx="3794760" cy="877824"/>
          </a:xfrm>
          <a:prstGeom prst="roundRect">
            <a:avLst>
              <a:gd name="adj" fmla="val 3500"/>
            </a:avLst>
          </a:prstGeom>
          <a:solidFill>
            <a:srgbClr val="FBFBFC"/>
          </a:solidFill>
          <a:ln w="9525">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TextBox 15"/>
          <p:cNvSpPr txBox="1"/>
          <p:nvPr/>
        </p:nvSpPr>
        <p:spPr>
          <a:xfrm>
            <a:off x="8010144" y="3026664"/>
            <a:ext cx="3383280" cy="256032"/>
          </a:xfrm>
          <a:prstGeom prst="rect">
            <a:avLst/>
          </a:prstGeom>
          <a:noFill/>
        </p:spPr>
        <p:txBody>
          <a:bodyPr wrap="square" lIns="0" rIns="0" tIns="0" bIns="0" anchor="t">
            <a:spAutoFit/>
          </a:bodyPr>
          <a:lstStyle/>
          <a:p>
            <a:pPr algn="l">
              <a:lnSpc>
                <a:spcPct val="100000"/>
              </a:lnSpc>
            </a:pPr>
            <a:r>
              <a:rPr sz="1050" b="1" i="0">
                <a:solidFill>
                  <a:srgbClr val="121517"/>
                </a:solidFill>
                <a:latin typeface="Segoe UI"/>
              </a:rPr>
              <a:t>Race control</a:t>
            </a:r>
          </a:p>
        </p:txBody>
      </p:sp>
      <p:sp>
        <p:nvSpPr>
          <p:cNvPr id="17" name="TextBox 16"/>
          <p:cNvSpPr txBox="1"/>
          <p:nvPr/>
        </p:nvSpPr>
        <p:spPr>
          <a:xfrm>
            <a:off x="8010144" y="3310128"/>
            <a:ext cx="3429000" cy="384048"/>
          </a:xfrm>
          <a:prstGeom prst="rect">
            <a:avLst/>
          </a:prstGeom>
          <a:noFill/>
        </p:spPr>
        <p:txBody>
          <a:bodyPr wrap="square" lIns="0" rIns="0" tIns="0" bIns="0" anchor="t">
            <a:spAutoFit/>
          </a:bodyPr>
          <a:lstStyle/>
          <a:p>
            <a:pPr algn="l">
              <a:lnSpc>
                <a:spcPct val="112000"/>
              </a:lnSpc>
            </a:pPr>
            <a:r>
              <a:rPr sz="860" b="0" i="0">
                <a:solidFill>
                  <a:srgbClr val="666D74"/>
                </a:solidFill>
                <a:latin typeface="Segoe UI"/>
              </a:rPr>
              <a:t>Flag-coloured message feed with lap and timestamp.</a:t>
            </a:r>
          </a:p>
        </p:txBody>
      </p:sp>
      <p:sp>
        <p:nvSpPr>
          <p:cNvPr id="18" name="Rounded Rectangle 17"/>
          <p:cNvSpPr/>
          <p:nvPr/>
        </p:nvSpPr>
        <p:spPr>
          <a:xfrm>
            <a:off x="7818120" y="3931920"/>
            <a:ext cx="3794760" cy="877824"/>
          </a:xfrm>
          <a:prstGeom prst="roundRect">
            <a:avLst>
              <a:gd name="adj" fmla="val 3500"/>
            </a:avLst>
          </a:prstGeom>
          <a:solidFill>
            <a:srgbClr val="FBFBFC"/>
          </a:solidFill>
          <a:ln w="9525">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TextBox 18"/>
          <p:cNvSpPr txBox="1"/>
          <p:nvPr/>
        </p:nvSpPr>
        <p:spPr>
          <a:xfrm>
            <a:off x="8010144" y="4050792"/>
            <a:ext cx="3383280" cy="256032"/>
          </a:xfrm>
          <a:prstGeom prst="rect">
            <a:avLst/>
          </a:prstGeom>
          <a:noFill/>
        </p:spPr>
        <p:txBody>
          <a:bodyPr wrap="square" lIns="0" rIns="0" tIns="0" bIns="0" anchor="t">
            <a:spAutoFit/>
          </a:bodyPr>
          <a:lstStyle/>
          <a:p>
            <a:pPr algn="l">
              <a:lnSpc>
                <a:spcPct val="100000"/>
              </a:lnSpc>
            </a:pPr>
            <a:r>
              <a:rPr sz="1050" b="1" i="0">
                <a:solidFill>
                  <a:srgbClr val="121517"/>
                </a:solidFill>
                <a:latin typeface="Segoe UI"/>
              </a:rPr>
              <a:t>Telemetry</a:t>
            </a:r>
          </a:p>
        </p:txBody>
      </p:sp>
      <p:sp>
        <p:nvSpPr>
          <p:cNvPr id="20" name="TextBox 19"/>
          <p:cNvSpPr txBox="1"/>
          <p:nvPr/>
        </p:nvSpPr>
        <p:spPr>
          <a:xfrm>
            <a:off x="8010144" y="4334256"/>
            <a:ext cx="3429000" cy="384048"/>
          </a:xfrm>
          <a:prstGeom prst="rect">
            <a:avLst/>
          </a:prstGeom>
          <a:noFill/>
        </p:spPr>
        <p:txBody>
          <a:bodyPr wrap="square" lIns="0" rIns="0" tIns="0" bIns="0" anchor="t">
            <a:spAutoFit/>
          </a:bodyPr>
          <a:lstStyle/>
          <a:p>
            <a:pPr algn="l">
              <a:lnSpc>
                <a:spcPct val="112000"/>
              </a:lnSpc>
            </a:pPr>
            <a:r>
              <a:rPr sz="860" b="0" i="0">
                <a:solidFill>
                  <a:srgbClr val="666D74"/>
                </a:solidFill>
                <a:latin typeface="Segoe UI"/>
              </a:rPr>
              <a:t>Speed, gear, DRS and gear changes for one lap only.</a:t>
            </a:r>
          </a:p>
        </p:txBody>
      </p:sp>
      <p:sp>
        <p:nvSpPr>
          <p:cNvPr id="21" name="Rounded Rectangle 20"/>
          <p:cNvSpPr/>
          <p:nvPr/>
        </p:nvSpPr>
        <p:spPr>
          <a:xfrm>
            <a:off x="7818120" y="4956048"/>
            <a:ext cx="3794760" cy="877824"/>
          </a:xfrm>
          <a:prstGeom prst="roundRect">
            <a:avLst>
              <a:gd name="adj" fmla="val 3500"/>
            </a:avLst>
          </a:prstGeom>
          <a:solidFill>
            <a:srgbClr val="FBFBFC"/>
          </a:solidFill>
          <a:ln w="9525">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TextBox 21"/>
          <p:cNvSpPr txBox="1"/>
          <p:nvPr/>
        </p:nvSpPr>
        <p:spPr>
          <a:xfrm>
            <a:off x="8010144" y="5074920"/>
            <a:ext cx="3383280" cy="256032"/>
          </a:xfrm>
          <a:prstGeom prst="rect">
            <a:avLst/>
          </a:prstGeom>
          <a:noFill/>
        </p:spPr>
        <p:txBody>
          <a:bodyPr wrap="square" lIns="0" rIns="0" tIns="0" bIns="0" anchor="t">
            <a:spAutoFit/>
          </a:bodyPr>
          <a:lstStyle/>
          <a:p>
            <a:pPr algn="l">
              <a:lnSpc>
                <a:spcPct val="100000"/>
              </a:lnSpc>
            </a:pPr>
            <a:r>
              <a:rPr sz="1050" b="1" i="0">
                <a:solidFill>
                  <a:srgbClr val="121517"/>
                </a:solidFill>
                <a:latin typeface="Segoe UI"/>
              </a:rPr>
              <a:t>Safe by default</a:t>
            </a:r>
          </a:p>
        </p:txBody>
      </p:sp>
      <p:sp>
        <p:nvSpPr>
          <p:cNvPr id="23" name="TextBox 22"/>
          <p:cNvSpPr txBox="1"/>
          <p:nvPr/>
        </p:nvSpPr>
        <p:spPr>
          <a:xfrm>
            <a:off x="8010144" y="5358384"/>
            <a:ext cx="3429000" cy="384048"/>
          </a:xfrm>
          <a:prstGeom prst="rect">
            <a:avLst/>
          </a:prstGeom>
          <a:noFill/>
        </p:spPr>
        <p:txBody>
          <a:bodyPr wrap="square" lIns="0" rIns="0" tIns="0" bIns="0" anchor="t">
            <a:spAutoFit/>
          </a:bodyPr>
          <a:lstStyle/>
          <a:p>
            <a:pPr algn="l">
              <a:lnSpc>
                <a:spcPct val="112000"/>
              </a:lnSpc>
            </a:pPr>
            <a:r>
              <a:rPr sz="860" b="0" i="0">
                <a:solidFill>
                  <a:srgbClr val="666D74"/>
                </a:solidFill>
                <a:latin typeface="Segoe UI"/>
              </a:rPr>
              <a:t>Polling off until a bearer token is stored locally.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Rectangle 2"/>
          <p:cNvSpPr/>
          <p:nvPr/>
        </p:nvSpPr>
        <p:spPr>
          <a:xfrm>
            <a:off x="566928" y="420624"/>
            <a:ext cx="50292" cy="237744"/>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TextBox 3"/>
          <p:cNvSpPr txBox="1"/>
          <p:nvPr/>
        </p:nvSpPr>
        <p:spPr>
          <a:xfrm>
            <a:off x="713232" y="438912"/>
            <a:ext cx="7680960" cy="237744"/>
          </a:xfrm>
          <a:prstGeom prst="rect">
            <a:avLst/>
          </a:prstGeom>
          <a:noFill/>
        </p:spPr>
        <p:txBody>
          <a:bodyPr wrap="square" lIns="0" rIns="0" tIns="0" bIns="0" anchor="t">
            <a:spAutoFit/>
          </a:bodyPr>
          <a:lstStyle/>
          <a:p>
            <a:pPr algn="l">
              <a:lnSpc>
                <a:spcPct val="100000"/>
              </a:lnSpc>
            </a:pPr>
            <a:r>
              <a:rPr sz="900" b="1" i="0">
                <a:solidFill>
                  <a:srgbClr val="666D74"/>
                </a:solidFill>
                <a:latin typeface="Consolas"/>
              </a:rPr>
              <a:t>ANALYSIS</a:t>
            </a:r>
          </a:p>
        </p:txBody>
      </p:sp>
      <p:sp>
        <p:nvSpPr>
          <p:cNvPr id="5" name="Rectangle 4"/>
          <p:cNvSpPr/>
          <p:nvPr/>
        </p:nvSpPr>
        <p:spPr>
          <a:xfrm>
            <a:off x="566928" y="6336792"/>
            <a:ext cx="11064240" cy="10972"/>
          </a:xfrm>
          <a:prstGeom prst="rect">
            <a:avLst/>
          </a:prstGeom>
          <a:solidFill>
            <a:srgbClr val="D5DA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566928" y="6437376"/>
            <a:ext cx="6400800" cy="228600"/>
          </a:xfrm>
          <a:prstGeom prst="rect">
            <a:avLst/>
          </a:prstGeom>
          <a:noFill/>
        </p:spPr>
        <p:txBody>
          <a:bodyPr wrap="square" lIns="0" rIns="0" tIns="0" bIns="0" anchor="t">
            <a:spAutoFit/>
          </a:bodyPr>
          <a:lstStyle/>
          <a:p>
            <a:pPr algn="l">
              <a:lnSpc>
                <a:spcPct val="100000"/>
              </a:lnSpc>
            </a:pPr>
            <a:r>
              <a:rPr sz="800" b="0" i="0">
                <a:solidFill>
                  <a:srgbClr val="8D949B"/>
                </a:solidFill>
                <a:latin typeface="Consolas"/>
              </a:rPr>
              <a:t>PADDOCK  ·  FORMULA 1 ARCHIVE</a:t>
            </a:r>
          </a:p>
        </p:txBody>
      </p:sp>
      <p:sp>
        <p:nvSpPr>
          <p:cNvPr id="7" name="TextBox 6"/>
          <p:cNvSpPr txBox="1"/>
          <p:nvPr/>
        </p:nvSpPr>
        <p:spPr>
          <a:xfrm>
            <a:off x="10774375" y="6437376"/>
            <a:ext cx="822960" cy="228600"/>
          </a:xfrm>
          <a:prstGeom prst="rect">
            <a:avLst/>
          </a:prstGeom>
          <a:noFill/>
        </p:spPr>
        <p:txBody>
          <a:bodyPr wrap="square" lIns="0" rIns="0" tIns="0" bIns="0" anchor="t">
            <a:spAutoFit/>
          </a:bodyPr>
          <a:lstStyle/>
          <a:p>
            <a:pPr algn="r">
              <a:lnSpc>
                <a:spcPct val="100000"/>
              </a:lnSpc>
            </a:pPr>
            <a:r>
              <a:rPr sz="800" b="0" i="0">
                <a:solidFill>
                  <a:srgbClr val="8D949B"/>
                </a:solidFill>
                <a:latin typeface="Consolas"/>
              </a:rPr>
              <a:t>10 / 15</a:t>
            </a:r>
          </a:p>
        </p:txBody>
      </p:sp>
      <p:sp>
        <p:nvSpPr>
          <p:cNvPr id="8" name="TextBox 7"/>
          <p:cNvSpPr txBox="1"/>
          <p:nvPr/>
        </p:nvSpPr>
        <p:spPr>
          <a:xfrm>
            <a:off x="566928" y="749808"/>
            <a:ext cx="10881360" cy="603504"/>
          </a:xfrm>
          <a:prstGeom prst="rect">
            <a:avLst/>
          </a:prstGeom>
          <a:noFill/>
        </p:spPr>
        <p:txBody>
          <a:bodyPr wrap="square" lIns="0" rIns="0" tIns="0" bIns="0" anchor="t">
            <a:spAutoFit/>
          </a:bodyPr>
          <a:lstStyle/>
          <a:p>
            <a:pPr algn="l">
              <a:lnSpc>
                <a:spcPct val="95000"/>
              </a:lnSpc>
            </a:pPr>
            <a:r>
              <a:rPr sz="2900" b="1" i="0">
                <a:solidFill>
                  <a:srgbClr val="121517"/>
                </a:solidFill>
                <a:latin typeface="Segoe UI Semibold"/>
              </a:rPr>
              <a:t>The archive becomes an argument.</a:t>
            </a:r>
          </a:p>
        </p:txBody>
      </p:sp>
      <p:sp>
        <p:nvSpPr>
          <p:cNvPr id="9" name="TextBox 8"/>
          <p:cNvSpPr txBox="1"/>
          <p:nvPr/>
        </p:nvSpPr>
        <p:spPr>
          <a:xfrm>
            <a:off x="585216" y="1389888"/>
            <a:ext cx="9966960" cy="457200"/>
          </a:xfrm>
          <a:prstGeom prst="rect">
            <a:avLst/>
          </a:prstGeom>
          <a:noFill/>
        </p:spPr>
        <p:txBody>
          <a:bodyPr wrap="square" lIns="0" rIns="0" tIns="0" bIns="0" anchor="t">
            <a:spAutoFit/>
          </a:bodyPr>
          <a:lstStyle/>
          <a:p>
            <a:pPr algn="l">
              <a:lnSpc>
                <a:spcPct val="118000"/>
              </a:lnSpc>
            </a:pPr>
            <a:r>
              <a:rPr sz="1200" b="0" i="0">
                <a:solidFill>
                  <a:srgbClr val="666D74"/>
                </a:solidFill>
                <a:latin typeface="Segoe UI"/>
              </a:rPr>
              <a:t>Records, eras and head-to-head comparisons are computed from the same rows that power the tables.</a:t>
            </a:r>
          </a:p>
        </p:txBody>
      </p:sp>
      <p:pic>
        <p:nvPicPr>
          <p:cNvPr id="10" name="Picture 9" descr="rivalry.png"/>
          <p:cNvPicPr>
            <a:picLocks noChangeAspect="1"/>
          </p:cNvPicPr>
          <p:nvPr/>
        </p:nvPicPr>
        <p:blipFill>
          <a:blip r:embed="rId2"/>
          <a:stretch>
            <a:fillRect/>
          </a:stretch>
        </p:blipFill>
        <p:spPr>
          <a:xfrm>
            <a:off x="566928" y="1664208"/>
            <a:ext cx="5212080" cy="3583305"/>
          </a:xfrm>
          <a:prstGeom prst="rect">
            <a:avLst/>
          </a:prstGeom>
          <a:ln w="9525">
            <a:solidFill>
              <a:srgbClr val="D5DADE"/>
            </a:solidFill>
          </a:ln>
        </p:spPr>
      </p:pic>
      <p:pic>
        <p:nvPicPr>
          <p:cNvPr id="11" name="Picture 10" descr="history.png"/>
          <p:cNvPicPr>
            <a:picLocks noChangeAspect="1"/>
          </p:cNvPicPr>
          <p:nvPr/>
        </p:nvPicPr>
        <p:blipFill>
          <a:blip r:embed="rId3"/>
          <a:stretch>
            <a:fillRect/>
          </a:stretch>
        </p:blipFill>
        <p:spPr>
          <a:xfrm>
            <a:off x="6199632" y="1664208"/>
            <a:ext cx="5212080" cy="3583305"/>
          </a:xfrm>
          <a:prstGeom prst="rect">
            <a:avLst/>
          </a:prstGeom>
          <a:ln w="9525">
            <a:solidFill>
              <a:srgbClr val="D5DADE"/>
            </a:solidFill>
          </a:ln>
        </p:spPr>
      </p:pic>
      <p:sp>
        <p:nvSpPr>
          <p:cNvPr id="12" name="Rounded Rectangle 11"/>
          <p:cNvSpPr/>
          <p:nvPr/>
        </p:nvSpPr>
        <p:spPr>
          <a:xfrm>
            <a:off x="566928" y="5285232"/>
            <a:ext cx="5212080" cy="841248"/>
          </a:xfrm>
          <a:prstGeom prst="roundRect">
            <a:avLst>
              <a:gd name="adj" fmla="val 3000"/>
            </a:avLst>
          </a:prstGeom>
          <a:solidFill>
            <a:srgbClr val="FBFBFC"/>
          </a:solidFill>
          <a:ln w="9525">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Rectangle 12"/>
          <p:cNvSpPr/>
          <p:nvPr/>
        </p:nvSpPr>
        <p:spPr>
          <a:xfrm>
            <a:off x="566928" y="5285232"/>
            <a:ext cx="41148" cy="841248"/>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TextBox 13"/>
          <p:cNvSpPr txBox="1"/>
          <p:nvPr/>
        </p:nvSpPr>
        <p:spPr>
          <a:xfrm>
            <a:off x="768096" y="5394960"/>
            <a:ext cx="4754880" cy="256032"/>
          </a:xfrm>
          <a:prstGeom prst="rect">
            <a:avLst/>
          </a:prstGeom>
          <a:noFill/>
        </p:spPr>
        <p:txBody>
          <a:bodyPr wrap="square" lIns="0" rIns="0" tIns="0" bIns="0" anchor="t">
            <a:spAutoFit/>
          </a:bodyPr>
          <a:lstStyle/>
          <a:p>
            <a:pPr algn="l">
              <a:lnSpc>
                <a:spcPct val="100000"/>
              </a:lnSpc>
            </a:pPr>
            <a:r>
              <a:rPr sz="1000" b="1" i="0">
                <a:solidFill>
                  <a:srgbClr val="121517"/>
                </a:solidFill>
                <a:latin typeface="Segoe UI"/>
              </a:rPr>
              <a:t>Rivalry engine</a:t>
            </a:r>
          </a:p>
        </p:txBody>
      </p:sp>
      <p:sp>
        <p:nvSpPr>
          <p:cNvPr id="15" name="TextBox 14"/>
          <p:cNvSpPr txBox="1"/>
          <p:nvPr/>
        </p:nvSpPr>
        <p:spPr>
          <a:xfrm>
            <a:off x="768096" y="5650992"/>
            <a:ext cx="4754880" cy="384048"/>
          </a:xfrm>
          <a:prstGeom prst="rect">
            <a:avLst/>
          </a:prstGeom>
          <a:noFill/>
        </p:spPr>
        <p:txBody>
          <a:bodyPr wrap="square" lIns="0" rIns="0" tIns="0" bIns="0" anchor="t">
            <a:spAutoFit/>
          </a:bodyPr>
          <a:lstStyle/>
          <a:p>
            <a:pPr algn="l">
              <a:lnSpc>
                <a:spcPct val="110000"/>
              </a:lnSpc>
            </a:pPr>
            <a:r>
              <a:rPr sz="840" b="0" i="0">
                <a:solidFill>
                  <a:srgbClr val="666D74"/>
                </a:solidFill>
                <a:latin typeface="Segoe UI"/>
              </a:rPr>
              <a:t>Any two of 130 drivers. Career totals, points trajectory, shared seasons and a head-to-head score.</a:t>
            </a:r>
          </a:p>
        </p:txBody>
      </p:sp>
      <p:sp>
        <p:nvSpPr>
          <p:cNvPr id="16" name="Rounded Rectangle 15"/>
          <p:cNvSpPr/>
          <p:nvPr/>
        </p:nvSpPr>
        <p:spPr>
          <a:xfrm>
            <a:off x="6199632" y="5285232"/>
            <a:ext cx="5212080" cy="841248"/>
          </a:xfrm>
          <a:prstGeom prst="roundRect">
            <a:avLst>
              <a:gd name="adj" fmla="val 3000"/>
            </a:avLst>
          </a:prstGeom>
          <a:solidFill>
            <a:srgbClr val="FBFBFC"/>
          </a:solidFill>
          <a:ln w="9525">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Rectangle 16"/>
          <p:cNvSpPr/>
          <p:nvPr/>
        </p:nvSpPr>
        <p:spPr>
          <a:xfrm>
            <a:off x="6199632" y="5285232"/>
            <a:ext cx="41148" cy="841248"/>
          </a:xfrm>
          <a:prstGeom prst="rect">
            <a:avLst/>
          </a:prstGeom>
          <a:solidFill>
            <a:srgbClr val="12151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TextBox 17"/>
          <p:cNvSpPr txBox="1"/>
          <p:nvPr/>
        </p:nvSpPr>
        <p:spPr>
          <a:xfrm>
            <a:off x="6400800" y="5394960"/>
            <a:ext cx="4754880" cy="256032"/>
          </a:xfrm>
          <a:prstGeom prst="rect">
            <a:avLst/>
          </a:prstGeom>
          <a:noFill/>
        </p:spPr>
        <p:txBody>
          <a:bodyPr wrap="square" lIns="0" rIns="0" tIns="0" bIns="0" anchor="t">
            <a:spAutoFit/>
          </a:bodyPr>
          <a:lstStyle/>
          <a:p>
            <a:pPr algn="l">
              <a:lnSpc>
                <a:spcPct val="100000"/>
              </a:lnSpc>
            </a:pPr>
            <a:r>
              <a:rPr sz="1000" b="1" i="0">
                <a:solidFill>
                  <a:srgbClr val="121517"/>
                </a:solidFill>
                <a:latin typeface="Segoe UI"/>
              </a:rPr>
              <a:t>History article</a:t>
            </a:r>
          </a:p>
        </p:txBody>
      </p:sp>
      <p:sp>
        <p:nvSpPr>
          <p:cNvPr id="19" name="TextBox 18"/>
          <p:cNvSpPr txBox="1"/>
          <p:nvPr/>
        </p:nvSpPr>
        <p:spPr>
          <a:xfrm>
            <a:off x="6400800" y="5650992"/>
            <a:ext cx="4754880" cy="384048"/>
          </a:xfrm>
          <a:prstGeom prst="rect">
            <a:avLst/>
          </a:prstGeom>
          <a:noFill/>
        </p:spPr>
        <p:txBody>
          <a:bodyPr wrap="square" lIns="0" rIns="0" tIns="0" bIns="0" anchor="t">
            <a:spAutoFit/>
          </a:bodyPr>
          <a:lstStyle/>
          <a:p>
            <a:pPr algn="l">
              <a:lnSpc>
                <a:spcPct val="110000"/>
              </a:lnSpc>
            </a:pPr>
            <a:r>
              <a:rPr sz="840" b="0" i="0">
                <a:solidFill>
                  <a:srgbClr val="666D74"/>
                </a:solidFill>
                <a:latin typeface="Segoe UI"/>
              </a:rPr>
              <a:t>Wikipedia-style lead, infobox, five eras, four rivalries, champions table and records.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Rectangle 2"/>
          <p:cNvSpPr/>
          <p:nvPr/>
        </p:nvSpPr>
        <p:spPr>
          <a:xfrm>
            <a:off x="566928" y="420624"/>
            <a:ext cx="50292" cy="237744"/>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TextBox 3"/>
          <p:cNvSpPr txBox="1"/>
          <p:nvPr/>
        </p:nvSpPr>
        <p:spPr>
          <a:xfrm>
            <a:off x="713232" y="438912"/>
            <a:ext cx="7680960" cy="237744"/>
          </a:xfrm>
          <a:prstGeom prst="rect">
            <a:avLst/>
          </a:prstGeom>
          <a:noFill/>
        </p:spPr>
        <p:txBody>
          <a:bodyPr wrap="square" lIns="0" rIns="0" tIns="0" bIns="0" anchor="t">
            <a:spAutoFit/>
          </a:bodyPr>
          <a:lstStyle/>
          <a:p>
            <a:pPr algn="l">
              <a:lnSpc>
                <a:spcPct val="100000"/>
              </a:lnSpc>
            </a:pPr>
            <a:r>
              <a:rPr sz="900" b="1" i="0">
                <a:solidFill>
                  <a:srgbClr val="666D74"/>
                </a:solidFill>
                <a:latin typeface="Consolas"/>
              </a:rPr>
              <a:t>IMAGERY</a:t>
            </a:r>
          </a:p>
        </p:txBody>
      </p:sp>
      <p:sp>
        <p:nvSpPr>
          <p:cNvPr id="5" name="Rectangle 4"/>
          <p:cNvSpPr/>
          <p:nvPr/>
        </p:nvSpPr>
        <p:spPr>
          <a:xfrm>
            <a:off x="566928" y="6336792"/>
            <a:ext cx="11064240" cy="10972"/>
          </a:xfrm>
          <a:prstGeom prst="rect">
            <a:avLst/>
          </a:prstGeom>
          <a:solidFill>
            <a:srgbClr val="D5DA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566928" y="6437376"/>
            <a:ext cx="6400800" cy="228600"/>
          </a:xfrm>
          <a:prstGeom prst="rect">
            <a:avLst/>
          </a:prstGeom>
          <a:noFill/>
        </p:spPr>
        <p:txBody>
          <a:bodyPr wrap="square" lIns="0" rIns="0" tIns="0" bIns="0" anchor="t">
            <a:spAutoFit/>
          </a:bodyPr>
          <a:lstStyle/>
          <a:p>
            <a:pPr algn="l">
              <a:lnSpc>
                <a:spcPct val="100000"/>
              </a:lnSpc>
            </a:pPr>
            <a:r>
              <a:rPr sz="800" b="0" i="0">
                <a:solidFill>
                  <a:srgbClr val="8D949B"/>
                </a:solidFill>
                <a:latin typeface="Consolas"/>
              </a:rPr>
              <a:t>PADDOCK  ·  FORMULA 1 ARCHIVE</a:t>
            </a:r>
          </a:p>
        </p:txBody>
      </p:sp>
      <p:sp>
        <p:nvSpPr>
          <p:cNvPr id="7" name="TextBox 6"/>
          <p:cNvSpPr txBox="1"/>
          <p:nvPr/>
        </p:nvSpPr>
        <p:spPr>
          <a:xfrm>
            <a:off x="10774375" y="6437376"/>
            <a:ext cx="822960" cy="228600"/>
          </a:xfrm>
          <a:prstGeom prst="rect">
            <a:avLst/>
          </a:prstGeom>
          <a:noFill/>
        </p:spPr>
        <p:txBody>
          <a:bodyPr wrap="square" lIns="0" rIns="0" tIns="0" bIns="0" anchor="t">
            <a:spAutoFit/>
          </a:bodyPr>
          <a:lstStyle/>
          <a:p>
            <a:pPr algn="r">
              <a:lnSpc>
                <a:spcPct val="100000"/>
              </a:lnSpc>
            </a:pPr>
            <a:r>
              <a:rPr sz="800" b="0" i="0">
                <a:solidFill>
                  <a:srgbClr val="8D949B"/>
                </a:solidFill>
                <a:latin typeface="Consolas"/>
              </a:rPr>
              <a:t>11 / 15</a:t>
            </a:r>
          </a:p>
        </p:txBody>
      </p:sp>
      <p:sp>
        <p:nvSpPr>
          <p:cNvPr id="8" name="TextBox 7"/>
          <p:cNvSpPr txBox="1"/>
          <p:nvPr/>
        </p:nvSpPr>
        <p:spPr>
          <a:xfrm>
            <a:off x="566928" y="749808"/>
            <a:ext cx="10881360" cy="603504"/>
          </a:xfrm>
          <a:prstGeom prst="rect">
            <a:avLst/>
          </a:prstGeom>
          <a:noFill/>
        </p:spPr>
        <p:txBody>
          <a:bodyPr wrap="square" lIns="0" rIns="0" tIns="0" bIns="0" anchor="t">
            <a:spAutoFit/>
          </a:bodyPr>
          <a:lstStyle/>
          <a:p>
            <a:pPr algn="l">
              <a:lnSpc>
                <a:spcPct val="95000"/>
              </a:lnSpc>
            </a:pPr>
            <a:r>
              <a:rPr sz="2900" b="1" i="0">
                <a:solidFill>
                  <a:srgbClr val="121517"/>
                </a:solidFill>
                <a:latin typeface="Segoe UI Semibold"/>
              </a:rPr>
              <a:t>Every team and every circuit has an image.</a:t>
            </a:r>
          </a:p>
        </p:txBody>
      </p:sp>
      <p:sp>
        <p:nvSpPr>
          <p:cNvPr id="9" name="TextBox 8"/>
          <p:cNvSpPr txBox="1"/>
          <p:nvPr/>
        </p:nvSpPr>
        <p:spPr>
          <a:xfrm>
            <a:off x="585216" y="1389888"/>
            <a:ext cx="9966960" cy="457200"/>
          </a:xfrm>
          <a:prstGeom prst="rect">
            <a:avLst/>
          </a:prstGeom>
          <a:noFill/>
        </p:spPr>
        <p:txBody>
          <a:bodyPr wrap="square" lIns="0" rIns="0" tIns="0" bIns="0" anchor="t">
            <a:spAutoFit/>
          </a:bodyPr>
          <a:lstStyle/>
          <a:p>
            <a:pPr algn="l">
              <a:lnSpc>
                <a:spcPct val="118000"/>
              </a:lnSpc>
            </a:pPr>
            <a:r>
              <a:rPr sz="1200" b="0" i="0">
                <a:solidFill>
                  <a:srgbClr val="666D74"/>
                </a:solidFill>
                <a:latin typeface="Segoe UI"/>
              </a:rPr>
              <a:t>Real marks where they can be licensed, designed fallbacks where they cannot — and credit for all of it.</a:t>
            </a:r>
          </a:p>
        </p:txBody>
      </p:sp>
      <p:pic>
        <p:nvPicPr>
          <p:cNvPr id="10" name="Picture 9" descr="teams.png"/>
          <p:cNvPicPr>
            <a:picLocks noChangeAspect="1"/>
          </p:cNvPicPr>
          <p:nvPr/>
        </p:nvPicPr>
        <p:blipFill>
          <a:blip r:embed="rId2"/>
          <a:stretch>
            <a:fillRect/>
          </a:stretch>
        </p:blipFill>
        <p:spPr>
          <a:xfrm>
            <a:off x="566928" y="1664208"/>
            <a:ext cx="5212080" cy="3583305"/>
          </a:xfrm>
          <a:prstGeom prst="rect">
            <a:avLst/>
          </a:prstGeom>
          <a:ln w="9525">
            <a:solidFill>
              <a:srgbClr val="D5DADE"/>
            </a:solidFill>
          </a:ln>
        </p:spPr>
      </p:pic>
      <p:pic>
        <p:nvPicPr>
          <p:cNvPr id="11" name="Picture 10" descr="credits.png"/>
          <p:cNvPicPr>
            <a:picLocks noChangeAspect="1"/>
          </p:cNvPicPr>
          <p:nvPr/>
        </p:nvPicPr>
        <p:blipFill>
          <a:blip r:embed="rId3"/>
          <a:stretch>
            <a:fillRect/>
          </a:stretch>
        </p:blipFill>
        <p:spPr>
          <a:xfrm>
            <a:off x="6199632" y="1664208"/>
            <a:ext cx="5212080" cy="3583305"/>
          </a:xfrm>
          <a:prstGeom prst="rect">
            <a:avLst/>
          </a:prstGeom>
          <a:ln w="9525">
            <a:solidFill>
              <a:srgbClr val="D5DADE"/>
            </a:solidFill>
          </a:ln>
        </p:spPr>
      </p:pic>
      <p:sp>
        <p:nvSpPr>
          <p:cNvPr id="12" name="TextBox 11"/>
          <p:cNvSpPr txBox="1"/>
          <p:nvPr/>
        </p:nvSpPr>
        <p:spPr>
          <a:xfrm>
            <a:off x="566928" y="5413248"/>
            <a:ext cx="2651760" cy="310896"/>
          </a:xfrm>
          <a:prstGeom prst="rect">
            <a:avLst/>
          </a:prstGeom>
          <a:noFill/>
        </p:spPr>
        <p:txBody>
          <a:bodyPr wrap="square" lIns="0" rIns="0" tIns="0" bIns="0" anchor="t">
            <a:spAutoFit/>
          </a:bodyPr>
          <a:lstStyle/>
          <a:p>
            <a:pPr algn="l">
              <a:lnSpc>
                <a:spcPct val="100000"/>
              </a:lnSpc>
            </a:pPr>
            <a:r>
              <a:rPr sz="1500" b="1" i="0">
                <a:solidFill>
                  <a:srgbClr val="E10600"/>
                </a:solidFill>
                <a:latin typeface="Segoe UI Semibold"/>
              </a:rPr>
              <a:t>35 of 40</a:t>
            </a:r>
          </a:p>
        </p:txBody>
      </p:sp>
      <p:sp>
        <p:nvSpPr>
          <p:cNvPr id="13" name="TextBox 12"/>
          <p:cNvSpPr txBox="1"/>
          <p:nvPr/>
        </p:nvSpPr>
        <p:spPr>
          <a:xfrm>
            <a:off x="566928" y="5687568"/>
            <a:ext cx="2651760" cy="219456"/>
          </a:xfrm>
          <a:prstGeom prst="rect">
            <a:avLst/>
          </a:prstGeom>
          <a:noFill/>
        </p:spPr>
        <p:txBody>
          <a:bodyPr wrap="square" lIns="0" rIns="0" tIns="0" bIns="0" anchor="t">
            <a:spAutoFit/>
          </a:bodyPr>
          <a:lstStyle/>
          <a:p>
            <a:pPr algn="l">
              <a:lnSpc>
                <a:spcPct val="100000"/>
              </a:lnSpc>
            </a:pPr>
            <a:r>
              <a:rPr sz="750" b="1" i="0">
                <a:solidFill>
                  <a:srgbClr val="666D74"/>
                </a:solidFill>
                <a:latin typeface="Consolas"/>
              </a:rPr>
              <a:t>TEAM LOGOS</a:t>
            </a:r>
          </a:p>
        </p:txBody>
      </p:sp>
      <p:sp>
        <p:nvSpPr>
          <p:cNvPr id="14" name="TextBox 13"/>
          <p:cNvSpPr txBox="1"/>
          <p:nvPr/>
        </p:nvSpPr>
        <p:spPr>
          <a:xfrm>
            <a:off x="566928" y="5907024"/>
            <a:ext cx="2514600" cy="310896"/>
          </a:xfrm>
          <a:prstGeom prst="rect">
            <a:avLst/>
          </a:prstGeom>
          <a:noFill/>
        </p:spPr>
        <p:txBody>
          <a:bodyPr wrap="square" lIns="0" rIns="0" tIns="0" bIns="0" anchor="t">
            <a:spAutoFit/>
          </a:bodyPr>
          <a:lstStyle/>
          <a:p>
            <a:pPr algn="l">
              <a:lnSpc>
                <a:spcPct val="110000"/>
              </a:lnSpc>
            </a:pPr>
            <a:r>
              <a:rPr sz="780" b="0" i="0">
                <a:solidFill>
                  <a:srgbClr val="666D74"/>
                </a:solidFill>
                <a:latin typeface="Segoe UI"/>
              </a:rPr>
              <a:t>Five defunct teams render a typographic crest.</a:t>
            </a:r>
          </a:p>
        </p:txBody>
      </p:sp>
      <p:sp>
        <p:nvSpPr>
          <p:cNvPr id="15" name="TextBox 14"/>
          <p:cNvSpPr txBox="1"/>
          <p:nvPr/>
        </p:nvSpPr>
        <p:spPr>
          <a:xfrm>
            <a:off x="3355848" y="5413248"/>
            <a:ext cx="2651760" cy="310896"/>
          </a:xfrm>
          <a:prstGeom prst="rect">
            <a:avLst/>
          </a:prstGeom>
          <a:noFill/>
        </p:spPr>
        <p:txBody>
          <a:bodyPr wrap="square" lIns="0" rIns="0" tIns="0" bIns="0" anchor="t">
            <a:spAutoFit/>
          </a:bodyPr>
          <a:lstStyle/>
          <a:p>
            <a:pPr algn="l">
              <a:lnSpc>
                <a:spcPct val="100000"/>
              </a:lnSpc>
            </a:pPr>
            <a:r>
              <a:rPr sz="1500" b="1" i="0">
                <a:solidFill>
                  <a:srgbClr val="121517"/>
                </a:solidFill>
                <a:latin typeface="Segoe UI Semibold"/>
              </a:rPr>
              <a:t>39 of 39</a:t>
            </a:r>
          </a:p>
        </p:txBody>
      </p:sp>
      <p:sp>
        <p:nvSpPr>
          <p:cNvPr id="16" name="TextBox 15"/>
          <p:cNvSpPr txBox="1"/>
          <p:nvPr/>
        </p:nvSpPr>
        <p:spPr>
          <a:xfrm>
            <a:off x="3355848" y="5687568"/>
            <a:ext cx="2651760" cy="219456"/>
          </a:xfrm>
          <a:prstGeom prst="rect">
            <a:avLst/>
          </a:prstGeom>
          <a:noFill/>
        </p:spPr>
        <p:txBody>
          <a:bodyPr wrap="square" lIns="0" rIns="0" tIns="0" bIns="0" anchor="t">
            <a:spAutoFit/>
          </a:bodyPr>
          <a:lstStyle/>
          <a:p>
            <a:pPr algn="l">
              <a:lnSpc>
                <a:spcPct val="100000"/>
              </a:lnSpc>
            </a:pPr>
            <a:r>
              <a:rPr sz="750" b="1" i="0">
                <a:solidFill>
                  <a:srgbClr val="666D74"/>
                </a:solidFill>
                <a:latin typeface="Consolas"/>
              </a:rPr>
              <a:t>CIRCUIT MAPS</a:t>
            </a:r>
          </a:p>
        </p:txBody>
      </p:sp>
      <p:sp>
        <p:nvSpPr>
          <p:cNvPr id="17" name="TextBox 16"/>
          <p:cNvSpPr txBox="1"/>
          <p:nvPr/>
        </p:nvSpPr>
        <p:spPr>
          <a:xfrm>
            <a:off x="3355848" y="5907024"/>
            <a:ext cx="2514600" cy="310896"/>
          </a:xfrm>
          <a:prstGeom prst="rect">
            <a:avLst/>
          </a:prstGeom>
          <a:noFill/>
        </p:spPr>
        <p:txBody>
          <a:bodyPr wrap="square" lIns="0" rIns="0" tIns="0" bIns="0" anchor="t">
            <a:spAutoFit/>
          </a:bodyPr>
          <a:lstStyle/>
          <a:p>
            <a:pPr algn="l">
              <a:lnSpc>
                <a:spcPct val="110000"/>
              </a:lnSpc>
            </a:pPr>
            <a:r>
              <a:rPr sz="780" b="0" i="0">
                <a:solidFill>
                  <a:srgbClr val="666D74"/>
                </a:solidFill>
                <a:latin typeface="Segoe UI"/>
              </a:rPr>
              <a:t>Every venue resolves to its official layout image.</a:t>
            </a:r>
          </a:p>
        </p:txBody>
      </p:sp>
      <p:sp>
        <p:nvSpPr>
          <p:cNvPr id="18" name="TextBox 17"/>
          <p:cNvSpPr txBox="1"/>
          <p:nvPr/>
        </p:nvSpPr>
        <p:spPr>
          <a:xfrm>
            <a:off x="6144768" y="5413248"/>
            <a:ext cx="2651760" cy="310896"/>
          </a:xfrm>
          <a:prstGeom prst="rect">
            <a:avLst/>
          </a:prstGeom>
          <a:noFill/>
        </p:spPr>
        <p:txBody>
          <a:bodyPr wrap="square" lIns="0" rIns="0" tIns="0" bIns="0" anchor="t">
            <a:spAutoFit/>
          </a:bodyPr>
          <a:lstStyle/>
          <a:p>
            <a:pPr algn="l">
              <a:lnSpc>
                <a:spcPct val="100000"/>
              </a:lnSpc>
            </a:pPr>
            <a:r>
              <a:rPr sz="1500" b="1" i="0">
                <a:solidFill>
                  <a:srgbClr val="121517"/>
                </a:solidFill>
                <a:latin typeface="Segoe UI Semibold"/>
              </a:rPr>
              <a:t>28</a:t>
            </a:r>
          </a:p>
        </p:txBody>
      </p:sp>
      <p:sp>
        <p:nvSpPr>
          <p:cNvPr id="19" name="TextBox 18"/>
          <p:cNvSpPr txBox="1"/>
          <p:nvPr/>
        </p:nvSpPr>
        <p:spPr>
          <a:xfrm>
            <a:off x="6144768" y="5687568"/>
            <a:ext cx="2651760" cy="219456"/>
          </a:xfrm>
          <a:prstGeom prst="rect">
            <a:avLst/>
          </a:prstGeom>
          <a:noFill/>
        </p:spPr>
        <p:txBody>
          <a:bodyPr wrap="square" lIns="0" rIns="0" tIns="0" bIns="0" anchor="t">
            <a:spAutoFit/>
          </a:bodyPr>
          <a:lstStyle/>
          <a:p>
            <a:pPr algn="l">
              <a:lnSpc>
                <a:spcPct val="100000"/>
              </a:lnSpc>
            </a:pPr>
            <a:r>
              <a:rPr sz="750" b="1" i="0">
                <a:solidFill>
                  <a:srgbClr val="666D74"/>
                </a:solidFill>
                <a:latin typeface="Consolas"/>
              </a:rPr>
              <a:t>DRIVER PORTRAITS</a:t>
            </a:r>
          </a:p>
        </p:txBody>
      </p:sp>
      <p:sp>
        <p:nvSpPr>
          <p:cNvPr id="20" name="TextBox 19"/>
          <p:cNvSpPr txBox="1"/>
          <p:nvPr/>
        </p:nvSpPr>
        <p:spPr>
          <a:xfrm>
            <a:off x="6144768" y="5907024"/>
            <a:ext cx="2514600" cy="310896"/>
          </a:xfrm>
          <a:prstGeom prst="rect">
            <a:avLst/>
          </a:prstGeom>
          <a:noFill/>
        </p:spPr>
        <p:txBody>
          <a:bodyPr wrap="square" lIns="0" rIns="0" tIns="0" bIns="0" anchor="t">
            <a:spAutoFit/>
          </a:bodyPr>
          <a:lstStyle/>
          <a:p>
            <a:pPr algn="l">
              <a:lnSpc>
                <a:spcPct val="110000"/>
              </a:lnSpc>
            </a:pPr>
            <a:r>
              <a:rPr sz="780" b="0" i="0">
                <a:solidFill>
                  <a:srgbClr val="666D74"/>
                </a:solidFill>
                <a:latin typeface="Segoe UI"/>
              </a:rPr>
              <a:t>OpenF1 headshots; earlier drivers keep monograms.</a:t>
            </a:r>
          </a:p>
        </p:txBody>
      </p:sp>
      <p:sp>
        <p:nvSpPr>
          <p:cNvPr id="21" name="TextBox 20"/>
          <p:cNvSpPr txBox="1"/>
          <p:nvPr/>
        </p:nvSpPr>
        <p:spPr>
          <a:xfrm>
            <a:off x="8933687" y="5413248"/>
            <a:ext cx="2651760" cy="310896"/>
          </a:xfrm>
          <a:prstGeom prst="rect">
            <a:avLst/>
          </a:prstGeom>
          <a:noFill/>
        </p:spPr>
        <p:txBody>
          <a:bodyPr wrap="square" lIns="0" rIns="0" tIns="0" bIns="0" anchor="t">
            <a:spAutoFit/>
          </a:bodyPr>
          <a:lstStyle/>
          <a:p>
            <a:pPr algn="l">
              <a:lnSpc>
                <a:spcPct val="100000"/>
              </a:lnSpc>
            </a:pPr>
            <a:r>
              <a:rPr sz="1500" b="1" i="0">
                <a:solidFill>
                  <a:srgbClr val="121517"/>
                </a:solidFill>
                <a:latin typeface="Segoe UI Semibold"/>
              </a:rPr>
              <a:t>9</a:t>
            </a:r>
          </a:p>
        </p:txBody>
      </p:sp>
      <p:sp>
        <p:nvSpPr>
          <p:cNvPr id="22" name="TextBox 21"/>
          <p:cNvSpPr txBox="1"/>
          <p:nvPr/>
        </p:nvSpPr>
        <p:spPr>
          <a:xfrm>
            <a:off x="8933687" y="5687568"/>
            <a:ext cx="2651760" cy="219456"/>
          </a:xfrm>
          <a:prstGeom prst="rect">
            <a:avLst/>
          </a:prstGeom>
          <a:noFill/>
        </p:spPr>
        <p:txBody>
          <a:bodyPr wrap="square" lIns="0" rIns="0" tIns="0" bIns="0" anchor="t">
            <a:spAutoFit/>
          </a:bodyPr>
          <a:lstStyle/>
          <a:p>
            <a:pPr algn="l">
              <a:lnSpc>
                <a:spcPct val="100000"/>
              </a:lnSpc>
            </a:pPr>
            <a:r>
              <a:rPr sz="750" b="1" i="0">
                <a:solidFill>
                  <a:srgbClr val="666D74"/>
                </a:solidFill>
                <a:latin typeface="Consolas"/>
              </a:rPr>
              <a:t>ARCHIVE PHOTOS</a:t>
            </a:r>
          </a:p>
        </p:txBody>
      </p:sp>
      <p:sp>
        <p:nvSpPr>
          <p:cNvPr id="23" name="TextBox 22"/>
          <p:cNvSpPr txBox="1"/>
          <p:nvPr/>
        </p:nvSpPr>
        <p:spPr>
          <a:xfrm>
            <a:off x="8933687" y="5907024"/>
            <a:ext cx="2514600" cy="310896"/>
          </a:xfrm>
          <a:prstGeom prst="rect">
            <a:avLst/>
          </a:prstGeom>
          <a:noFill/>
        </p:spPr>
        <p:txBody>
          <a:bodyPr wrap="square" lIns="0" rIns="0" tIns="0" bIns="0" anchor="t">
            <a:spAutoFit/>
          </a:bodyPr>
          <a:lstStyle/>
          <a:p>
            <a:pPr algn="l">
              <a:lnSpc>
                <a:spcPct val="110000"/>
              </a:lnSpc>
            </a:pPr>
            <a:r>
              <a:rPr sz="780" b="0" i="0">
                <a:solidFill>
                  <a:srgbClr val="666D74"/>
                </a:solidFill>
                <a:latin typeface="Segoe UI"/>
              </a:rPr>
              <a:t>MP4/4, Hunt–Lauda, Senna and more, credited in-app.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Rectangle 2"/>
          <p:cNvSpPr/>
          <p:nvPr/>
        </p:nvSpPr>
        <p:spPr>
          <a:xfrm>
            <a:off x="566928" y="420624"/>
            <a:ext cx="50292" cy="237744"/>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TextBox 3"/>
          <p:cNvSpPr txBox="1"/>
          <p:nvPr/>
        </p:nvSpPr>
        <p:spPr>
          <a:xfrm>
            <a:off x="713232" y="438912"/>
            <a:ext cx="7680960" cy="237744"/>
          </a:xfrm>
          <a:prstGeom prst="rect">
            <a:avLst/>
          </a:prstGeom>
          <a:noFill/>
        </p:spPr>
        <p:txBody>
          <a:bodyPr wrap="square" lIns="0" rIns="0" tIns="0" bIns="0" anchor="t">
            <a:spAutoFit/>
          </a:bodyPr>
          <a:lstStyle/>
          <a:p>
            <a:pPr algn="l">
              <a:lnSpc>
                <a:spcPct val="100000"/>
              </a:lnSpc>
            </a:pPr>
            <a:r>
              <a:rPr sz="900" b="1" i="0">
                <a:solidFill>
                  <a:srgbClr val="666D74"/>
                </a:solidFill>
                <a:latin typeface="Consolas"/>
              </a:rPr>
              <a:t>QUALITY</a:t>
            </a:r>
          </a:p>
        </p:txBody>
      </p:sp>
      <p:sp>
        <p:nvSpPr>
          <p:cNvPr id="5" name="Rectangle 4"/>
          <p:cNvSpPr/>
          <p:nvPr/>
        </p:nvSpPr>
        <p:spPr>
          <a:xfrm>
            <a:off x="566928" y="6336792"/>
            <a:ext cx="11064240" cy="10972"/>
          </a:xfrm>
          <a:prstGeom prst="rect">
            <a:avLst/>
          </a:prstGeom>
          <a:solidFill>
            <a:srgbClr val="D5DA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566928" y="6437376"/>
            <a:ext cx="6400800" cy="228600"/>
          </a:xfrm>
          <a:prstGeom prst="rect">
            <a:avLst/>
          </a:prstGeom>
          <a:noFill/>
        </p:spPr>
        <p:txBody>
          <a:bodyPr wrap="square" lIns="0" rIns="0" tIns="0" bIns="0" anchor="t">
            <a:spAutoFit/>
          </a:bodyPr>
          <a:lstStyle/>
          <a:p>
            <a:pPr algn="l">
              <a:lnSpc>
                <a:spcPct val="100000"/>
              </a:lnSpc>
            </a:pPr>
            <a:r>
              <a:rPr sz="800" b="0" i="0">
                <a:solidFill>
                  <a:srgbClr val="8D949B"/>
                </a:solidFill>
                <a:latin typeface="Consolas"/>
              </a:rPr>
              <a:t>PADDOCK  ·  FORMULA 1 ARCHIVE</a:t>
            </a:r>
          </a:p>
        </p:txBody>
      </p:sp>
      <p:sp>
        <p:nvSpPr>
          <p:cNvPr id="7" name="TextBox 6"/>
          <p:cNvSpPr txBox="1"/>
          <p:nvPr/>
        </p:nvSpPr>
        <p:spPr>
          <a:xfrm>
            <a:off x="10774375" y="6437376"/>
            <a:ext cx="822960" cy="228600"/>
          </a:xfrm>
          <a:prstGeom prst="rect">
            <a:avLst/>
          </a:prstGeom>
          <a:noFill/>
        </p:spPr>
        <p:txBody>
          <a:bodyPr wrap="square" lIns="0" rIns="0" tIns="0" bIns="0" anchor="t">
            <a:spAutoFit/>
          </a:bodyPr>
          <a:lstStyle/>
          <a:p>
            <a:pPr algn="r">
              <a:lnSpc>
                <a:spcPct val="100000"/>
              </a:lnSpc>
            </a:pPr>
            <a:r>
              <a:rPr sz="800" b="0" i="0">
                <a:solidFill>
                  <a:srgbClr val="8D949B"/>
                </a:solidFill>
                <a:latin typeface="Consolas"/>
              </a:rPr>
              <a:t>12 / 15</a:t>
            </a:r>
          </a:p>
        </p:txBody>
      </p:sp>
      <p:sp>
        <p:nvSpPr>
          <p:cNvPr id="8" name="TextBox 7"/>
          <p:cNvSpPr txBox="1"/>
          <p:nvPr/>
        </p:nvSpPr>
        <p:spPr>
          <a:xfrm>
            <a:off x="566928" y="749808"/>
            <a:ext cx="10881360" cy="603504"/>
          </a:xfrm>
          <a:prstGeom prst="rect">
            <a:avLst/>
          </a:prstGeom>
          <a:noFill/>
        </p:spPr>
        <p:txBody>
          <a:bodyPr wrap="square" lIns="0" rIns="0" tIns="0" bIns="0" anchor="t">
            <a:spAutoFit/>
          </a:bodyPr>
          <a:lstStyle/>
          <a:p>
            <a:pPr algn="l">
              <a:lnSpc>
                <a:spcPct val="95000"/>
              </a:lnSpc>
            </a:pPr>
            <a:r>
              <a:rPr sz="2900" b="1" i="0">
                <a:solidFill>
                  <a:srgbClr val="121517"/>
                </a:solidFill>
                <a:latin typeface="Segoe UI Semibold"/>
              </a:rPr>
              <a:t>Fast, accessible, and honest about limits.</a:t>
            </a:r>
          </a:p>
        </p:txBody>
      </p:sp>
      <p:sp>
        <p:nvSpPr>
          <p:cNvPr id="9" name="TextBox 8"/>
          <p:cNvSpPr txBox="1"/>
          <p:nvPr/>
        </p:nvSpPr>
        <p:spPr>
          <a:xfrm>
            <a:off x="585216" y="1389888"/>
            <a:ext cx="9966960" cy="457200"/>
          </a:xfrm>
          <a:prstGeom prst="rect">
            <a:avLst/>
          </a:prstGeom>
          <a:noFill/>
        </p:spPr>
        <p:txBody>
          <a:bodyPr wrap="square" lIns="0" rIns="0" tIns="0" bIns="0" anchor="t">
            <a:spAutoFit/>
          </a:bodyPr>
          <a:lstStyle/>
          <a:p>
            <a:pPr algn="l">
              <a:lnSpc>
                <a:spcPct val="118000"/>
              </a:lnSpc>
            </a:pPr>
            <a:r>
              <a:rPr sz="1200" b="0" i="0">
                <a:solidFill>
                  <a:srgbClr val="666D74"/>
                </a:solidFill>
                <a:latin typeface="Segoe UI"/>
              </a:rPr>
              <a:t>The build is lean, the interface is keyboard-friendly, and the app says when data is unavailable.</a:t>
            </a:r>
          </a:p>
        </p:txBody>
      </p:sp>
      <p:sp>
        <p:nvSpPr>
          <p:cNvPr id="10" name="Rounded Rectangle 9"/>
          <p:cNvSpPr/>
          <p:nvPr/>
        </p:nvSpPr>
        <p:spPr>
          <a:xfrm>
            <a:off x="566928" y="1993392"/>
            <a:ext cx="2651760" cy="1097280"/>
          </a:xfrm>
          <a:prstGeom prst="roundRect">
            <a:avLst>
              <a:gd name="adj" fmla="val 3500"/>
            </a:avLst>
          </a:prstGeom>
          <a:solidFill>
            <a:srgbClr val="FBFBFC"/>
          </a:solidFill>
          <a:ln w="9525">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TextBox 10"/>
          <p:cNvSpPr txBox="1"/>
          <p:nvPr/>
        </p:nvSpPr>
        <p:spPr>
          <a:xfrm>
            <a:off x="795528" y="2130552"/>
            <a:ext cx="2194560" cy="475488"/>
          </a:xfrm>
          <a:prstGeom prst="rect">
            <a:avLst/>
          </a:prstGeom>
          <a:noFill/>
        </p:spPr>
        <p:txBody>
          <a:bodyPr wrap="square" lIns="0" rIns="0" tIns="0" bIns="0" anchor="t">
            <a:spAutoFit/>
          </a:bodyPr>
          <a:lstStyle/>
          <a:p>
            <a:pPr algn="l">
              <a:lnSpc>
                <a:spcPct val="100000"/>
              </a:lnSpc>
            </a:pPr>
            <a:r>
              <a:rPr sz="2700" b="1" i="0">
                <a:solidFill>
                  <a:srgbClr val="121517"/>
                </a:solidFill>
                <a:latin typeface="Segoe UI Semibold"/>
              </a:rPr>
              <a:t>580 kB</a:t>
            </a:r>
          </a:p>
        </p:txBody>
      </p:sp>
      <p:sp>
        <p:nvSpPr>
          <p:cNvPr id="12" name="TextBox 11"/>
          <p:cNvSpPr txBox="1"/>
          <p:nvPr/>
        </p:nvSpPr>
        <p:spPr>
          <a:xfrm>
            <a:off x="795528" y="2633472"/>
            <a:ext cx="2194560" cy="256032"/>
          </a:xfrm>
          <a:prstGeom prst="rect">
            <a:avLst/>
          </a:prstGeom>
          <a:noFill/>
        </p:spPr>
        <p:txBody>
          <a:bodyPr wrap="square" lIns="0" rIns="0" tIns="0" bIns="0" anchor="t">
            <a:spAutoFit/>
          </a:bodyPr>
          <a:lstStyle/>
          <a:p>
            <a:pPr algn="l">
              <a:lnSpc>
                <a:spcPct val="100000"/>
              </a:lnSpc>
            </a:pPr>
            <a:r>
              <a:rPr sz="800" b="1" i="0">
                <a:solidFill>
                  <a:srgbClr val="666D74"/>
                </a:solidFill>
                <a:latin typeface="Consolas"/>
              </a:rPr>
              <a:t>INITIAL RAW BUNDLE</a:t>
            </a:r>
          </a:p>
        </p:txBody>
      </p:sp>
      <p:sp>
        <p:nvSpPr>
          <p:cNvPr id="13" name="Rounded Rectangle 12"/>
          <p:cNvSpPr/>
          <p:nvPr/>
        </p:nvSpPr>
        <p:spPr>
          <a:xfrm>
            <a:off x="3419856" y="1993392"/>
            <a:ext cx="2651760" cy="1097280"/>
          </a:xfrm>
          <a:prstGeom prst="roundRect">
            <a:avLst>
              <a:gd name="adj" fmla="val 3500"/>
            </a:avLst>
          </a:prstGeom>
          <a:solidFill>
            <a:srgbClr val="FBFBFC"/>
          </a:solidFill>
          <a:ln w="9525">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TextBox 13"/>
          <p:cNvSpPr txBox="1"/>
          <p:nvPr/>
        </p:nvSpPr>
        <p:spPr>
          <a:xfrm>
            <a:off x="3648456" y="2130552"/>
            <a:ext cx="2194560" cy="475488"/>
          </a:xfrm>
          <a:prstGeom prst="rect">
            <a:avLst/>
          </a:prstGeom>
          <a:noFill/>
        </p:spPr>
        <p:txBody>
          <a:bodyPr wrap="square" lIns="0" rIns="0" tIns="0" bIns="0" anchor="t">
            <a:spAutoFit/>
          </a:bodyPr>
          <a:lstStyle/>
          <a:p>
            <a:pPr algn="l">
              <a:lnSpc>
                <a:spcPct val="100000"/>
              </a:lnSpc>
            </a:pPr>
            <a:r>
              <a:rPr sz="2700" b="1" i="0">
                <a:solidFill>
                  <a:srgbClr val="121517"/>
                </a:solidFill>
                <a:latin typeface="Segoe UI Semibold"/>
              </a:rPr>
              <a:t>154 kB</a:t>
            </a:r>
          </a:p>
        </p:txBody>
      </p:sp>
      <p:sp>
        <p:nvSpPr>
          <p:cNvPr id="15" name="TextBox 14"/>
          <p:cNvSpPr txBox="1"/>
          <p:nvPr/>
        </p:nvSpPr>
        <p:spPr>
          <a:xfrm>
            <a:off x="3648456" y="2633472"/>
            <a:ext cx="2194560" cy="256032"/>
          </a:xfrm>
          <a:prstGeom prst="rect">
            <a:avLst/>
          </a:prstGeom>
          <a:noFill/>
        </p:spPr>
        <p:txBody>
          <a:bodyPr wrap="square" lIns="0" rIns="0" tIns="0" bIns="0" anchor="t">
            <a:spAutoFit/>
          </a:bodyPr>
          <a:lstStyle/>
          <a:p>
            <a:pPr algn="l">
              <a:lnSpc>
                <a:spcPct val="100000"/>
              </a:lnSpc>
            </a:pPr>
            <a:r>
              <a:rPr sz="800" b="1" i="0">
                <a:solidFill>
                  <a:srgbClr val="666D74"/>
                </a:solidFill>
                <a:latin typeface="Consolas"/>
              </a:rPr>
              <a:t>INITIAL TRANSFER</a:t>
            </a:r>
          </a:p>
        </p:txBody>
      </p:sp>
      <p:sp>
        <p:nvSpPr>
          <p:cNvPr id="16" name="Rounded Rectangle 15"/>
          <p:cNvSpPr/>
          <p:nvPr/>
        </p:nvSpPr>
        <p:spPr>
          <a:xfrm>
            <a:off x="6272784" y="1993392"/>
            <a:ext cx="2651760" cy="1097280"/>
          </a:xfrm>
          <a:prstGeom prst="roundRect">
            <a:avLst>
              <a:gd name="adj" fmla="val 3500"/>
            </a:avLst>
          </a:prstGeom>
          <a:solidFill>
            <a:srgbClr val="FBFBFC"/>
          </a:solidFill>
          <a:ln w="9525">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TextBox 16"/>
          <p:cNvSpPr txBox="1"/>
          <p:nvPr/>
        </p:nvSpPr>
        <p:spPr>
          <a:xfrm>
            <a:off x="6501384" y="2130552"/>
            <a:ext cx="2194560" cy="475488"/>
          </a:xfrm>
          <a:prstGeom prst="rect">
            <a:avLst/>
          </a:prstGeom>
          <a:noFill/>
        </p:spPr>
        <p:txBody>
          <a:bodyPr wrap="square" lIns="0" rIns="0" tIns="0" bIns="0" anchor="t">
            <a:spAutoFit/>
          </a:bodyPr>
          <a:lstStyle/>
          <a:p>
            <a:pPr algn="l">
              <a:lnSpc>
                <a:spcPct val="100000"/>
              </a:lnSpc>
            </a:pPr>
            <a:r>
              <a:rPr sz="2700" b="1" i="0">
                <a:solidFill>
                  <a:srgbClr val="121517"/>
                </a:solidFill>
                <a:latin typeface="Segoe UI Semibold"/>
              </a:rPr>
              <a:t>10</a:t>
            </a:r>
          </a:p>
        </p:txBody>
      </p:sp>
      <p:sp>
        <p:nvSpPr>
          <p:cNvPr id="18" name="TextBox 17"/>
          <p:cNvSpPr txBox="1"/>
          <p:nvPr/>
        </p:nvSpPr>
        <p:spPr>
          <a:xfrm>
            <a:off x="6501384" y="2633472"/>
            <a:ext cx="2194560" cy="256032"/>
          </a:xfrm>
          <a:prstGeom prst="rect">
            <a:avLst/>
          </a:prstGeom>
          <a:noFill/>
        </p:spPr>
        <p:txBody>
          <a:bodyPr wrap="square" lIns="0" rIns="0" tIns="0" bIns="0" anchor="t">
            <a:spAutoFit/>
          </a:bodyPr>
          <a:lstStyle/>
          <a:p>
            <a:pPr algn="l">
              <a:lnSpc>
                <a:spcPct val="100000"/>
              </a:lnSpc>
            </a:pPr>
            <a:r>
              <a:rPr sz="800" b="1" i="0">
                <a:solidFill>
                  <a:srgbClr val="666D74"/>
                </a:solidFill>
                <a:latin typeface="Consolas"/>
              </a:rPr>
              <a:t>LAZY ROUTES</a:t>
            </a:r>
          </a:p>
        </p:txBody>
      </p:sp>
      <p:sp>
        <p:nvSpPr>
          <p:cNvPr id="19" name="Rounded Rectangle 18"/>
          <p:cNvSpPr/>
          <p:nvPr/>
        </p:nvSpPr>
        <p:spPr>
          <a:xfrm>
            <a:off x="9125711" y="1993392"/>
            <a:ext cx="2651760" cy="1097280"/>
          </a:xfrm>
          <a:prstGeom prst="roundRect">
            <a:avLst>
              <a:gd name="adj" fmla="val 3500"/>
            </a:avLst>
          </a:prstGeom>
          <a:solidFill>
            <a:srgbClr val="FBFBFC"/>
          </a:solidFill>
          <a:ln w="9525">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TextBox 19"/>
          <p:cNvSpPr txBox="1"/>
          <p:nvPr/>
        </p:nvSpPr>
        <p:spPr>
          <a:xfrm>
            <a:off x="9354311" y="2130552"/>
            <a:ext cx="2194560" cy="475488"/>
          </a:xfrm>
          <a:prstGeom prst="rect">
            <a:avLst/>
          </a:prstGeom>
          <a:noFill/>
        </p:spPr>
        <p:txBody>
          <a:bodyPr wrap="square" lIns="0" rIns="0" tIns="0" bIns="0" anchor="t">
            <a:spAutoFit/>
          </a:bodyPr>
          <a:lstStyle/>
          <a:p>
            <a:pPr algn="l">
              <a:lnSpc>
                <a:spcPct val="100000"/>
              </a:lnSpc>
            </a:pPr>
            <a:r>
              <a:rPr sz="2700" b="1" i="0">
                <a:solidFill>
                  <a:srgbClr val="121517"/>
                </a:solidFill>
                <a:latin typeface="Segoe UI Semibold"/>
              </a:rPr>
              <a:t>3 req/s</a:t>
            </a:r>
          </a:p>
        </p:txBody>
      </p:sp>
      <p:sp>
        <p:nvSpPr>
          <p:cNvPr id="21" name="TextBox 20"/>
          <p:cNvSpPr txBox="1"/>
          <p:nvPr/>
        </p:nvSpPr>
        <p:spPr>
          <a:xfrm>
            <a:off x="9354311" y="2633472"/>
            <a:ext cx="2194560" cy="256032"/>
          </a:xfrm>
          <a:prstGeom prst="rect">
            <a:avLst/>
          </a:prstGeom>
          <a:noFill/>
        </p:spPr>
        <p:txBody>
          <a:bodyPr wrap="square" lIns="0" rIns="0" tIns="0" bIns="0" anchor="t">
            <a:spAutoFit/>
          </a:bodyPr>
          <a:lstStyle/>
          <a:p>
            <a:pPr algn="l">
              <a:lnSpc>
                <a:spcPct val="100000"/>
              </a:lnSpc>
            </a:pPr>
            <a:r>
              <a:rPr sz="800" b="1" i="0">
                <a:solidFill>
                  <a:srgbClr val="666D74"/>
                </a:solidFill>
                <a:latin typeface="Consolas"/>
              </a:rPr>
              <a:t>OPENF1 BUDGET</a:t>
            </a:r>
          </a:p>
        </p:txBody>
      </p:sp>
      <p:sp>
        <p:nvSpPr>
          <p:cNvPr id="22" name="Rounded Rectangle 21"/>
          <p:cNvSpPr/>
          <p:nvPr/>
        </p:nvSpPr>
        <p:spPr>
          <a:xfrm>
            <a:off x="566928" y="3474720"/>
            <a:ext cx="3456432" cy="2286000"/>
          </a:xfrm>
          <a:prstGeom prst="roundRect">
            <a:avLst>
              <a:gd name="adj" fmla="val 3500"/>
            </a:avLst>
          </a:prstGeom>
          <a:solidFill>
            <a:srgbClr val="FBFBFC"/>
          </a:solidFill>
          <a:ln w="9525">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Rectangle 22"/>
          <p:cNvSpPr/>
          <p:nvPr/>
        </p:nvSpPr>
        <p:spPr>
          <a:xfrm>
            <a:off x="566928" y="3474720"/>
            <a:ext cx="41148" cy="2286000"/>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TextBox 23"/>
          <p:cNvSpPr txBox="1"/>
          <p:nvPr/>
        </p:nvSpPr>
        <p:spPr>
          <a:xfrm>
            <a:off x="795528" y="3630168"/>
            <a:ext cx="3017520" cy="274320"/>
          </a:xfrm>
          <a:prstGeom prst="rect">
            <a:avLst/>
          </a:prstGeom>
          <a:noFill/>
        </p:spPr>
        <p:txBody>
          <a:bodyPr wrap="square" lIns="0" rIns="0" tIns="0" bIns="0" anchor="t">
            <a:spAutoFit/>
          </a:bodyPr>
          <a:lstStyle/>
          <a:p>
            <a:pPr algn="l">
              <a:lnSpc>
                <a:spcPct val="100000"/>
              </a:lnSpc>
            </a:pPr>
            <a:r>
              <a:rPr sz="850" b="1" i="0">
                <a:solidFill>
                  <a:srgbClr val="E10600"/>
                </a:solidFill>
                <a:latin typeface="Consolas"/>
              </a:rPr>
              <a:t>PERFORMANCE</a:t>
            </a:r>
          </a:p>
        </p:txBody>
      </p:sp>
      <p:sp>
        <p:nvSpPr>
          <p:cNvPr id="25" name="TextBox 24"/>
          <p:cNvSpPr txBox="1"/>
          <p:nvPr/>
        </p:nvSpPr>
        <p:spPr>
          <a:xfrm>
            <a:off x="795528" y="4023360"/>
            <a:ext cx="3063240" cy="274320"/>
          </a:xfrm>
          <a:prstGeom prst="rect">
            <a:avLst/>
          </a:prstGeom>
          <a:noFill/>
        </p:spPr>
        <p:txBody>
          <a:bodyPr wrap="square" lIns="0" rIns="0" tIns="0" bIns="0" anchor="t">
            <a:spAutoFit/>
          </a:bodyPr>
          <a:lstStyle/>
          <a:p>
            <a:pPr algn="l">
              <a:lnSpc>
                <a:spcPct val="100000"/>
              </a:lnSpc>
            </a:pPr>
            <a:r>
              <a:rPr sz="919" b="0" i="0">
                <a:solidFill>
                  <a:srgbClr val="121517"/>
                </a:solidFill>
                <a:latin typeface="Segoe UI"/>
              </a:rPr>
              <a:t>·  Route-level code splitting</a:t>
            </a:r>
          </a:p>
        </p:txBody>
      </p:sp>
      <p:sp>
        <p:nvSpPr>
          <p:cNvPr id="26" name="TextBox 25"/>
          <p:cNvSpPr txBox="1"/>
          <p:nvPr/>
        </p:nvSpPr>
        <p:spPr>
          <a:xfrm>
            <a:off x="795528" y="4407408"/>
            <a:ext cx="3063240" cy="274320"/>
          </a:xfrm>
          <a:prstGeom prst="rect">
            <a:avLst/>
          </a:prstGeom>
          <a:noFill/>
        </p:spPr>
        <p:txBody>
          <a:bodyPr wrap="square" lIns="0" rIns="0" tIns="0" bIns="0" anchor="t">
            <a:spAutoFit/>
          </a:bodyPr>
          <a:lstStyle/>
          <a:p>
            <a:pPr algn="l">
              <a:lnSpc>
                <a:spcPct val="100000"/>
              </a:lnSpc>
            </a:pPr>
            <a:r>
              <a:rPr sz="919" b="0" i="0">
                <a:solidFill>
                  <a:srgbClr val="121517"/>
                </a:solidFill>
                <a:latin typeface="Segoe UI"/>
              </a:rPr>
              <a:t>·  Archived CSVs indexed once</a:t>
            </a:r>
          </a:p>
        </p:txBody>
      </p:sp>
      <p:sp>
        <p:nvSpPr>
          <p:cNvPr id="27" name="TextBox 26"/>
          <p:cNvSpPr txBox="1"/>
          <p:nvPr/>
        </p:nvSpPr>
        <p:spPr>
          <a:xfrm>
            <a:off x="795528" y="4791456"/>
            <a:ext cx="3063240" cy="274320"/>
          </a:xfrm>
          <a:prstGeom prst="rect">
            <a:avLst/>
          </a:prstGeom>
          <a:noFill/>
        </p:spPr>
        <p:txBody>
          <a:bodyPr wrap="square" lIns="0" rIns="0" tIns="0" bIns="0" anchor="t">
            <a:spAutoFit/>
          </a:bodyPr>
          <a:lstStyle/>
          <a:p>
            <a:pPr algn="l">
              <a:lnSpc>
                <a:spcPct val="100000"/>
              </a:lnSpc>
            </a:pPr>
            <a:r>
              <a:rPr sz="919" b="0" i="0">
                <a:solidFill>
                  <a:srgbClr val="121517"/>
                </a:solidFill>
                <a:latin typeface="Segoe UI"/>
              </a:rPr>
              <a:t>·  shareReplay on every request</a:t>
            </a:r>
          </a:p>
        </p:txBody>
      </p:sp>
      <p:sp>
        <p:nvSpPr>
          <p:cNvPr id="28" name="TextBox 27"/>
          <p:cNvSpPr txBox="1"/>
          <p:nvPr/>
        </p:nvSpPr>
        <p:spPr>
          <a:xfrm>
            <a:off x="795528" y="5175504"/>
            <a:ext cx="3063240" cy="274320"/>
          </a:xfrm>
          <a:prstGeom prst="rect">
            <a:avLst/>
          </a:prstGeom>
          <a:noFill/>
        </p:spPr>
        <p:txBody>
          <a:bodyPr wrap="square" lIns="0" rIns="0" tIns="0" bIns="0" anchor="t">
            <a:spAutoFit/>
          </a:bodyPr>
          <a:lstStyle/>
          <a:p>
            <a:pPr algn="l">
              <a:lnSpc>
                <a:spcPct val="100000"/>
              </a:lnSpc>
            </a:pPr>
            <a:r>
              <a:rPr sz="919" b="0" i="0">
                <a:solidFill>
                  <a:srgbClr val="121517"/>
                </a:solidFill>
                <a:latin typeface="Segoe UI"/>
              </a:rPr>
              <a:t>·  Budgets enforced in angular.json</a:t>
            </a:r>
          </a:p>
        </p:txBody>
      </p:sp>
      <p:sp>
        <p:nvSpPr>
          <p:cNvPr id="29" name="Rounded Rectangle 28"/>
          <p:cNvSpPr/>
          <p:nvPr/>
        </p:nvSpPr>
        <p:spPr>
          <a:xfrm>
            <a:off x="4297680" y="3474720"/>
            <a:ext cx="3456432" cy="2286000"/>
          </a:xfrm>
          <a:prstGeom prst="roundRect">
            <a:avLst>
              <a:gd name="adj" fmla="val 3500"/>
            </a:avLst>
          </a:prstGeom>
          <a:solidFill>
            <a:srgbClr val="FBFBFC"/>
          </a:solidFill>
          <a:ln w="9525">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TextBox 29"/>
          <p:cNvSpPr txBox="1"/>
          <p:nvPr/>
        </p:nvSpPr>
        <p:spPr>
          <a:xfrm>
            <a:off x="4526280" y="3630168"/>
            <a:ext cx="3017520" cy="274320"/>
          </a:xfrm>
          <a:prstGeom prst="rect">
            <a:avLst/>
          </a:prstGeom>
          <a:noFill/>
        </p:spPr>
        <p:txBody>
          <a:bodyPr wrap="square" lIns="0" rIns="0" tIns="0" bIns="0" anchor="t">
            <a:spAutoFit/>
          </a:bodyPr>
          <a:lstStyle/>
          <a:p>
            <a:pPr algn="l">
              <a:lnSpc>
                <a:spcPct val="100000"/>
              </a:lnSpc>
            </a:pPr>
            <a:r>
              <a:rPr sz="850" b="1" i="0">
                <a:solidFill>
                  <a:srgbClr val="666D74"/>
                </a:solidFill>
                <a:latin typeface="Consolas"/>
              </a:rPr>
              <a:t>ACCESSIBILITY</a:t>
            </a:r>
          </a:p>
        </p:txBody>
      </p:sp>
      <p:sp>
        <p:nvSpPr>
          <p:cNvPr id="31" name="TextBox 30"/>
          <p:cNvSpPr txBox="1"/>
          <p:nvPr/>
        </p:nvSpPr>
        <p:spPr>
          <a:xfrm>
            <a:off x="4526280" y="4023360"/>
            <a:ext cx="3063240" cy="274320"/>
          </a:xfrm>
          <a:prstGeom prst="rect">
            <a:avLst/>
          </a:prstGeom>
          <a:noFill/>
        </p:spPr>
        <p:txBody>
          <a:bodyPr wrap="square" lIns="0" rIns="0" tIns="0" bIns="0" anchor="t">
            <a:spAutoFit/>
          </a:bodyPr>
          <a:lstStyle/>
          <a:p>
            <a:pPr algn="l">
              <a:lnSpc>
                <a:spcPct val="100000"/>
              </a:lnSpc>
            </a:pPr>
            <a:r>
              <a:rPr sz="919" b="0" i="0">
                <a:solidFill>
                  <a:srgbClr val="121517"/>
                </a:solidFill>
                <a:latin typeface="Segoe UI"/>
              </a:rPr>
              <a:t>·  Semantic headings and captions</a:t>
            </a:r>
          </a:p>
        </p:txBody>
      </p:sp>
      <p:sp>
        <p:nvSpPr>
          <p:cNvPr id="32" name="TextBox 31"/>
          <p:cNvSpPr txBox="1"/>
          <p:nvPr/>
        </p:nvSpPr>
        <p:spPr>
          <a:xfrm>
            <a:off x="4526280" y="4407408"/>
            <a:ext cx="3063240" cy="274320"/>
          </a:xfrm>
          <a:prstGeom prst="rect">
            <a:avLst/>
          </a:prstGeom>
          <a:noFill/>
        </p:spPr>
        <p:txBody>
          <a:bodyPr wrap="square" lIns="0" rIns="0" tIns="0" bIns="0" anchor="t">
            <a:spAutoFit/>
          </a:bodyPr>
          <a:lstStyle/>
          <a:p>
            <a:pPr algn="l">
              <a:lnSpc>
                <a:spcPct val="100000"/>
              </a:lnSpc>
            </a:pPr>
            <a:r>
              <a:rPr sz="919" b="0" i="0">
                <a:solidFill>
                  <a:srgbClr val="121517"/>
                </a:solidFill>
                <a:latin typeface="Segoe UI"/>
              </a:rPr>
              <a:t>·  Labelled controls and tab states</a:t>
            </a:r>
          </a:p>
        </p:txBody>
      </p:sp>
      <p:sp>
        <p:nvSpPr>
          <p:cNvPr id="33" name="TextBox 32"/>
          <p:cNvSpPr txBox="1"/>
          <p:nvPr/>
        </p:nvSpPr>
        <p:spPr>
          <a:xfrm>
            <a:off x="4526280" y="4791456"/>
            <a:ext cx="3063240" cy="274320"/>
          </a:xfrm>
          <a:prstGeom prst="rect">
            <a:avLst/>
          </a:prstGeom>
          <a:noFill/>
        </p:spPr>
        <p:txBody>
          <a:bodyPr wrap="square" lIns="0" rIns="0" tIns="0" bIns="0" anchor="t">
            <a:spAutoFit/>
          </a:bodyPr>
          <a:lstStyle/>
          <a:p>
            <a:pPr algn="l">
              <a:lnSpc>
                <a:spcPct val="100000"/>
              </a:lnSpc>
            </a:pPr>
            <a:r>
              <a:rPr sz="919" b="0" i="0">
                <a:solidFill>
                  <a:srgbClr val="121517"/>
                </a:solidFill>
                <a:latin typeface="Segoe UI"/>
              </a:rPr>
              <a:t>·  Visible focus and keyboard nav</a:t>
            </a:r>
          </a:p>
        </p:txBody>
      </p:sp>
      <p:sp>
        <p:nvSpPr>
          <p:cNvPr id="34" name="TextBox 33"/>
          <p:cNvSpPr txBox="1"/>
          <p:nvPr/>
        </p:nvSpPr>
        <p:spPr>
          <a:xfrm>
            <a:off x="4526280" y="5175504"/>
            <a:ext cx="3063240" cy="274320"/>
          </a:xfrm>
          <a:prstGeom prst="rect">
            <a:avLst/>
          </a:prstGeom>
          <a:noFill/>
        </p:spPr>
        <p:txBody>
          <a:bodyPr wrap="square" lIns="0" rIns="0" tIns="0" bIns="0" anchor="t">
            <a:spAutoFit/>
          </a:bodyPr>
          <a:lstStyle/>
          <a:p>
            <a:pPr algn="l">
              <a:lnSpc>
                <a:spcPct val="100000"/>
              </a:lnSpc>
            </a:pPr>
            <a:r>
              <a:rPr sz="919" b="0" i="0">
                <a:solidFill>
                  <a:srgbClr val="121517"/>
                </a:solidFill>
                <a:latin typeface="Segoe UI"/>
              </a:rPr>
              <a:t>·  Reduced motion / transparency</a:t>
            </a:r>
          </a:p>
        </p:txBody>
      </p:sp>
      <p:sp>
        <p:nvSpPr>
          <p:cNvPr id="35" name="Rounded Rectangle 34"/>
          <p:cNvSpPr/>
          <p:nvPr/>
        </p:nvSpPr>
        <p:spPr>
          <a:xfrm>
            <a:off x="8028431" y="3474720"/>
            <a:ext cx="3456432" cy="2286000"/>
          </a:xfrm>
          <a:prstGeom prst="roundRect">
            <a:avLst>
              <a:gd name="adj" fmla="val 3500"/>
            </a:avLst>
          </a:prstGeom>
          <a:solidFill>
            <a:srgbClr val="FBFBFC"/>
          </a:solidFill>
          <a:ln w="9525">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TextBox 35"/>
          <p:cNvSpPr txBox="1"/>
          <p:nvPr/>
        </p:nvSpPr>
        <p:spPr>
          <a:xfrm>
            <a:off x="8257031" y="3630168"/>
            <a:ext cx="3017520" cy="274320"/>
          </a:xfrm>
          <a:prstGeom prst="rect">
            <a:avLst/>
          </a:prstGeom>
          <a:noFill/>
        </p:spPr>
        <p:txBody>
          <a:bodyPr wrap="square" lIns="0" rIns="0" tIns="0" bIns="0" anchor="t">
            <a:spAutoFit/>
          </a:bodyPr>
          <a:lstStyle/>
          <a:p>
            <a:pPr algn="l">
              <a:lnSpc>
                <a:spcPct val="100000"/>
              </a:lnSpc>
            </a:pPr>
            <a:r>
              <a:rPr sz="850" b="1" i="0">
                <a:solidFill>
                  <a:srgbClr val="666D74"/>
                </a:solidFill>
                <a:latin typeface="Consolas"/>
              </a:rPr>
              <a:t>RESILIENCE</a:t>
            </a:r>
          </a:p>
        </p:txBody>
      </p:sp>
      <p:sp>
        <p:nvSpPr>
          <p:cNvPr id="37" name="TextBox 36"/>
          <p:cNvSpPr txBox="1"/>
          <p:nvPr/>
        </p:nvSpPr>
        <p:spPr>
          <a:xfrm>
            <a:off x="8257031" y="4023360"/>
            <a:ext cx="3063240" cy="274320"/>
          </a:xfrm>
          <a:prstGeom prst="rect">
            <a:avLst/>
          </a:prstGeom>
          <a:noFill/>
        </p:spPr>
        <p:txBody>
          <a:bodyPr wrap="square" lIns="0" rIns="0" tIns="0" bIns="0" anchor="t">
            <a:spAutoFit/>
          </a:bodyPr>
          <a:lstStyle/>
          <a:p>
            <a:pPr algn="l">
              <a:lnSpc>
                <a:spcPct val="100000"/>
              </a:lnSpc>
            </a:pPr>
            <a:r>
              <a:rPr sz="919" b="0" i="0">
                <a:solidFill>
                  <a:srgbClr val="121517"/>
                </a:solidFill>
                <a:latin typeface="Segoe UI"/>
              </a:rPr>
              <a:t>·  Skeletons instead of blank screens</a:t>
            </a:r>
          </a:p>
        </p:txBody>
      </p:sp>
      <p:sp>
        <p:nvSpPr>
          <p:cNvPr id="38" name="TextBox 37"/>
          <p:cNvSpPr txBox="1"/>
          <p:nvPr/>
        </p:nvSpPr>
        <p:spPr>
          <a:xfrm>
            <a:off x="8257031" y="4407408"/>
            <a:ext cx="3063240" cy="274320"/>
          </a:xfrm>
          <a:prstGeom prst="rect">
            <a:avLst/>
          </a:prstGeom>
          <a:noFill/>
        </p:spPr>
        <p:txBody>
          <a:bodyPr wrap="square" lIns="0" rIns="0" tIns="0" bIns="0" anchor="t">
            <a:spAutoFit/>
          </a:bodyPr>
          <a:lstStyle/>
          <a:p>
            <a:pPr algn="l">
              <a:lnSpc>
                <a:spcPct val="100000"/>
              </a:lnSpc>
            </a:pPr>
            <a:r>
              <a:rPr sz="919" b="0" i="0">
                <a:solidFill>
                  <a:srgbClr val="121517"/>
                </a:solidFill>
                <a:latin typeface="Segoe UI"/>
              </a:rPr>
              <a:t>·  Designed empty and error states</a:t>
            </a:r>
          </a:p>
        </p:txBody>
      </p:sp>
      <p:sp>
        <p:nvSpPr>
          <p:cNvPr id="39" name="TextBox 38"/>
          <p:cNvSpPr txBox="1"/>
          <p:nvPr/>
        </p:nvSpPr>
        <p:spPr>
          <a:xfrm>
            <a:off x="8257031" y="4791456"/>
            <a:ext cx="3063240" cy="274320"/>
          </a:xfrm>
          <a:prstGeom prst="rect">
            <a:avLst/>
          </a:prstGeom>
          <a:noFill/>
        </p:spPr>
        <p:txBody>
          <a:bodyPr wrap="square" lIns="0" rIns="0" tIns="0" bIns="0" anchor="t">
            <a:spAutoFit/>
          </a:bodyPr>
          <a:lstStyle/>
          <a:p>
            <a:pPr algn="l">
              <a:lnSpc>
                <a:spcPct val="100000"/>
              </a:lnSpc>
            </a:pPr>
            <a:r>
              <a:rPr sz="919" b="0" i="0">
                <a:solidFill>
                  <a:srgbClr val="121517"/>
                </a:solidFill>
                <a:latin typeface="Segoe UI"/>
              </a:rPr>
              <a:t>·  Crest fallback for missing logos</a:t>
            </a:r>
          </a:p>
        </p:txBody>
      </p:sp>
      <p:sp>
        <p:nvSpPr>
          <p:cNvPr id="40" name="TextBox 39"/>
          <p:cNvSpPr txBox="1"/>
          <p:nvPr/>
        </p:nvSpPr>
        <p:spPr>
          <a:xfrm>
            <a:off x="8257031" y="5175504"/>
            <a:ext cx="3063240" cy="274320"/>
          </a:xfrm>
          <a:prstGeom prst="rect">
            <a:avLst/>
          </a:prstGeom>
          <a:noFill/>
        </p:spPr>
        <p:txBody>
          <a:bodyPr wrap="square" lIns="0" rIns="0" tIns="0" bIns="0" anchor="t">
            <a:spAutoFit/>
          </a:bodyPr>
          <a:lstStyle/>
          <a:p>
            <a:pPr algn="l">
              <a:lnSpc>
                <a:spcPct val="100000"/>
              </a:lnSpc>
            </a:pPr>
            <a:r>
              <a:rPr sz="919" b="0" i="0">
                <a:solidFill>
                  <a:srgbClr val="121517"/>
                </a:solidFill>
                <a:latin typeface="Segoe UI"/>
              </a:rPr>
              <a:t>·  Flag fallback for missing maps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Rectangle 2"/>
          <p:cNvSpPr/>
          <p:nvPr/>
        </p:nvSpPr>
        <p:spPr>
          <a:xfrm>
            <a:off x="566928" y="420624"/>
            <a:ext cx="50292" cy="237744"/>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TextBox 3"/>
          <p:cNvSpPr txBox="1"/>
          <p:nvPr/>
        </p:nvSpPr>
        <p:spPr>
          <a:xfrm>
            <a:off x="713232" y="438912"/>
            <a:ext cx="7680960" cy="237744"/>
          </a:xfrm>
          <a:prstGeom prst="rect">
            <a:avLst/>
          </a:prstGeom>
          <a:noFill/>
        </p:spPr>
        <p:txBody>
          <a:bodyPr wrap="square" lIns="0" rIns="0" tIns="0" bIns="0" anchor="t">
            <a:spAutoFit/>
          </a:bodyPr>
          <a:lstStyle/>
          <a:p>
            <a:pPr algn="l">
              <a:lnSpc>
                <a:spcPct val="100000"/>
              </a:lnSpc>
            </a:pPr>
            <a:r>
              <a:rPr sz="900" b="1" i="0">
                <a:solidFill>
                  <a:srgbClr val="666D74"/>
                </a:solidFill>
                <a:latin typeface="Consolas"/>
              </a:rPr>
              <a:t>DELIVERY</a:t>
            </a:r>
          </a:p>
        </p:txBody>
      </p:sp>
      <p:sp>
        <p:nvSpPr>
          <p:cNvPr id="5" name="Rectangle 4"/>
          <p:cNvSpPr/>
          <p:nvPr/>
        </p:nvSpPr>
        <p:spPr>
          <a:xfrm>
            <a:off x="566928" y="6336792"/>
            <a:ext cx="11064240" cy="10972"/>
          </a:xfrm>
          <a:prstGeom prst="rect">
            <a:avLst/>
          </a:prstGeom>
          <a:solidFill>
            <a:srgbClr val="D5DA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566928" y="6437376"/>
            <a:ext cx="6400800" cy="228600"/>
          </a:xfrm>
          <a:prstGeom prst="rect">
            <a:avLst/>
          </a:prstGeom>
          <a:noFill/>
        </p:spPr>
        <p:txBody>
          <a:bodyPr wrap="square" lIns="0" rIns="0" tIns="0" bIns="0" anchor="t">
            <a:spAutoFit/>
          </a:bodyPr>
          <a:lstStyle/>
          <a:p>
            <a:pPr algn="l">
              <a:lnSpc>
                <a:spcPct val="100000"/>
              </a:lnSpc>
            </a:pPr>
            <a:r>
              <a:rPr sz="800" b="0" i="0">
                <a:solidFill>
                  <a:srgbClr val="8D949B"/>
                </a:solidFill>
                <a:latin typeface="Consolas"/>
              </a:rPr>
              <a:t>PADDOCK  ·  FORMULA 1 ARCHIVE</a:t>
            </a:r>
          </a:p>
        </p:txBody>
      </p:sp>
      <p:sp>
        <p:nvSpPr>
          <p:cNvPr id="7" name="TextBox 6"/>
          <p:cNvSpPr txBox="1"/>
          <p:nvPr/>
        </p:nvSpPr>
        <p:spPr>
          <a:xfrm>
            <a:off x="10774375" y="6437376"/>
            <a:ext cx="822960" cy="228600"/>
          </a:xfrm>
          <a:prstGeom prst="rect">
            <a:avLst/>
          </a:prstGeom>
          <a:noFill/>
        </p:spPr>
        <p:txBody>
          <a:bodyPr wrap="square" lIns="0" rIns="0" tIns="0" bIns="0" anchor="t">
            <a:spAutoFit/>
          </a:bodyPr>
          <a:lstStyle/>
          <a:p>
            <a:pPr algn="r">
              <a:lnSpc>
                <a:spcPct val="100000"/>
              </a:lnSpc>
            </a:pPr>
            <a:r>
              <a:rPr sz="800" b="0" i="0">
                <a:solidFill>
                  <a:srgbClr val="8D949B"/>
                </a:solidFill>
                <a:latin typeface="Consolas"/>
              </a:rPr>
              <a:t>13 / 15</a:t>
            </a:r>
          </a:p>
        </p:txBody>
      </p:sp>
      <p:sp>
        <p:nvSpPr>
          <p:cNvPr id="8" name="TextBox 7"/>
          <p:cNvSpPr txBox="1"/>
          <p:nvPr/>
        </p:nvSpPr>
        <p:spPr>
          <a:xfrm>
            <a:off x="566928" y="749808"/>
            <a:ext cx="10881360" cy="603504"/>
          </a:xfrm>
          <a:prstGeom prst="rect">
            <a:avLst/>
          </a:prstGeom>
          <a:noFill/>
        </p:spPr>
        <p:txBody>
          <a:bodyPr wrap="square" lIns="0" rIns="0" tIns="0" bIns="0" anchor="t">
            <a:spAutoFit/>
          </a:bodyPr>
          <a:lstStyle/>
          <a:p>
            <a:pPr algn="l">
              <a:lnSpc>
                <a:spcPct val="95000"/>
              </a:lnSpc>
            </a:pPr>
            <a:r>
              <a:rPr sz="2900" b="1" i="0">
                <a:solidFill>
                  <a:srgbClr val="121517"/>
                </a:solidFill>
                <a:latin typeface="Segoe UI Semibold"/>
              </a:rPr>
              <a:t>Clone. Install. Run.</a:t>
            </a:r>
          </a:p>
        </p:txBody>
      </p:sp>
      <p:sp>
        <p:nvSpPr>
          <p:cNvPr id="9" name="TextBox 8"/>
          <p:cNvSpPr txBox="1"/>
          <p:nvPr/>
        </p:nvSpPr>
        <p:spPr>
          <a:xfrm>
            <a:off x="585216" y="1389888"/>
            <a:ext cx="9966960" cy="457200"/>
          </a:xfrm>
          <a:prstGeom prst="rect">
            <a:avLst/>
          </a:prstGeom>
          <a:noFill/>
        </p:spPr>
        <p:txBody>
          <a:bodyPr wrap="square" lIns="0" rIns="0" tIns="0" bIns="0" anchor="t">
            <a:spAutoFit/>
          </a:bodyPr>
          <a:lstStyle/>
          <a:p>
            <a:pPr algn="l">
              <a:lnSpc>
                <a:spcPct val="118000"/>
              </a:lnSpc>
            </a:pPr>
            <a:r>
              <a:rPr sz="1200" b="0" i="0">
                <a:solidFill>
                  <a:srgbClr val="666D74"/>
                </a:solidFill>
                <a:latin typeface="Segoe UI"/>
              </a:rPr>
              <a:t>No database, no API key and no build step for the bundled archive.</a:t>
            </a:r>
          </a:p>
        </p:txBody>
      </p:sp>
      <p:sp>
        <p:nvSpPr>
          <p:cNvPr id="10" name="Rounded Rectangle 9"/>
          <p:cNvSpPr/>
          <p:nvPr/>
        </p:nvSpPr>
        <p:spPr>
          <a:xfrm>
            <a:off x="566928" y="1901952"/>
            <a:ext cx="5989320" cy="3657600"/>
          </a:xfrm>
          <a:prstGeom prst="roundRect">
            <a:avLst>
              <a:gd name="adj" fmla="val 3500"/>
            </a:avLst>
          </a:prstGeom>
          <a:solidFill>
            <a:srgbClr val="FBFBFC"/>
          </a:solidFill>
          <a:ln w="9525">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Rectangle 10"/>
          <p:cNvSpPr/>
          <p:nvPr/>
        </p:nvSpPr>
        <p:spPr>
          <a:xfrm>
            <a:off x="566928" y="1901952"/>
            <a:ext cx="41148" cy="3657600"/>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TextBox 11"/>
          <p:cNvSpPr txBox="1"/>
          <p:nvPr/>
        </p:nvSpPr>
        <p:spPr>
          <a:xfrm>
            <a:off x="841248" y="2066543"/>
            <a:ext cx="5394960" cy="274320"/>
          </a:xfrm>
          <a:prstGeom prst="rect">
            <a:avLst/>
          </a:prstGeom>
          <a:noFill/>
        </p:spPr>
        <p:txBody>
          <a:bodyPr wrap="square" lIns="0" rIns="0" tIns="0" bIns="0" anchor="t">
            <a:spAutoFit/>
          </a:bodyPr>
          <a:lstStyle/>
          <a:p>
            <a:pPr algn="l">
              <a:lnSpc>
                <a:spcPct val="100000"/>
              </a:lnSpc>
            </a:pPr>
            <a:r>
              <a:rPr sz="850" b="1" i="0">
                <a:solidFill>
                  <a:srgbClr val="E10600"/>
                </a:solidFill>
                <a:latin typeface="Consolas"/>
              </a:rPr>
              <a:t>QUICK START</a:t>
            </a:r>
          </a:p>
        </p:txBody>
      </p:sp>
      <p:sp>
        <p:nvSpPr>
          <p:cNvPr id="13" name="TextBox 12"/>
          <p:cNvSpPr txBox="1"/>
          <p:nvPr/>
        </p:nvSpPr>
        <p:spPr>
          <a:xfrm>
            <a:off x="841248" y="2432304"/>
            <a:ext cx="5303520" cy="256032"/>
          </a:xfrm>
          <a:prstGeom prst="rect">
            <a:avLst/>
          </a:prstGeom>
          <a:noFill/>
        </p:spPr>
        <p:txBody>
          <a:bodyPr wrap="square" lIns="0" rIns="0" tIns="0" bIns="0" anchor="t">
            <a:spAutoFit/>
          </a:bodyPr>
          <a:lstStyle/>
          <a:p>
            <a:pPr algn="l">
              <a:lnSpc>
                <a:spcPct val="100000"/>
              </a:lnSpc>
            </a:pPr>
            <a:r>
              <a:rPr sz="980" b="0" i="0">
                <a:solidFill>
                  <a:srgbClr val="121517"/>
                </a:solidFill>
                <a:latin typeface="Consolas"/>
              </a:rPr>
              <a:t>cd frontend</a:t>
            </a:r>
          </a:p>
        </p:txBody>
      </p:sp>
      <p:sp>
        <p:nvSpPr>
          <p:cNvPr id="14" name="TextBox 13"/>
          <p:cNvSpPr txBox="1"/>
          <p:nvPr/>
        </p:nvSpPr>
        <p:spPr>
          <a:xfrm>
            <a:off x="841248" y="2706624"/>
            <a:ext cx="5303520" cy="256032"/>
          </a:xfrm>
          <a:prstGeom prst="rect">
            <a:avLst/>
          </a:prstGeom>
          <a:noFill/>
        </p:spPr>
        <p:txBody>
          <a:bodyPr wrap="square" lIns="0" rIns="0" tIns="0" bIns="0" anchor="t">
            <a:spAutoFit/>
          </a:bodyPr>
          <a:lstStyle/>
          <a:p>
            <a:pPr algn="l">
              <a:lnSpc>
                <a:spcPct val="100000"/>
              </a:lnSpc>
            </a:pPr>
            <a:r>
              <a:rPr sz="980" b="0" i="0">
                <a:solidFill>
                  <a:srgbClr val="121517"/>
                </a:solidFill>
                <a:latin typeface="Consolas"/>
              </a:rPr>
              <a:t>npm install</a:t>
            </a:r>
          </a:p>
        </p:txBody>
      </p:sp>
      <p:sp>
        <p:nvSpPr>
          <p:cNvPr id="15" name="TextBox 14"/>
          <p:cNvSpPr txBox="1"/>
          <p:nvPr/>
        </p:nvSpPr>
        <p:spPr>
          <a:xfrm>
            <a:off x="841248" y="2980944"/>
            <a:ext cx="5303520" cy="256032"/>
          </a:xfrm>
          <a:prstGeom prst="rect">
            <a:avLst/>
          </a:prstGeom>
          <a:noFill/>
        </p:spPr>
        <p:txBody>
          <a:bodyPr wrap="square" lIns="0" rIns="0" tIns="0" bIns="0" anchor="t">
            <a:spAutoFit/>
          </a:bodyPr>
          <a:lstStyle/>
          <a:p>
            <a:pPr algn="l">
              <a:lnSpc>
                <a:spcPct val="100000"/>
              </a:lnSpc>
            </a:pPr>
            <a:r>
              <a:rPr sz="980" b="0" i="0">
                <a:solidFill>
                  <a:srgbClr val="121517"/>
                </a:solidFill>
                <a:latin typeface="Consolas"/>
              </a:rPr>
              <a:t>npm start</a:t>
            </a:r>
          </a:p>
        </p:txBody>
      </p:sp>
      <p:sp>
        <p:nvSpPr>
          <p:cNvPr id="16" name="TextBox 15"/>
          <p:cNvSpPr txBox="1"/>
          <p:nvPr/>
        </p:nvSpPr>
        <p:spPr>
          <a:xfrm>
            <a:off x="841248" y="3255264"/>
            <a:ext cx="5303520" cy="256032"/>
          </a:xfrm>
          <a:prstGeom prst="rect">
            <a:avLst/>
          </a:prstGeom>
          <a:noFill/>
        </p:spPr>
        <p:txBody>
          <a:bodyPr wrap="square" lIns="0" rIns="0" tIns="0" bIns="0" anchor="t">
            <a:spAutoFit/>
          </a:bodyPr>
          <a:lstStyle/>
          <a:p>
            <a:pPr algn="l">
              <a:lnSpc>
                <a:spcPct val="100000"/>
              </a:lnSpc>
            </a:pPr>
            <a:r>
              <a:rPr sz="980" b="0" i="0">
                <a:solidFill>
                  <a:srgbClr val="121517"/>
                </a:solidFill>
                <a:latin typeface="Consolas"/>
              </a:rPr>
              <a:t> </a:t>
            </a:r>
          </a:p>
        </p:txBody>
      </p:sp>
      <p:sp>
        <p:nvSpPr>
          <p:cNvPr id="17" name="TextBox 16"/>
          <p:cNvSpPr txBox="1"/>
          <p:nvPr/>
        </p:nvSpPr>
        <p:spPr>
          <a:xfrm>
            <a:off x="841248" y="3529584"/>
            <a:ext cx="5303520" cy="256032"/>
          </a:xfrm>
          <a:prstGeom prst="rect">
            <a:avLst/>
          </a:prstGeom>
          <a:noFill/>
        </p:spPr>
        <p:txBody>
          <a:bodyPr wrap="square" lIns="0" rIns="0" tIns="0" bIns="0" anchor="t">
            <a:spAutoFit/>
          </a:bodyPr>
          <a:lstStyle/>
          <a:p>
            <a:pPr algn="l">
              <a:lnSpc>
                <a:spcPct val="100000"/>
              </a:lnSpc>
            </a:pPr>
            <a:r>
              <a:rPr sz="980" b="0" i="0">
                <a:solidFill>
                  <a:srgbClr val="8D949B"/>
                </a:solidFill>
                <a:latin typeface="Consolas"/>
              </a:rPr>
              <a:t># production</a:t>
            </a:r>
          </a:p>
        </p:txBody>
      </p:sp>
      <p:sp>
        <p:nvSpPr>
          <p:cNvPr id="18" name="TextBox 17"/>
          <p:cNvSpPr txBox="1"/>
          <p:nvPr/>
        </p:nvSpPr>
        <p:spPr>
          <a:xfrm>
            <a:off x="841248" y="3803904"/>
            <a:ext cx="5303520" cy="256032"/>
          </a:xfrm>
          <a:prstGeom prst="rect">
            <a:avLst/>
          </a:prstGeom>
          <a:noFill/>
        </p:spPr>
        <p:txBody>
          <a:bodyPr wrap="square" lIns="0" rIns="0" tIns="0" bIns="0" anchor="t">
            <a:spAutoFit/>
          </a:bodyPr>
          <a:lstStyle/>
          <a:p>
            <a:pPr algn="l">
              <a:lnSpc>
                <a:spcPct val="100000"/>
              </a:lnSpc>
            </a:pPr>
            <a:r>
              <a:rPr sz="980" b="0" i="0">
                <a:solidFill>
                  <a:srgbClr val="121517"/>
                </a:solidFill>
                <a:latin typeface="Consolas"/>
              </a:rPr>
              <a:t>npm run build</a:t>
            </a:r>
          </a:p>
        </p:txBody>
      </p:sp>
      <p:sp>
        <p:nvSpPr>
          <p:cNvPr id="19" name="TextBox 18"/>
          <p:cNvSpPr txBox="1"/>
          <p:nvPr/>
        </p:nvSpPr>
        <p:spPr>
          <a:xfrm>
            <a:off x="841248" y="4078224"/>
            <a:ext cx="5303520" cy="256032"/>
          </a:xfrm>
          <a:prstGeom prst="rect">
            <a:avLst/>
          </a:prstGeom>
          <a:noFill/>
        </p:spPr>
        <p:txBody>
          <a:bodyPr wrap="square" lIns="0" rIns="0" tIns="0" bIns="0" anchor="t">
            <a:spAutoFit/>
          </a:bodyPr>
          <a:lstStyle/>
          <a:p>
            <a:pPr algn="l">
              <a:lnSpc>
                <a:spcPct val="100000"/>
              </a:lnSpc>
            </a:pPr>
            <a:r>
              <a:rPr sz="980" b="0" i="0">
                <a:solidFill>
                  <a:srgbClr val="121517"/>
                </a:solidFill>
                <a:latin typeface="Consolas"/>
              </a:rPr>
              <a:t> </a:t>
            </a:r>
          </a:p>
        </p:txBody>
      </p:sp>
      <p:sp>
        <p:nvSpPr>
          <p:cNvPr id="20" name="TextBox 19"/>
          <p:cNvSpPr txBox="1"/>
          <p:nvPr/>
        </p:nvSpPr>
        <p:spPr>
          <a:xfrm>
            <a:off x="841248" y="4352544"/>
            <a:ext cx="5303520" cy="256032"/>
          </a:xfrm>
          <a:prstGeom prst="rect">
            <a:avLst/>
          </a:prstGeom>
          <a:noFill/>
        </p:spPr>
        <p:txBody>
          <a:bodyPr wrap="square" lIns="0" rIns="0" tIns="0" bIns="0" anchor="t">
            <a:spAutoFit/>
          </a:bodyPr>
          <a:lstStyle/>
          <a:p>
            <a:pPr algn="l">
              <a:lnSpc>
                <a:spcPct val="100000"/>
              </a:lnSpc>
            </a:pPr>
            <a:r>
              <a:rPr sz="980" b="0" i="0">
                <a:solidFill>
                  <a:srgbClr val="8D949B"/>
                </a:solidFill>
                <a:latin typeface="Consolas"/>
              </a:rPr>
              <a:t># full data refresh</a:t>
            </a:r>
          </a:p>
        </p:txBody>
      </p:sp>
      <p:sp>
        <p:nvSpPr>
          <p:cNvPr id="21" name="TextBox 20"/>
          <p:cNvSpPr txBox="1"/>
          <p:nvPr/>
        </p:nvSpPr>
        <p:spPr>
          <a:xfrm>
            <a:off x="841248" y="4626864"/>
            <a:ext cx="5303520" cy="256032"/>
          </a:xfrm>
          <a:prstGeom prst="rect">
            <a:avLst/>
          </a:prstGeom>
          <a:noFill/>
        </p:spPr>
        <p:txBody>
          <a:bodyPr wrap="square" lIns="0" rIns="0" tIns="0" bIns="0" anchor="t">
            <a:spAutoFit/>
          </a:bodyPr>
          <a:lstStyle/>
          <a:p>
            <a:pPr algn="l">
              <a:lnSpc>
                <a:spcPct val="100000"/>
              </a:lnSpc>
            </a:pPr>
            <a:r>
              <a:rPr sz="980" b="0" i="0">
                <a:solidFill>
                  <a:srgbClr val="121517"/>
                </a:solidFill>
                <a:latin typeface="Consolas"/>
              </a:rPr>
              <a:t>npm run data:build</a:t>
            </a:r>
          </a:p>
        </p:txBody>
      </p:sp>
      <p:sp>
        <p:nvSpPr>
          <p:cNvPr id="22" name="TextBox 21"/>
          <p:cNvSpPr txBox="1"/>
          <p:nvPr/>
        </p:nvSpPr>
        <p:spPr>
          <a:xfrm>
            <a:off x="841248" y="4901183"/>
            <a:ext cx="5303520" cy="256032"/>
          </a:xfrm>
          <a:prstGeom prst="rect">
            <a:avLst/>
          </a:prstGeom>
          <a:noFill/>
        </p:spPr>
        <p:txBody>
          <a:bodyPr wrap="square" lIns="0" rIns="0" tIns="0" bIns="0" anchor="t">
            <a:spAutoFit/>
          </a:bodyPr>
          <a:lstStyle/>
          <a:p>
            <a:pPr algn="l">
              <a:lnSpc>
                <a:spcPct val="100000"/>
              </a:lnSpc>
            </a:pPr>
            <a:r>
              <a:rPr sz="980" b="0" i="0">
                <a:solidFill>
                  <a:srgbClr val="121517"/>
                </a:solidFill>
                <a:latin typeface="Consolas"/>
              </a:rPr>
              <a:t>npm run assets:fetch</a:t>
            </a:r>
          </a:p>
        </p:txBody>
      </p:sp>
      <p:sp>
        <p:nvSpPr>
          <p:cNvPr id="23" name="TextBox 22"/>
          <p:cNvSpPr txBox="1"/>
          <p:nvPr/>
        </p:nvSpPr>
        <p:spPr>
          <a:xfrm>
            <a:off x="841248" y="5175504"/>
            <a:ext cx="5303520" cy="256032"/>
          </a:xfrm>
          <a:prstGeom prst="rect">
            <a:avLst/>
          </a:prstGeom>
          <a:noFill/>
        </p:spPr>
        <p:txBody>
          <a:bodyPr wrap="square" lIns="0" rIns="0" tIns="0" bIns="0" anchor="t">
            <a:spAutoFit/>
          </a:bodyPr>
          <a:lstStyle/>
          <a:p>
            <a:pPr algn="l">
              <a:lnSpc>
                <a:spcPct val="100000"/>
              </a:lnSpc>
            </a:pPr>
            <a:r>
              <a:rPr sz="980" b="0" i="0">
                <a:solidFill>
                  <a:srgbClr val="121517"/>
                </a:solidFill>
                <a:latin typeface="Consolas"/>
              </a:rPr>
              <a:t>npm run outlines:build</a:t>
            </a:r>
          </a:p>
        </p:txBody>
      </p:sp>
      <p:sp>
        <p:nvSpPr>
          <p:cNvPr id="24" name="Rounded Rectangle 23"/>
          <p:cNvSpPr/>
          <p:nvPr/>
        </p:nvSpPr>
        <p:spPr>
          <a:xfrm>
            <a:off x="6812280" y="1901952"/>
            <a:ext cx="4800600" cy="3657600"/>
          </a:xfrm>
          <a:prstGeom prst="roundRect">
            <a:avLst>
              <a:gd name="adj" fmla="val 3500"/>
            </a:avLst>
          </a:prstGeom>
          <a:solidFill>
            <a:srgbClr val="FBFBFC"/>
          </a:solidFill>
          <a:ln w="9525">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TextBox 24"/>
          <p:cNvSpPr txBox="1"/>
          <p:nvPr/>
        </p:nvSpPr>
        <p:spPr>
          <a:xfrm>
            <a:off x="7086600" y="2066543"/>
            <a:ext cx="4206240" cy="274320"/>
          </a:xfrm>
          <a:prstGeom prst="rect">
            <a:avLst/>
          </a:prstGeom>
          <a:noFill/>
        </p:spPr>
        <p:txBody>
          <a:bodyPr wrap="square" lIns="0" rIns="0" tIns="0" bIns="0" anchor="t">
            <a:spAutoFit/>
          </a:bodyPr>
          <a:lstStyle/>
          <a:p>
            <a:pPr algn="l">
              <a:lnSpc>
                <a:spcPct val="100000"/>
              </a:lnSpc>
            </a:pPr>
            <a:r>
              <a:rPr sz="850" b="1" i="0">
                <a:solidFill>
                  <a:srgbClr val="666D74"/>
                </a:solidFill>
                <a:latin typeface="Consolas"/>
              </a:rPr>
              <a:t>WHAT SHIPS</a:t>
            </a:r>
          </a:p>
        </p:txBody>
      </p:sp>
      <p:sp>
        <p:nvSpPr>
          <p:cNvPr id="26" name="TextBox 25"/>
          <p:cNvSpPr txBox="1"/>
          <p:nvPr/>
        </p:nvSpPr>
        <p:spPr>
          <a:xfrm>
            <a:off x="7086600" y="2468880"/>
            <a:ext cx="960120" cy="256032"/>
          </a:xfrm>
          <a:prstGeom prst="rect">
            <a:avLst/>
          </a:prstGeom>
          <a:noFill/>
        </p:spPr>
        <p:txBody>
          <a:bodyPr wrap="square" lIns="0" rIns="0" tIns="0" bIns="0" anchor="t">
            <a:spAutoFit/>
          </a:bodyPr>
          <a:lstStyle/>
          <a:p>
            <a:pPr algn="l">
              <a:lnSpc>
                <a:spcPct val="100000"/>
              </a:lnSpc>
            </a:pPr>
            <a:r>
              <a:rPr sz="950" b="1" i="0">
                <a:solidFill>
                  <a:srgbClr val="121517"/>
                </a:solidFill>
                <a:latin typeface="Segoe UI"/>
              </a:rPr>
              <a:t>App</a:t>
            </a:r>
          </a:p>
        </p:txBody>
      </p:sp>
      <p:sp>
        <p:nvSpPr>
          <p:cNvPr id="27" name="TextBox 26"/>
          <p:cNvSpPr txBox="1"/>
          <p:nvPr/>
        </p:nvSpPr>
        <p:spPr>
          <a:xfrm>
            <a:off x="8092440" y="2468880"/>
            <a:ext cx="3383280" cy="256032"/>
          </a:xfrm>
          <a:prstGeom prst="rect">
            <a:avLst/>
          </a:prstGeom>
          <a:noFill/>
        </p:spPr>
        <p:txBody>
          <a:bodyPr wrap="square" lIns="0" rIns="0" tIns="0" bIns="0" anchor="t">
            <a:spAutoFit/>
          </a:bodyPr>
          <a:lstStyle/>
          <a:p>
            <a:pPr algn="l">
              <a:lnSpc>
                <a:spcPct val="100000"/>
              </a:lnSpc>
            </a:pPr>
            <a:r>
              <a:rPr sz="860" b="0" i="0">
                <a:solidFill>
                  <a:srgbClr val="666D74"/>
                </a:solidFill>
                <a:latin typeface="Segoe UI"/>
              </a:rPr>
              <a:t>11 routes · silver editorial · responsive</a:t>
            </a:r>
          </a:p>
        </p:txBody>
      </p:sp>
      <p:sp>
        <p:nvSpPr>
          <p:cNvPr id="28" name="TextBox 27"/>
          <p:cNvSpPr txBox="1"/>
          <p:nvPr/>
        </p:nvSpPr>
        <p:spPr>
          <a:xfrm>
            <a:off x="7086600" y="2971800"/>
            <a:ext cx="960120" cy="256032"/>
          </a:xfrm>
          <a:prstGeom prst="rect">
            <a:avLst/>
          </a:prstGeom>
          <a:noFill/>
        </p:spPr>
        <p:txBody>
          <a:bodyPr wrap="square" lIns="0" rIns="0" tIns="0" bIns="0" anchor="t">
            <a:spAutoFit/>
          </a:bodyPr>
          <a:lstStyle/>
          <a:p>
            <a:pPr algn="l">
              <a:lnSpc>
                <a:spcPct val="100000"/>
              </a:lnSpc>
            </a:pPr>
            <a:r>
              <a:rPr sz="950" b="1" i="0">
                <a:solidFill>
                  <a:srgbClr val="121517"/>
                </a:solidFill>
                <a:latin typeface="Segoe UI"/>
              </a:rPr>
              <a:t>Archive</a:t>
            </a:r>
          </a:p>
        </p:txBody>
      </p:sp>
      <p:sp>
        <p:nvSpPr>
          <p:cNvPr id="29" name="TextBox 28"/>
          <p:cNvSpPr txBox="1"/>
          <p:nvPr/>
        </p:nvSpPr>
        <p:spPr>
          <a:xfrm>
            <a:off x="8092440" y="2971800"/>
            <a:ext cx="3383280" cy="256032"/>
          </a:xfrm>
          <a:prstGeom prst="rect">
            <a:avLst/>
          </a:prstGeom>
          <a:noFill/>
        </p:spPr>
        <p:txBody>
          <a:bodyPr wrap="square" lIns="0" rIns="0" tIns="0" bIns="0" anchor="t">
            <a:spAutoFit/>
          </a:bodyPr>
          <a:lstStyle/>
          <a:p>
            <a:pPr algn="l">
              <a:lnSpc>
                <a:spcPct val="100000"/>
              </a:lnSpc>
            </a:pPr>
            <a:r>
              <a:rPr sz="860" b="0" i="0">
                <a:solidFill>
                  <a:srgbClr val="666D74"/>
                </a:solidFill>
                <a:latin typeface="Segoe UI"/>
              </a:rPr>
              <a:t>2000–2026 · 1.3 MB · pruned CSVs</a:t>
            </a:r>
          </a:p>
        </p:txBody>
      </p:sp>
      <p:sp>
        <p:nvSpPr>
          <p:cNvPr id="30" name="TextBox 29"/>
          <p:cNvSpPr txBox="1"/>
          <p:nvPr/>
        </p:nvSpPr>
        <p:spPr>
          <a:xfrm>
            <a:off x="7086600" y="3474720"/>
            <a:ext cx="960120" cy="256032"/>
          </a:xfrm>
          <a:prstGeom prst="rect">
            <a:avLst/>
          </a:prstGeom>
          <a:noFill/>
        </p:spPr>
        <p:txBody>
          <a:bodyPr wrap="square" lIns="0" rIns="0" tIns="0" bIns="0" anchor="t">
            <a:spAutoFit/>
          </a:bodyPr>
          <a:lstStyle/>
          <a:p>
            <a:pPr algn="l">
              <a:lnSpc>
                <a:spcPct val="100000"/>
              </a:lnSpc>
            </a:pPr>
            <a:r>
              <a:rPr sz="950" b="1" i="0">
                <a:solidFill>
                  <a:srgbClr val="121517"/>
                </a:solidFill>
                <a:latin typeface="Segoe UI"/>
              </a:rPr>
              <a:t>Live</a:t>
            </a:r>
          </a:p>
        </p:txBody>
      </p:sp>
      <p:sp>
        <p:nvSpPr>
          <p:cNvPr id="31" name="TextBox 30"/>
          <p:cNvSpPr txBox="1"/>
          <p:nvPr/>
        </p:nvSpPr>
        <p:spPr>
          <a:xfrm>
            <a:off x="8092440" y="3474720"/>
            <a:ext cx="3383280" cy="256032"/>
          </a:xfrm>
          <a:prstGeom prst="rect">
            <a:avLst/>
          </a:prstGeom>
          <a:noFill/>
        </p:spPr>
        <p:txBody>
          <a:bodyPr wrap="square" lIns="0" rIns="0" tIns="0" bIns="0" anchor="t">
            <a:spAutoFit/>
          </a:bodyPr>
          <a:lstStyle/>
          <a:p>
            <a:pPr algn="l">
              <a:lnSpc>
                <a:spcPct val="100000"/>
              </a:lnSpc>
            </a:pPr>
            <a:r>
              <a:rPr sz="860" b="0" i="0">
                <a:solidFill>
                  <a:srgbClr val="666D74"/>
                </a:solidFill>
                <a:latin typeface="Segoe UI"/>
              </a:rPr>
              <a:t>OpenF1 replay + optional token polling</a:t>
            </a:r>
          </a:p>
        </p:txBody>
      </p:sp>
      <p:sp>
        <p:nvSpPr>
          <p:cNvPr id="32" name="TextBox 31"/>
          <p:cNvSpPr txBox="1"/>
          <p:nvPr/>
        </p:nvSpPr>
        <p:spPr>
          <a:xfrm>
            <a:off x="7086600" y="3977640"/>
            <a:ext cx="960120" cy="256032"/>
          </a:xfrm>
          <a:prstGeom prst="rect">
            <a:avLst/>
          </a:prstGeom>
          <a:noFill/>
        </p:spPr>
        <p:txBody>
          <a:bodyPr wrap="square" lIns="0" rIns="0" tIns="0" bIns="0" anchor="t">
            <a:spAutoFit/>
          </a:bodyPr>
          <a:lstStyle/>
          <a:p>
            <a:pPr algn="l">
              <a:lnSpc>
                <a:spcPct val="100000"/>
              </a:lnSpc>
            </a:pPr>
            <a:r>
              <a:rPr sz="950" b="1" i="0">
                <a:solidFill>
                  <a:srgbClr val="121517"/>
                </a:solidFill>
                <a:latin typeface="Segoe UI"/>
              </a:rPr>
              <a:t>Images</a:t>
            </a:r>
          </a:p>
        </p:txBody>
      </p:sp>
      <p:sp>
        <p:nvSpPr>
          <p:cNvPr id="33" name="TextBox 32"/>
          <p:cNvSpPr txBox="1"/>
          <p:nvPr/>
        </p:nvSpPr>
        <p:spPr>
          <a:xfrm>
            <a:off x="8092440" y="3977640"/>
            <a:ext cx="3383280" cy="256032"/>
          </a:xfrm>
          <a:prstGeom prst="rect">
            <a:avLst/>
          </a:prstGeom>
          <a:noFill/>
        </p:spPr>
        <p:txBody>
          <a:bodyPr wrap="square" lIns="0" rIns="0" tIns="0" bIns="0" anchor="t">
            <a:spAutoFit/>
          </a:bodyPr>
          <a:lstStyle/>
          <a:p>
            <a:pPr algn="l">
              <a:lnSpc>
                <a:spcPct val="100000"/>
              </a:lnSpc>
            </a:pPr>
            <a:r>
              <a:rPr sz="860" b="0" i="0">
                <a:solidFill>
                  <a:srgbClr val="666D74"/>
                </a:solidFill>
                <a:latin typeface="Segoe UI"/>
              </a:rPr>
              <a:t>35 logos · 39 maps · 28 portraits · 9 photos</a:t>
            </a:r>
          </a:p>
        </p:txBody>
      </p:sp>
      <p:sp>
        <p:nvSpPr>
          <p:cNvPr id="34" name="TextBox 33"/>
          <p:cNvSpPr txBox="1"/>
          <p:nvPr/>
        </p:nvSpPr>
        <p:spPr>
          <a:xfrm>
            <a:off x="7086600" y="4480560"/>
            <a:ext cx="960120" cy="256032"/>
          </a:xfrm>
          <a:prstGeom prst="rect">
            <a:avLst/>
          </a:prstGeom>
          <a:noFill/>
        </p:spPr>
        <p:txBody>
          <a:bodyPr wrap="square" lIns="0" rIns="0" tIns="0" bIns="0" anchor="t">
            <a:spAutoFit/>
          </a:bodyPr>
          <a:lstStyle/>
          <a:p>
            <a:pPr algn="l">
              <a:lnSpc>
                <a:spcPct val="100000"/>
              </a:lnSpc>
            </a:pPr>
            <a:r>
              <a:rPr sz="950" b="1" i="0">
                <a:solidFill>
                  <a:srgbClr val="121517"/>
                </a:solidFill>
                <a:latin typeface="Segoe UI"/>
              </a:rPr>
              <a:t>Docs</a:t>
            </a:r>
          </a:p>
        </p:txBody>
      </p:sp>
      <p:sp>
        <p:nvSpPr>
          <p:cNvPr id="35" name="TextBox 34"/>
          <p:cNvSpPr txBox="1"/>
          <p:nvPr/>
        </p:nvSpPr>
        <p:spPr>
          <a:xfrm>
            <a:off x="8092440" y="4480560"/>
            <a:ext cx="3383280" cy="256032"/>
          </a:xfrm>
          <a:prstGeom prst="rect">
            <a:avLst/>
          </a:prstGeom>
          <a:noFill/>
        </p:spPr>
        <p:txBody>
          <a:bodyPr wrap="square" lIns="0" rIns="0" tIns="0" bIns="0" anchor="t">
            <a:spAutoFit/>
          </a:bodyPr>
          <a:lstStyle/>
          <a:p>
            <a:pPr algn="l">
              <a:lnSpc>
                <a:spcPct val="100000"/>
              </a:lnSpc>
            </a:pPr>
            <a:r>
              <a:rPr sz="860" b="0" i="0">
                <a:solidFill>
                  <a:srgbClr val="666D74"/>
                </a:solidFill>
                <a:latin typeface="Segoe UI"/>
              </a:rPr>
              <a:t>README.md · README.docx · README.pdf</a:t>
            </a:r>
          </a:p>
        </p:txBody>
      </p:sp>
      <p:sp>
        <p:nvSpPr>
          <p:cNvPr id="36" name="TextBox 35"/>
          <p:cNvSpPr txBox="1"/>
          <p:nvPr/>
        </p:nvSpPr>
        <p:spPr>
          <a:xfrm>
            <a:off x="7086600" y="4983480"/>
            <a:ext cx="960120" cy="256032"/>
          </a:xfrm>
          <a:prstGeom prst="rect">
            <a:avLst/>
          </a:prstGeom>
          <a:noFill/>
        </p:spPr>
        <p:txBody>
          <a:bodyPr wrap="square" lIns="0" rIns="0" tIns="0" bIns="0" anchor="t">
            <a:spAutoFit/>
          </a:bodyPr>
          <a:lstStyle/>
          <a:p>
            <a:pPr algn="l">
              <a:lnSpc>
                <a:spcPct val="100000"/>
              </a:lnSpc>
            </a:pPr>
            <a:r>
              <a:rPr sz="950" b="1" i="0">
                <a:solidFill>
                  <a:srgbClr val="121517"/>
                </a:solidFill>
                <a:latin typeface="Segoe UI"/>
              </a:rPr>
              <a:t>Deck</a:t>
            </a:r>
          </a:p>
        </p:txBody>
      </p:sp>
      <p:sp>
        <p:nvSpPr>
          <p:cNvPr id="37" name="TextBox 36"/>
          <p:cNvSpPr txBox="1"/>
          <p:nvPr/>
        </p:nvSpPr>
        <p:spPr>
          <a:xfrm>
            <a:off x="8092440" y="4983480"/>
            <a:ext cx="3383280" cy="256032"/>
          </a:xfrm>
          <a:prstGeom prst="rect">
            <a:avLst/>
          </a:prstGeom>
          <a:noFill/>
        </p:spPr>
        <p:txBody>
          <a:bodyPr wrap="square" lIns="0" rIns="0" tIns="0" bIns="0" anchor="t">
            <a:spAutoFit/>
          </a:bodyPr>
          <a:lstStyle/>
          <a:p>
            <a:pPr algn="l">
              <a:lnSpc>
                <a:spcPct val="100000"/>
              </a:lnSpc>
            </a:pPr>
            <a:r>
              <a:rPr sz="860" b="0" i="0">
                <a:solidFill>
                  <a:srgbClr val="666D74"/>
                </a:solidFill>
                <a:latin typeface="Segoe UI"/>
              </a:rPr>
              <a:t>f1-presentation.pptx · .pdf</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Rectangle 2"/>
          <p:cNvSpPr/>
          <p:nvPr/>
        </p:nvSpPr>
        <p:spPr>
          <a:xfrm>
            <a:off x="566928" y="420624"/>
            <a:ext cx="50292" cy="237744"/>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TextBox 3"/>
          <p:cNvSpPr txBox="1"/>
          <p:nvPr/>
        </p:nvSpPr>
        <p:spPr>
          <a:xfrm>
            <a:off x="713232" y="438912"/>
            <a:ext cx="7680960" cy="237744"/>
          </a:xfrm>
          <a:prstGeom prst="rect">
            <a:avLst/>
          </a:prstGeom>
          <a:noFill/>
        </p:spPr>
        <p:txBody>
          <a:bodyPr wrap="square" lIns="0" rIns="0" tIns="0" bIns="0" anchor="t">
            <a:spAutoFit/>
          </a:bodyPr>
          <a:lstStyle/>
          <a:p>
            <a:pPr algn="l">
              <a:lnSpc>
                <a:spcPct val="100000"/>
              </a:lnSpc>
            </a:pPr>
            <a:r>
              <a:rPr sz="900" b="1" i="0">
                <a:solidFill>
                  <a:srgbClr val="666D74"/>
                </a:solidFill>
                <a:latin typeface="Consolas"/>
              </a:rPr>
              <a:t>NEXT</a:t>
            </a:r>
          </a:p>
        </p:txBody>
      </p:sp>
      <p:sp>
        <p:nvSpPr>
          <p:cNvPr id="5" name="Rectangle 4"/>
          <p:cNvSpPr/>
          <p:nvPr/>
        </p:nvSpPr>
        <p:spPr>
          <a:xfrm>
            <a:off x="566928" y="6336792"/>
            <a:ext cx="11064240" cy="10972"/>
          </a:xfrm>
          <a:prstGeom prst="rect">
            <a:avLst/>
          </a:prstGeom>
          <a:solidFill>
            <a:srgbClr val="D5DA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566928" y="6437376"/>
            <a:ext cx="6400800" cy="228600"/>
          </a:xfrm>
          <a:prstGeom prst="rect">
            <a:avLst/>
          </a:prstGeom>
          <a:noFill/>
        </p:spPr>
        <p:txBody>
          <a:bodyPr wrap="square" lIns="0" rIns="0" tIns="0" bIns="0" anchor="t">
            <a:spAutoFit/>
          </a:bodyPr>
          <a:lstStyle/>
          <a:p>
            <a:pPr algn="l">
              <a:lnSpc>
                <a:spcPct val="100000"/>
              </a:lnSpc>
            </a:pPr>
            <a:r>
              <a:rPr sz="800" b="0" i="0">
                <a:solidFill>
                  <a:srgbClr val="8D949B"/>
                </a:solidFill>
                <a:latin typeface="Consolas"/>
              </a:rPr>
              <a:t>PADDOCK  ·  FORMULA 1 ARCHIVE</a:t>
            </a:r>
          </a:p>
        </p:txBody>
      </p:sp>
      <p:sp>
        <p:nvSpPr>
          <p:cNvPr id="7" name="TextBox 6"/>
          <p:cNvSpPr txBox="1"/>
          <p:nvPr/>
        </p:nvSpPr>
        <p:spPr>
          <a:xfrm>
            <a:off x="10774375" y="6437376"/>
            <a:ext cx="822960" cy="228600"/>
          </a:xfrm>
          <a:prstGeom prst="rect">
            <a:avLst/>
          </a:prstGeom>
          <a:noFill/>
        </p:spPr>
        <p:txBody>
          <a:bodyPr wrap="square" lIns="0" rIns="0" tIns="0" bIns="0" anchor="t">
            <a:spAutoFit/>
          </a:bodyPr>
          <a:lstStyle/>
          <a:p>
            <a:pPr algn="r">
              <a:lnSpc>
                <a:spcPct val="100000"/>
              </a:lnSpc>
            </a:pPr>
            <a:r>
              <a:rPr sz="800" b="0" i="0">
                <a:solidFill>
                  <a:srgbClr val="8D949B"/>
                </a:solidFill>
                <a:latin typeface="Consolas"/>
              </a:rPr>
              <a:t>14 / 15</a:t>
            </a:r>
          </a:p>
        </p:txBody>
      </p:sp>
      <p:sp>
        <p:nvSpPr>
          <p:cNvPr id="8" name="TextBox 7"/>
          <p:cNvSpPr txBox="1"/>
          <p:nvPr/>
        </p:nvSpPr>
        <p:spPr>
          <a:xfrm>
            <a:off x="566928" y="749808"/>
            <a:ext cx="10881360" cy="603504"/>
          </a:xfrm>
          <a:prstGeom prst="rect">
            <a:avLst/>
          </a:prstGeom>
          <a:noFill/>
        </p:spPr>
        <p:txBody>
          <a:bodyPr wrap="square" lIns="0" rIns="0" tIns="0" bIns="0" anchor="t">
            <a:spAutoFit/>
          </a:bodyPr>
          <a:lstStyle/>
          <a:p>
            <a:pPr algn="l">
              <a:lnSpc>
                <a:spcPct val="95000"/>
              </a:lnSpc>
            </a:pPr>
            <a:r>
              <a:rPr sz="2900" b="1" i="0">
                <a:solidFill>
                  <a:srgbClr val="121517"/>
                </a:solidFill>
                <a:latin typeface="Segoe UI Semibold"/>
              </a:rPr>
              <a:t>Known edges. Clear next moves.</a:t>
            </a:r>
          </a:p>
        </p:txBody>
      </p:sp>
      <p:sp>
        <p:nvSpPr>
          <p:cNvPr id="9" name="TextBox 8"/>
          <p:cNvSpPr txBox="1"/>
          <p:nvPr/>
        </p:nvSpPr>
        <p:spPr>
          <a:xfrm>
            <a:off x="585216" y="1389888"/>
            <a:ext cx="9966960" cy="457200"/>
          </a:xfrm>
          <a:prstGeom prst="rect">
            <a:avLst/>
          </a:prstGeom>
          <a:noFill/>
        </p:spPr>
        <p:txBody>
          <a:bodyPr wrap="square" lIns="0" rIns="0" tIns="0" bIns="0" anchor="t">
            <a:spAutoFit/>
          </a:bodyPr>
          <a:lstStyle/>
          <a:p>
            <a:pPr algn="l">
              <a:lnSpc>
                <a:spcPct val="118000"/>
              </a:lnSpc>
            </a:pPr>
            <a:r>
              <a:rPr sz="1200" b="0" i="0">
                <a:solidFill>
                  <a:srgbClr val="666D74"/>
                </a:solidFill>
                <a:latin typeface="Segoe UI"/>
              </a:rPr>
              <a:t>The product is complete for this scope, and the boundaries are deliberate.</a:t>
            </a:r>
          </a:p>
        </p:txBody>
      </p:sp>
      <p:sp>
        <p:nvSpPr>
          <p:cNvPr id="10" name="Rounded Rectangle 9"/>
          <p:cNvSpPr/>
          <p:nvPr/>
        </p:nvSpPr>
        <p:spPr>
          <a:xfrm>
            <a:off x="566928" y="1938528"/>
            <a:ext cx="5349240" cy="3749039"/>
          </a:xfrm>
          <a:prstGeom prst="roundRect">
            <a:avLst>
              <a:gd name="adj" fmla="val 3500"/>
            </a:avLst>
          </a:prstGeom>
          <a:solidFill>
            <a:srgbClr val="FBFBFC"/>
          </a:solidFill>
          <a:ln w="9525">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Rectangle 10"/>
          <p:cNvSpPr/>
          <p:nvPr/>
        </p:nvSpPr>
        <p:spPr>
          <a:xfrm>
            <a:off x="566928" y="1938528"/>
            <a:ext cx="41148" cy="3749039"/>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TextBox 11"/>
          <p:cNvSpPr txBox="1"/>
          <p:nvPr/>
        </p:nvSpPr>
        <p:spPr>
          <a:xfrm>
            <a:off x="822960" y="2103120"/>
            <a:ext cx="4754880" cy="274320"/>
          </a:xfrm>
          <a:prstGeom prst="rect">
            <a:avLst/>
          </a:prstGeom>
          <a:noFill/>
        </p:spPr>
        <p:txBody>
          <a:bodyPr wrap="square" lIns="0" rIns="0" tIns="0" bIns="0" anchor="t">
            <a:spAutoFit/>
          </a:bodyPr>
          <a:lstStyle/>
          <a:p>
            <a:pPr algn="l">
              <a:lnSpc>
                <a:spcPct val="100000"/>
              </a:lnSpc>
            </a:pPr>
            <a:r>
              <a:rPr sz="850" b="1" i="0">
                <a:solidFill>
                  <a:srgbClr val="E10600"/>
                </a:solidFill>
                <a:latin typeface="Consolas"/>
              </a:rPr>
              <a:t>BOUNDARIES</a:t>
            </a:r>
          </a:p>
        </p:txBody>
      </p:sp>
      <p:sp>
        <p:nvSpPr>
          <p:cNvPr id="13" name="TextBox 12"/>
          <p:cNvSpPr txBox="1"/>
          <p:nvPr/>
        </p:nvSpPr>
        <p:spPr>
          <a:xfrm>
            <a:off x="822960" y="2505456"/>
            <a:ext cx="4754880" cy="274320"/>
          </a:xfrm>
          <a:prstGeom prst="rect">
            <a:avLst/>
          </a:prstGeom>
          <a:noFill/>
        </p:spPr>
        <p:txBody>
          <a:bodyPr wrap="square" lIns="0" rIns="0" tIns="0" bIns="0" anchor="t">
            <a:spAutoFit/>
          </a:bodyPr>
          <a:lstStyle/>
          <a:p>
            <a:pPr algn="l">
              <a:lnSpc>
                <a:spcPct val="100000"/>
              </a:lnSpc>
            </a:pPr>
            <a:r>
              <a:rPr sz="1080" b="1" i="0">
                <a:solidFill>
                  <a:srgbClr val="121517"/>
                </a:solidFill>
                <a:latin typeface="Segoe UI"/>
              </a:rPr>
              <a:t>2026 is still running</a:t>
            </a:r>
          </a:p>
        </p:txBody>
      </p:sp>
      <p:sp>
        <p:nvSpPr>
          <p:cNvPr id="14" name="TextBox 13"/>
          <p:cNvSpPr txBox="1"/>
          <p:nvPr/>
        </p:nvSpPr>
        <p:spPr>
          <a:xfrm>
            <a:off x="822960" y="2779776"/>
            <a:ext cx="4709160" cy="402336"/>
          </a:xfrm>
          <a:prstGeom prst="rect">
            <a:avLst/>
          </a:prstGeom>
          <a:noFill/>
        </p:spPr>
        <p:txBody>
          <a:bodyPr wrap="square" lIns="0" rIns="0" tIns="0" bIns="0" anchor="t">
            <a:spAutoFit/>
          </a:bodyPr>
          <a:lstStyle/>
          <a:p>
            <a:pPr algn="l">
              <a:lnSpc>
                <a:spcPct val="114000"/>
              </a:lnSpc>
            </a:pPr>
            <a:r>
              <a:rPr sz="869" b="0" i="0">
                <a:solidFill>
                  <a:srgbClr val="666D74"/>
                </a:solidFill>
                <a:latin typeface="Segoe UI"/>
              </a:rPr>
              <a:t>18 of 23 rounds are complete. The app labels the current leader and lists no 2026 champion.</a:t>
            </a:r>
          </a:p>
        </p:txBody>
      </p:sp>
      <p:sp>
        <p:nvSpPr>
          <p:cNvPr id="15" name="TextBox 14"/>
          <p:cNvSpPr txBox="1"/>
          <p:nvPr/>
        </p:nvSpPr>
        <p:spPr>
          <a:xfrm>
            <a:off x="822960" y="3255264"/>
            <a:ext cx="4754880" cy="274320"/>
          </a:xfrm>
          <a:prstGeom prst="rect">
            <a:avLst/>
          </a:prstGeom>
          <a:noFill/>
        </p:spPr>
        <p:txBody>
          <a:bodyPr wrap="square" lIns="0" rIns="0" tIns="0" bIns="0" anchor="t">
            <a:spAutoFit/>
          </a:bodyPr>
          <a:lstStyle/>
          <a:p>
            <a:pPr algn="l">
              <a:lnSpc>
                <a:spcPct val="100000"/>
              </a:lnSpc>
            </a:pPr>
            <a:r>
              <a:rPr sz="1080" b="1" i="0">
                <a:solidFill>
                  <a:srgbClr val="121517"/>
                </a:solidFill>
                <a:latin typeface="Segoe UI"/>
              </a:rPr>
              <a:t>Portraits start in 2023</a:t>
            </a:r>
          </a:p>
        </p:txBody>
      </p:sp>
      <p:sp>
        <p:nvSpPr>
          <p:cNvPr id="16" name="TextBox 15"/>
          <p:cNvSpPr txBox="1"/>
          <p:nvPr/>
        </p:nvSpPr>
        <p:spPr>
          <a:xfrm>
            <a:off x="822960" y="3529584"/>
            <a:ext cx="4709160" cy="402336"/>
          </a:xfrm>
          <a:prstGeom prst="rect">
            <a:avLst/>
          </a:prstGeom>
          <a:noFill/>
        </p:spPr>
        <p:txBody>
          <a:bodyPr wrap="square" lIns="0" rIns="0" tIns="0" bIns="0" anchor="t">
            <a:spAutoFit/>
          </a:bodyPr>
          <a:lstStyle/>
          <a:p>
            <a:pPr algn="l">
              <a:lnSpc>
                <a:spcPct val="114000"/>
              </a:lnSpc>
            </a:pPr>
            <a:r>
              <a:rPr sz="869" b="0" i="0">
                <a:solidFill>
                  <a:srgbClr val="666D74"/>
                </a:solidFill>
                <a:latin typeface="Segoe UI"/>
              </a:rPr>
              <a:t>OpenF1 only lists modern headshots. Earlier drivers keep the designed monogram.</a:t>
            </a:r>
          </a:p>
        </p:txBody>
      </p:sp>
      <p:sp>
        <p:nvSpPr>
          <p:cNvPr id="17" name="TextBox 16"/>
          <p:cNvSpPr txBox="1"/>
          <p:nvPr/>
        </p:nvSpPr>
        <p:spPr>
          <a:xfrm>
            <a:off x="822960" y="4005072"/>
            <a:ext cx="4754880" cy="274320"/>
          </a:xfrm>
          <a:prstGeom prst="rect">
            <a:avLst/>
          </a:prstGeom>
          <a:noFill/>
        </p:spPr>
        <p:txBody>
          <a:bodyPr wrap="square" lIns="0" rIns="0" tIns="0" bIns="0" anchor="t">
            <a:spAutoFit/>
          </a:bodyPr>
          <a:lstStyle/>
          <a:p>
            <a:pPr algn="l">
              <a:lnSpc>
                <a:spcPct val="100000"/>
              </a:lnSpc>
            </a:pPr>
            <a:r>
              <a:rPr sz="1080" b="1" i="0">
                <a:solidFill>
                  <a:srgbClr val="121517"/>
                </a:solidFill>
                <a:latin typeface="Segoe UI"/>
              </a:rPr>
              <a:t>Live needs a token</a:t>
            </a:r>
          </a:p>
        </p:txBody>
      </p:sp>
      <p:sp>
        <p:nvSpPr>
          <p:cNvPr id="18" name="TextBox 17"/>
          <p:cNvSpPr txBox="1"/>
          <p:nvPr/>
        </p:nvSpPr>
        <p:spPr>
          <a:xfrm>
            <a:off x="822960" y="4279392"/>
            <a:ext cx="4709160" cy="402336"/>
          </a:xfrm>
          <a:prstGeom prst="rect">
            <a:avLst/>
          </a:prstGeom>
          <a:noFill/>
        </p:spPr>
        <p:txBody>
          <a:bodyPr wrap="square" lIns="0" rIns="0" tIns="0" bIns="0" anchor="t">
            <a:spAutoFit/>
          </a:bodyPr>
          <a:lstStyle/>
          <a:p>
            <a:pPr algn="l">
              <a:lnSpc>
                <a:spcPct val="114000"/>
              </a:lnSpc>
            </a:pPr>
            <a:r>
              <a:rPr sz="869" b="0" i="0">
                <a:solidFill>
                  <a:srgbClr val="666D74"/>
                </a:solidFill>
                <a:latin typeface="Segoe UI"/>
              </a:rPr>
              <a:t>OpenF1's free tier is historical. Real-time polling requires a paid subscription.</a:t>
            </a:r>
          </a:p>
        </p:txBody>
      </p:sp>
      <p:sp>
        <p:nvSpPr>
          <p:cNvPr id="19" name="TextBox 18"/>
          <p:cNvSpPr txBox="1"/>
          <p:nvPr/>
        </p:nvSpPr>
        <p:spPr>
          <a:xfrm>
            <a:off x="822960" y="4754880"/>
            <a:ext cx="4754880" cy="274320"/>
          </a:xfrm>
          <a:prstGeom prst="rect">
            <a:avLst/>
          </a:prstGeom>
          <a:noFill/>
        </p:spPr>
        <p:txBody>
          <a:bodyPr wrap="square" lIns="0" rIns="0" tIns="0" bIns="0" anchor="t">
            <a:spAutoFit/>
          </a:bodyPr>
          <a:lstStyle/>
          <a:p>
            <a:pPr algn="l">
              <a:lnSpc>
                <a:spcPct val="100000"/>
              </a:lnSpc>
            </a:pPr>
            <a:r>
              <a:rPr sz="1080" b="1" i="0">
                <a:solidFill>
                  <a:srgbClr val="121517"/>
                </a:solidFill>
                <a:latin typeface="Segoe UI"/>
              </a:rPr>
              <a:t>Some marks cannot be licensed</a:t>
            </a:r>
          </a:p>
        </p:txBody>
      </p:sp>
      <p:sp>
        <p:nvSpPr>
          <p:cNvPr id="20" name="TextBox 19"/>
          <p:cNvSpPr txBox="1"/>
          <p:nvPr/>
        </p:nvSpPr>
        <p:spPr>
          <a:xfrm>
            <a:off x="822960" y="5029200"/>
            <a:ext cx="4709160" cy="402336"/>
          </a:xfrm>
          <a:prstGeom prst="rect">
            <a:avLst/>
          </a:prstGeom>
          <a:noFill/>
        </p:spPr>
        <p:txBody>
          <a:bodyPr wrap="square" lIns="0" rIns="0" tIns="0" bIns="0" anchor="t">
            <a:spAutoFit/>
          </a:bodyPr>
          <a:lstStyle/>
          <a:p>
            <a:pPr algn="l">
              <a:lnSpc>
                <a:spcPct val="114000"/>
              </a:lnSpc>
            </a:pPr>
            <a:r>
              <a:rPr sz="869" b="0" i="0">
                <a:solidFill>
                  <a:srgbClr val="666D74"/>
                </a:solidFill>
                <a:latin typeface="Segoe UI"/>
              </a:rPr>
              <a:t>Five defunct teams use a typographic crest instead of a logo.</a:t>
            </a:r>
          </a:p>
        </p:txBody>
      </p:sp>
      <p:sp>
        <p:nvSpPr>
          <p:cNvPr id="21" name="Rounded Rectangle 20"/>
          <p:cNvSpPr/>
          <p:nvPr/>
        </p:nvSpPr>
        <p:spPr>
          <a:xfrm>
            <a:off x="6263640" y="1938528"/>
            <a:ext cx="5349240" cy="3749039"/>
          </a:xfrm>
          <a:prstGeom prst="roundRect">
            <a:avLst>
              <a:gd name="adj" fmla="val 3500"/>
            </a:avLst>
          </a:prstGeom>
          <a:solidFill>
            <a:srgbClr val="FBFBFC"/>
          </a:solidFill>
          <a:ln w="9525">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Rectangle 21"/>
          <p:cNvSpPr/>
          <p:nvPr/>
        </p:nvSpPr>
        <p:spPr>
          <a:xfrm>
            <a:off x="6263640" y="1938528"/>
            <a:ext cx="41148" cy="3749039"/>
          </a:xfrm>
          <a:prstGeom prst="rect">
            <a:avLst/>
          </a:prstGeom>
          <a:solidFill>
            <a:srgbClr val="12151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TextBox 22"/>
          <p:cNvSpPr txBox="1"/>
          <p:nvPr/>
        </p:nvSpPr>
        <p:spPr>
          <a:xfrm>
            <a:off x="6519672" y="2103120"/>
            <a:ext cx="4754880" cy="274320"/>
          </a:xfrm>
          <a:prstGeom prst="rect">
            <a:avLst/>
          </a:prstGeom>
          <a:noFill/>
        </p:spPr>
        <p:txBody>
          <a:bodyPr wrap="square" lIns="0" rIns="0" tIns="0" bIns="0" anchor="t">
            <a:spAutoFit/>
          </a:bodyPr>
          <a:lstStyle/>
          <a:p>
            <a:pPr algn="l">
              <a:lnSpc>
                <a:spcPct val="100000"/>
              </a:lnSpc>
            </a:pPr>
            <a:r>
              <a:rPr sz="850" b="1" i="0">
                <a:solidFill>
                  <a:srgbClr val="666D74"/>
                </a:solidFill>
                <a:latin typeface="Consolas"/>
              </a:rPr>
              <a:t>NEXT</a:t>
            </a:r>
          </a:p>
        </p:txBody>
      </p:sp>
      <p:sp>
        <p:nvSpPr>
          <p:cNvPr id="24" name="TextBox 23"/>
          <p:cNvSpPr txBox="1"/>
          <p:nvPr/>
        </p:nvSpPr>
        <p:spPr>
          <a:xfrm>
            <a:off x="6519672" y="2505456"/>
            <a:ext cx="4754880" cy="274320"/>
          </a:xfrm>
          <a:prstGeom prst="rect">
            <a:avLst/>
          </a:prstGeom>
          <a:noFill/>
        </p:spPr>
        <p:txBody>
          <a:bodyPr wrap="square" lIns="0" rIns="0" tIns="0" bIns="0" anchor="t">
            <a:spAutoFit/>
          </a:bodyPr>
          <a:lstStyle/>
          <a:p>
            <a:pPr algn="l">
              <a:lnSpc>
                <a:spcPct val="100000"/>
              </a:lnSpc>
            </a:pPr>
            <a:r>
              <a:rPr sz="1080" b="1" i="0">
                <a:solidFill>
                  <a:srgbClr val="121517"/>
                </a:solidFill>
                <a:latin typeface="Segoe UI"/>
              </a:rPr>
              <a:t>Sprint + lap data</a:t>
            </a:r>
          </a:p>
        </p:txBody>
      </p:sp>
      <p:sp>
        <p:nvSpPr>
          <p:cNvPr id="25" name="TextBox 24"/>
          <p:cNvSpPr txBox="1"/>
          <p:nvPr/>
        </p:nvSpPr>
        <p:spPr>
          <a:xfrm>
            <a:off x="6519672" y="2779776"/>
            <a:ext cx="4709160" cy="402336"/>
          </a:xfrm>
          <a:prstGeom prst="rect">
            <a:avLst/>
          </a:prstGeom>
          <a:noFill/>
        </p:spPr>
        <p:txBody>
          <a:bodyPr wrap="square" lIns="0" rIns="0" tIns="0" bIns="0" anchor="t">
            <a:spAutoFit/>
          </a:bodyPr>
          <a:lstStyle/>
          <a:p>
            <a:pPr algn="l">
              <a:lnSpc>
                <a:spcPct val="114000"/>
              </a:lnSpc>
            </a:pPr>
            <a:r>
              <a:rPr sz="869" b="0" i="0">
                <a:solidFill>
                  <a:srgbClr val="666D74"/>
                </a:solidFill>
                <a:latin typeface="Segoe UI"/>
              </a:rPr>
              <a:t>Add sprint results and lap-by-lap archive data for deeper race analysis.</a:t>
            </a:r>
          </a:p>
        </p:txBody>
      </p:sp>
      <p:sp>
        <p:nvSpPr>
          <p:cNvPr id="26" name="TextBox 25"/>
          <p:cNvSpPr txBox="1"/>
          <p:nvPr/>
        </p:nvSpPr>
        <p:spPr>
          <a:xfrm>
            <a:off x="6519672" y="3255264"/>
            <a:ext cx="4754880" cy="274320"/>
          </a:xfrm>
          <a:prstGeom prst="rect">
            <a:avLst/>
          </a:prstGeom>
          <a:noFill/>
        </p:spPr>
        <p:txBody>
          <a:bodyPr wrap="square" lIns="0" rIns="0" tIns="0" bIns="0" anchor="t">
            <a:spAutoFit/>
          </a:bodyPr>
          <a:lstStyle/>
          <a:p>
            <a:pPr algn="l">
              <a:lnSpc>
                <a:spcPct val="100000"/>
              </a:lnSpc>
            </a:pPr>
            <a:r>
              <a:rPr sz="1080" b="1" i="0">
                <a:solidFill>
                  <a:srgbClr val="121517"/>
                </a:solidFill>
                <a:latin typeface="Segoe UI"/>
              </a:rPr>
              <a:t>Favourites + sharing</a:t>
            </a:r>
          </a:p>
        </p:txBody>
      </p:sp>
      <p:sp>
        <p:nvSpPr>
          <p:cNvPr id="27" name="TextBox 26"/>
          <p:cNvSpPr txBox="1"/>
          <p:nvPr/>
        </p:nvSpPr>
        <p:spPr>
          <a:xfrm>
            <a:off x="6519672" y="3529584"/>
            <a:ext cx="4709160" cy="402336"/>
          </a:xfrm>
          <a:prstGeom prst="rect">
            <a:avLst/>
          </a:prstGeom>
          <a:noFill/>
        </p:spPr>
        <p:txBody>
          <a:bodyPr wrap="square" lIns="0" rIns="0" tIns="0" bIns="0" anchor="t">
            <a:spAutoFit/>
          </a:bodyPr>
          <a:lstStyle/>
          <a:p>
            <a:pPr algn="l">
              <a:lnSpc>
                <a:spcPct val="114000"/>
              </a:lnSpc>
            </a:pPr>
            <a:r>
              <a:rPr sz="869" b="0" i="0">
                <a:solidFill>
                  <a:srgbClr val="666D74"/>
                </a:solidFill>
                <a:latin typeface="Segoe UI"/>
              </a:rPr>
              <a:t>Persist favourite drivers and shareable comparison links.</a:t>
            </a:r>
          </a:p>
        </p:txBody>
      </p:sp>
      <p:sp>
        <p:nvSpPr>
          <p:cNvPr id="28" name="TextBox 27"/>
          <p:cNvSpPr txBox="1"/>
          <p:nvPr/>
        </p:nvSpPr>
        <p:spPr>
          <a:xfrm>
            <a:off x="6519672" y="4005072"/>
            <a:ext cx="4754880" cy="274320"/>
          </a:xfrm>
          <a:prstGeom prst="rect">
            <a:avLst/>
          </a:prstGeom>
          <a:noFill/>
        </p:spPr>
        <p:txBody>
          <a:bodyPr wrap="square" lIns="0" rIns="0" tIns="0" bIns="0" anchor="t">
            <a:spAutoFit/>
          </a:bodyPr>
          <a:lstStyle/>
          <a:p>
            <a:pPr algn="l">
              <a:lnSpc>
                <a:spcPct val="100000"/>
              </a:lnSpc>
            </a:pPr>
            <a:r>
              <a:rPr sz="1080" b="1" i="0">
                <a:solidFill>
                  <a:srgbClr val="121517"/>
                </a:solidFill>
                <a:latin typeface="Segoe UI"/>
              </a:rPr>
              <a:t>Caching layer</a:t>
            </a:r>
          </a:p>
        </p:txBody>
      </p:sp>
      <p:sp>
        <p:nvSpPr>
          <p:cNvPr id="29" name="TextBox 28"/>
          <p:cNvSpPr txBox="1"/>
          <p:nvPr/>
        </p:nvSpPr>
        <p:spPr>
          <a:xfrm>
            <a:off x="6519672" y="4279392"/>
            <a:ext cx="4709160" cy="402336"/>
          </a:xfrm>
          <a:prstGeom prst="rect">
            <a:avLst/>
          </a:prstGeom>
          <a:noFill/>
        </p:spPr>
        <p:txBody>
          <a:bodyPr wrap="square" lIns="0" rIns="0" tIns="0" bIns="0" anchor="t">
            <a:spAutoFit/>
          </a:bodyPr>
          <a:lstStyle/>
          <a:p>
            <a:pPr algn="l">
              <a:lnSpc>
                <a:spcPct val="114000"/>
              </a:lnSpc>
            </a:pPr>
            <a:r>
              <a:rPr sz="869" b="0" i="0">
                <a:solidFill>
                  <a:srgbClr val="666D74"/>
                </a:solidFill>
                <a:latin typeface="Segoe UI"/>
              </a:rPr>
              <a:t>A small server cache for OpenF1 would make live pages instant for everyone.</a:t>
            </a:r>
          </a:p>
        </p:txBody>
      </p:sp>
      <p:sp>
        <p:nvSpPr>
          <p:cNvPr id="30" name="TextBox 29"/>
          <p:cNvSpPr txBox="1"/>
          <p:nvPr/>
        </p:nvSpPr>
        <p:spPr>
          <a:xfrm>
            <a:off x="6519672" y="4754880"/>
            <a:ext cx="4754880" cy="274320"/>
          </a:xfrm>
          <a:prstGeom prst="rect">
            <a:avLst/>
          </a:prstGeom>
          <a:noFill/>
        </p:spPr>
        <p:txBody>
          <a:bodyPr wrap="square" lIns="0" rIns="0" tIns="0" bIns="0" anchor="t">
            <a:spAutoFit/>
          </a:bodyPr>
          <a:lstStyle/>
          <a:p>
            <a:pPr algn="l">
              <a:lnSpc>
                <a:spcPct val="100000"/>
              </a:lnSpc>
            </a:pPr>
            <a:r>
              <a:rPr sz="1080" b="1" i="0">
                <a:solidFill>
                  <a:srgbClr val="121517"/>
                </a:solidFill>
                <a:latin typeface="Segoe UI"/>
              </a:rPr>
              <a:t>More era photography</a:t>
            </a:r>
          </a:p>
        </p:txBody>
      </p:sp>
      <p:sp>
        <p:nvSpPr>
          <p:cNvPr id="31" name="TextBox 30"/>
          <p:cNvSpPr txBox="1"/>
          <p:nvPr/>
        </p:nvSpPr>
        <p:spPr>
          <a:xfrm>
            <a:off x="6519672" y="5029200"/>
            <a:ext cx="4709160" cy="402336"/>
          </a:xfrm>
          <a:prstGeom prst="rect">
            <a:avLst/>
          </a:prstGeom>
          <a:noFill/>
        </p:spPr>
        <p:txBody>
          <a:bodyPr wrap="square" lIns="0" rIns="0" tIns="0" bIns="0" anchor="t">
            <a:spAutoFit/>
          </a:bodyPr>
          <a:lstStyle/>
          <a:p>
            <a:pPr algn="l">
              <a:lnSpc>
                <a:spcPct val="114000"/>
              </a:lnSpc>
            </a:pPr>
            <a:r>
              <a:rPr sz="869" b="0" i="0">
                <a:solidFill>
                  <a:srgbClr val="666D74"/>
                </a:solidFill>
                <a:latin typeface="Segoe UI"/>
              </a:rPr>
              <a:t>Extend the credited archive photo set beyond the nine key moments.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Rectangle 2"/>
          <p:cNvSpPr/>
          <p:nvPr/>
        </p:nvSpPr>
        <p:spPr>
          <a:xfrm>
            <a:off x="566928" y="420624"/>
            <a:ext cx="50292" cy="237744"/>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TextBox 3"/>
          <p:cNvSpPr txBox="1"/>
          <p:nvPr/>
        </p:nvSpPr>
        <p:spPr>
          <a:xfrm>
            <a:off x="713232" y="438912"/>
            <a:ext cx="7680960" cy="237744"/>
          </a:xfrm>
          <a:prstGeom prst="rect">
            <a:avLst/>
          </a:prstGeom>
          <a:noFill/>
        </p:spPr>
        <p:txBody>
          <a:bodyPr wrap="square" lIns="0" rIns="0" tIns="0" bIns="0" anchor="t">
            <a:spAutoFit/>
          </a:bodyPr>
          <a:lstStyle/>
          <a:p>
            <a:pPr algn="l">
              <a:lnSpc>
                <a:spcPct val="100000"/>
              </a:lnSpc>
            </a:pPr>
            <a:r>
              <a:rPr sz="900" b="1" i="0">
                <a:solidFill>
                  <a:srgbClr val="666D74"/>
                </a:solidFill>
                <a:latin typeface="Consolas"/>
              </a:rPr>
              <a:t>CLOSING</a:t>
            </a:r>
          </a:p>
        </p:txBody>
      </p:sp>
      <p:sp>
        <p:nvSpPr>
          <p:cNvPr id="5" name="Rectangle 4"/>
          <p:cNvSpPr/>
          <p:nvPr/>
        </p:nvSpPr>
        <p:spPr>
          <a:xfrm>
            <a:off x="566928" y="6336792"/>
            <a:ext cx="11064240" cy="10972"/>
          </a:xfrm>
          <a:prstGeom prst="rect">
            <a:avLst/>
          </a:prstGeom>
          <a:solidFill>
            <a:srgbClr val="D5DA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566928" y="6437376"/>
            <a:ext cx="6400800" cy="228600"/>
          </a:xfrm>
          <a:prstGeom prst="rect">
            <a:avLst/>
          </a:prstGeom>
          <a:noFill/>
        </p:spPr>
        <p:txBody>
          <a:bodyPr wrap="square" lIns="0" rIns="0" tIns="0" bIns="0" anchor="t">
            <a:spAutoFit/>
          </a:bodyPr>
          <a:lstStyle/>
          <a:p>
            <a:pPr algn="l">
              <a:lnSpc>
                <a:spcPct val="100000"/>
              </a:lnSpc>
            </a:pPr>
            <a:r>
              <a:rPr sz="800" b="0" i="0">
                <a:solidFill>
                  <a:srgbClr val="8D949B"/>
                </a:solidFill>
                <a:latin typeface="Consolas"/>
              </a:rPr>
              <a:t>PADDOCK  ·  FORMULA 1 ARCHIVE</a:t>
            </a:r>
          </a:p>
        </p:txBody>
      </p:sp>
      <p:sp>
        <p:nvSpPr>
          <p:cNvPr id="7" name="TextBox 6"/>
          <p:cNvSpPr txBox="1"/>
          <p:nvPr/>
        </p:nvSpPr>
        <p:spPr>
          <a:xfrm>
            <a:off x="10774375" y="6437376"/>
            <a:ext cx="822960" cy="228600"/>
          </a:xfrm>
          <a:prstGeom prst="rect">
            <a:avLst/>
          </a:prstGeom>
          <a:noFill/>
        </p:spPr>
        <p:txBody>
          <a:bodyPr wrap="square" lIns="0" rIns="0" tIns="0" bIns="0" anchor="t">
            <a:spAutoFit/>
          </a:bodyPr>
          <a:lstStyle/>
          <a:p>
            <a:pPr algn="r">
              <a:lnSpc>
                <a:spcPct val="100000"/>
              </a:lnSpc>
            </a:pPr>
            <a:r>
              <a:rPr sz="800" b="0" i="0">
                <a:solidFill>
                  <a:srgbClr val="8D949B"/>
                </a:solidFill>
                <a:latin typeface="Consolas"/>
              </a:rPr>
              <a:t>15 / 15</a:t>
            </a:r>
          </a:p>
        </p:txBody>
      </p:sp>
      <p:sp>
        <p:nvSpPr>
          <p:cNvPr id="8" name="TextBox 7"/>
          <p:cNvSpPr txBox="1"/>
          <p:nvPr/>
        </p:nvSpPr>
        <p:spPr>
          <a:xfrm>
            <a:off x="566928" y="1371600"/>
            <a:ext cx="4023360" cy="219456"/>
          </a:xfrm>
          <a:prstGeom prst="rect">
            <a:avLst/>
          </a:prstGeom>
          <a:noFill/>
        </p:spPr>
        <p:txBody>
          <a:bodyPr wrap="square" lIns="0" rIns="0" tIns="0" bIns="0" anchor="t">
            <a:spAutoFit/>
          </a:bodyPr>
          <a:lstStyle/>
          <a:p>
            <a:pPr algn="l">
              <a:lnSpc>
                <a:spcPct val="100000"/>
              </a:lnSpc>
            </a:pPr>
            <a:r>
              <a:rPr sz="850" b="1" i="0">
                <a:solidFill>
                  <a:srgbClr val="E10600"/>
                </a:solidFill>
                <a:latin typeface="Consolas"/>
              </a:rPr>
              <a:t>THANK YOU</a:t>
            </a:r>
          </a:p>
        </p:txBody>
      </p:sp>
      <p:sp>
        <p:nvSpPr>
          <p:cNvPr id="9" name="Rectangle 8"/>
          <p:cNvSpPr/>
          <p:nvPr/>
        </p:nvSpPr>
        <p:spPr>
          <a:xfrm>
            <a:off x="566928" y="1581912"/>
            <a:ext cx="420624" cy="25603"/>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TextBox 9"/>
          <p:cNvSpPr txBox="1"/>
          <p:nvPr/>
        </p:nvSpPr>
        <p:spPr>
          <a:xfrm>
            <a:off x="548640" y="1737360"/>
            <a:ext cx="7680960" cy="1097280"/>
          </a:xfrm>
          <a:prstGeom prst="rect">
            <a:avLst/>
          </a:prstGeom>
          <a:noFill/>
        </p:spPr>
        <p:txBody>
          <a:bodyPr wrap="square" lIns="0" rIns="0" tIns="0" bIns="0" anchor="t">
            <a:spAutoFit/>
          </a:bodyPr>
          <a:lstStyle/>
          <a:p>
            <a:pPr algn="l">
              <a:lnSpc>
                <a:spcPct val="100000"/>
              </a:lnSpc>
            </a:pPr>
            <a:r>
              <a:rPr sz="5200" b="1" i="0">
                <a:solidFill>
                  <a:srgbClr val="121517"/>
                </a:solidFill>
                <a:latin typeface="Segoe UI Semibold"/>
              </a:rPr>
              <a:t>The paddock is open.</a:t>
            </a:r>
          </a:p>
        </p:txBody>
      </p:sp>
      <p:sp>
        <p:nvSpPr>
          <p:cNvPr id="11" name="TextBox 10"/>
          <p:cNvSpPr txBox="1"/>
          <p:nvPr/>
        </p:nvSpPr>
        <p:spPr>
          <a:xfrm>
            <a:off x="585216" y="2889504"/>
            <a:ext cx="6400800" cy="822960"/>
          </a:xfrm>
          <a:prstGeom prst="rect">
            <a:avLst/>
          </a:prstGeom>
          <a:noFill/>
        </p:spPr>
        <p:txBody>
          <a:bodyPr wrap="square" lIns="0" rIns="0" tIns="0" bIns="0" anchor="t">
            <a:spAutoFit/>
          </a:bodyPr>
          <a:lstStyle/>
          <a:p>
            <a:pPr algn="l">
              <a:lnSpc>
                <a:spcPct val="100000"/>
              </a:lnSpc>
            </a:pPr>
            <a:r>
              <a:rPr sz="1500" b="0" i="0">
                <a:solidFill>
                  <a:srgbClr val="666D74"/>
                </a:solidFill>
                <a:latin typeface="Segoe UI"/>
              </a:rPr>
              <a:t>Questions, laps, or a debate about the 2021 finale — all welcome.</a:t>
            </a:r>
          </a:p>
        </p:txBody>
      </p:sp>
      <p:sp>
        <p:nvSpPr>
          <p:cNvPr id="12" name="Rectangle 11"/>
          <p:cNvSpPr/>
          <p:nvPr/>
        </p:nvSpPr>
        <p:spPr>
          <a:xfrm>
            <a:off x="585216" y="4023360"/>
            <a:ext cx="1188720" cy="25603"/>
          </a:xfrm>
          <a:prstGeom prst="rect">
            <a:avLst/>
          </a:prstGeom>
          <a:solidFill>
            <a:srgbClr val="E106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TextBox 12"/>
          <p:cNvSpPr txBox="1"/>
          <p:nvPr/>
        </p:nvSpPr>
        <p:spPr>
          <a:xfrm>
            <a:off x="585216" y="4297680"/>
            <a:ext cx="4754880" cy="320040"/>
          </a:xfrm>
          <a:prstGeom prst="rect">
            <a:avLst/>
          </a:prstGeom>
          <a:noFill/>
        </p:spPr>
        <p:txBody>
          <a:bodyPr wrap="square" lIns="0" rIns="0" tIns="0" bIns="0" anchor="t">
            <a:spAutoFit/>
          </a:bodyPr>
          <a:lstStyle/>
          <a:p>
            <a:pPr algn="l">
              <a:lnSpc>
                <a:spcPct val="100000"/>
              </a:lnSpc>
            </a:pPr>
            <a:r>
              <a:rPr sz="1050" b="1" i="0">
                <a:solidFill>
                  <a:srgbClr val="121517"/>
                </a:solidFill>
                <a:latin typeface="Consolas"/>
              </a:rPr>
              <a:t>JUGAL PATEL · KRISH PATEL · PAAVAN SHARMA</a:t>
            </a:r>
          </a:p>
        </p:txBody>
      </p:sp>
      <p:sp>
        <p:nvSpPr>
          <p:cNvPr id="14" name="TextBox 13"/>
          <p:cNvSpPr txBox="1"/>
          <p:nvPr/>
        </p:nvSpPr>
        <p:spPr>
          <a:xfrm>
            <a:off x="585216" y="4626864"/>
            <a:ext cx="4754880" cy="274320"/>
          </a:xfrm>
          <a:prstGeom prst="rect">
            <a:avLst/>
          </a:prstGeom>
          <a:noFill/>
        </p:spPr>
        <p:txBody>
          <a:bodyPr wrap="square" lIns="0" rIns="0" tIns="0" bIns="0" anchor="t">
            <a:spAutoFit/>
          </a:bodyPr>
          <a:lstStyle/>
          <a:p>
            <a:pPr algn="l">
              <a:lnSpc>
                <a:spcPct val="100000"/>
              </a:lnSpc>
            </a:pPr>
            <a:r>
              <a:rPr sz="850" b="0" i="0">
                <a:solidFill>
                  <a:srgbClr val="8D949B"/>
                </a:solidFill>
                <a:latin typeface="Consolas"/>
              </a:rPr>
              <a:t>24162581032 · 24162581017 · 24162581052 · FET</a:t>
            </a:r>
          </a:p>
        </p:txBody>
      </p:sp>
      <p:sp>
        <p:nvSpPr>
          <p:cNvPr id="15" name="TextBox 14"/>
          <p:cNvSpPr txBox="1"/>
          <p:nvPr/>
        </p:nvSpPr>
        <p:spPr>
          <a:xfrm>
            <a:off x="585216" y="5157216"/>
            <a:ext cx="4754880" cy="274320"/>
          </a:xfrm>
          <a:prstGeom prst="rect">
            <a:avLst/>
          </a:prstGeom>
          <a:noFill/>
        </p:spPr>
        <p:txBody>
          <a:bodyPr wrap="square" lIns="0" rIns="0" tIns="0" bIns="0" anchor="t">
            <a:spAutoFit/>
          </a:bodyPr>
          <a:lstStyle/>
          <a:p>
            <a:pPr algn="l">
              <a:lnSpc>
                <a:spcPct val="100000"/>
              </a:lnSpc>
            </a:pPr>
            <a:r>
              <a:rPr sz="1000" b="0" i="0">
                <a:solidFill>
                  <a:srgbClr val="121517"/>
                </a:solidFill>
                <a:latin typeface="Consolas"/>
              </a:rPr>
              <a:t>localhost:4200</a:t>
            </a:r>
          </a:p>
        </p:txBody>
      </p:sp>
      <p:sp>
        <p:nvSpPr>
          <p:cNvPr id="16" name="TextBox 15"/>
          <p:cNvSpPr txBox="1"/>
          <p:nvPr/>
        </p:nvSpPr>
        <p:spPr>
          <a:xfrm>
            <a:off x="5852160" y="5157216"/>
            <a:ext cx="4754880" cy="274320"/>
          </a:xfrm>
          <a:prstGeom prst="rect">
            <a:avLst/>
          </a:prstGeom>
          <a:noFill/>
        </p:spPr>
        <p:txBody>
          <a:bodyPr wrap="square" lIns="0" rIns="0" tIns="0" bIns="0" anchor="t">
            <a:spAutoFit/>
          </a:bodyPr>
          <a:lstStyle/>
          <a:p>
            <a:pPr algn="l">
              <a:lnSpc>
                <a:spcPct val="100000"/>
              </a:lnSpc>
            </a:pPr>
            <a:r>
              <a:rPr sz="1000" b="0" i="0">
                <a:solidFill>
                  <a:srgbClr val="666D74"/>
                </a:solidFill>
                <a:latin typeface="Consolas"/>
              </a:rPr>
              <a:t>openf1.org  ·  angular.dev</a:t>
            </a:r>
          </a:p>
        </p:txBody>
      </p:sp>
      <p:pic>
        <p:nvPicPr>
          <p:cNvPr id="17" name="Picture 16" descr="f1.png"/>
          <p:cNvPicPr>
            <a:picLocks noChangeAspect="1"/>
          </p:cNvPicPr>
          <p:nvPr/>
        </p:nvPicPr>
        <p:blipFill>
          <a:blip r:embed="rId2"/>
          <a:stretch>
            <a:fillRect/>
          </a:stretch>
        </p:blipFill>
        <p:spPr>
          <a:xfrm>
            <a:off x="8412480" y="2148840"/>
            <a:ext cx="2834640" cy="132578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Paddock — Formula 1 archive</dc:title>
  <dc:subject>FET project presentation</dc:subject>
  <dc:creator>Jugal Patel, Krish Patel, Paavan Sharma</dc:creator>
  <cp:keywords/>
  <dc:description>Angular 21 + Material 3 + Jolpica + OpenF1</dc:description>
  <cp:lastModifiedBy>Steve Canny</cp:lastModifiedBy>
  <cp:revision>1</cp:revision>
  <dcterms:created xsi:type="dcterms:W3CDTF">2013-01-27T09:14:16Z</dcterms:created>
  <dcterms:modified xsi:type="dcterms:W3CDTF">2013-01-27T09:15:58Z</dcterms:modified>
  <cp:category/>
</cp:coreProperties>
</file>